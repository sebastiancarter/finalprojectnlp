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7" r:id="rId4"/>
    <p:sldId id="267" r:id="rId5"/>
    <p:sldId id="277" r:id="rId6"/>
    <p:sldId id="278" r:id="rId7"/>
    <p:sldId id="286" r:id="rId8"/>
    <p:sldId id="279" r:id="rId9"/>
    <p:sldId id="280" r:id="rId10"/>
    <p:sldId id="281" r:id="rId11"/>
    <p:sldId id="283" r:id="rId12"/>
    <p:sldId id="282" r:id="rId13"/>
    <p:sldId id="284" r:id="rId14"/>
    <p:sldId id="28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5204" autoAdjust="0"/>
  </p:normalViewPr>
  <p:slideViewPr>
    <p:cSldViewPr snapToGrid="0">
      <p:cViewPr varScale="1">
        <p:scale>
          <a:sx n="97" d="100"/>
          <a:sy n="97" d="100"/>
        </p:scale>
        <p:origin x="93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4EF4E-EB93-44C3-A141-FC4330C6D7B6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E85AB-DFED-4B8C-AE02-49FF73A58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0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3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5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7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0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52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22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1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1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5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CE987-FBFA-40E2-9FBA-1C59C5AC0221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9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rtisopensource.net/2014/04/30/transmedia-desig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25172501/html5-rotate-text-around-its-centre-poin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flickr.com/photos/amsterdamprinting/4314621554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x.stackexchange.com/questions/81382/does-it-matter-which-direction-an-icon-faces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196308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71252"/>
            <a:ext cx="9144000" cy="1655762"/>
          </a:xfrm>
        </p:spPr>
        <p:txBody>
          <a:bodyPr/>
          <a:lstStyle/>
          <a:p>
            <a:r>
              <a:rPr lang="en-US" dirty="0"/>
              <a:t>Matplotlib Part III: Multiple plots </a:t>
            </a:r>
            <a:r>
              <a:rPr lang="en-US"/>
              <a:t>and more </a:t>
            </a:r>
            <a:endParaRPr lang="en-US" dirty="0"/>
          </a:p>
          <a:p>
            <a:r>
              <a:rPr lang="en-US" dirty="0"/>
              <a:t>Prof. Travis Mandel</a:t>
            </a:r>
          </a:p>
          <a:p>
            <a:r>
              <a:rPr lang="en-US" dirty="0"/>
              <a:t>10/28/2024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849727" y="3713937"/>
            <a:ext cx="2724117" cy="283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86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on </a:t>
            </a:r>
            <a:r>
              <a:rPr lang="en-US"/>
              <a:t>top of labs</a:t>
            </a:r>
            <a:endParaRPr lang="en-US" dirty="0"/>
          </a:p>
          <a:p>
            <a:r>
              <a:rPr lang="en-US" dirty="0"/>
              <a:t>Start on Program 2</a:t>
            </a:r>
          </a:p>
        </p:txBody>
      </p:sp>
    </p:spTree>
    <p:extLst>
      <p:ext uri="{BB962C8B-B14F-4D97-AF65-F5344CB8AC3E}">
        <p14:creationId xmlns:p14="http://schemas.microsoft.com/office/powerpoint/2010/main" val="51041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few more tips with single plots</a:t>
            </a:r>
          </a:p>
          <a:p>
            <a:r>
              <a:rPr lang="en-US" dirty="0"/>
              <a:t>Figures and subplots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319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8BF5F-8622-44D9-B5C6-6ACD23BD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time, we saw how to make bar charts…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972D5-23B3-43CF-B141-3C75F96FF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looked pretty good (especially if we have a single type of bar)</a:t>
            </a:r>
          </a:p>
          <a:p>
            <a:r>
              <a:rPr lang="en-US" dirty="0"/>
              <a:t>But what if we have a lot of categories on the x-axis?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B85A4-83A7-47FE-8CA0-7001E5477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497788" y="3274717"/>
            <a:ext cx="5416731" cy="304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7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way to fix this is by rotating the x labels</a:t>
            </a:r>
          </a:p>
          <a:p>
            <a:r>
              <a:rPr lang="en-US" dirty="0" err="1"/>
              <a:t>plt.xticks</a:t>
            </a:r>
            <a:r>
              <a:rPr lang="en-US" dirty="0"/>
              <a:t>(…, rotation=degrees)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you have a TON of labels, degrees=90 may be your best bet</a:t>
            </a:r>
          </a:p>
          <a:p>
            <a:pPr lvl="1"/>
            <a:r>
              <a:rPr lang="en-US" dirty="0"/>
              <a:t>If just a slight amount, should not go that extreme (takes up a lot of space)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66BEA6-CC71-4E00-8693-31D240DF5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52520" y="4795736"/>
            <a:ext cx="3616817" cy="177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0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a lot of long labels, and degrees=90…</a:t>
            </a:r>
          </a:p>
          <a:p>
            <a:pPr lvl="1"/>
            <a:r>
              <a:rPr lang="en-US" dirty="0"/>
              <a:t>The graph is cut off!</a:t>
            </a:r>
          </a:p>
          <a:p>
            <a:r>
              <a:rPr lang="en-US" dirty="0"/>
              <a:t>How can we see it?</a:t>
            </a:r>
          </a:p>
          <a:p>
            <a:pPr lvl="1"/>
            <a:r>
              <a:rPr lang="en-US" dirty="0"/>
              <a:t>Need to add </a:t>
            </a:r>
            <a:r>
              <a:rPr lang="en-US" dirty="0" err="1"/>
              <a:t>plt.tight_layout</a:t>
            </a:r>
            <a:r>
              <a:rPr lang="en-US" dirty="0"/>
              <a:t>() to resize view box </a:t>
            </a:r>
          </a:p>
          <a:p>
            <a:pPr lvl="2"/>
            <a:r>
              <a:rPr lang="en-US" dirty="0"/>
              <a:t>Before showing/saving</a:t>
            </a:r>
          </a:p>
        </p:txBody>
      </p:sp>
    </p:spTree>
    <p:extLst>
      <p:ext uri="{BB962C8B-B14F-4D97-AF65-F5344CB8AC3E}">
        <p14:creationId xmlns:p14="http://schemas.microsoft.com/office/powerpoint/2010/main" val="244874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02205-6826-A138-3459-72B33749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9AC4-DCE6-E63E-4C86-9A05C8CBF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A5AC8-A222-F7B6-F6C4-68E12C689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choose a lower angle- hard to match up label to bar</a:t>
            </a:r>
          </a:p>
          <a:p>
            <a:r>
              <a:rPr lang="en-US" dirty="0"/>
              <a:t>Solution: Change horizonal alignment (ha keyword </a:t>
            </a:r>
            <a:r>
              <a:rPr lang="en-US" dirty="0" err="1"/>
              <a:t>arg</a:t>
            </a:r>
            <a:r>
              <a:rPr lang="en-US" dirty="0"/>
              <a:t> to </a:t>
            </a:r>
            <a:r>
              <a:rPr lang="en-US" dirty="0" err="1"/>
              <a:t>xticks</a:t>
            </a:r>
            <a:r>
              <a:rPr lang="en-US" dirty="0"/>
              <a:t>)</a:t>
            </a:r>
          </a:p>
          <a:p>
            <a:r>
              <a:rPr lang="en-US" dirty="0"/>
              <a:t>Default is ‘center’, but should chose left or right</a:t>
            </a:r>
          </a:p>
          <a:p>
            <a:pPr lvl="1"/>
            <a:r>
              <a:rPr lang="en-US" dirty="0"/>
              <a:t>Right may make more sense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A19A3-1063-7A18-F962-E66ED4D87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8421" y="594327"/>
            <a:ext cx="2276793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3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issue…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we have called </a:t>
            </a:r>
            <a:r>
              <a:rPr lang="en-US" dirty="0" err="1"/>
              <a:t>plt.show</a:t>
            </a:r>
            <a:r>
              <a:rPr lang="en-US" dirty="0"/>
              <a:t>() after every graph</a:t>
            </a:r>
          </a:p>
          <a:p>
            <a:r>
              <a:rPr lang="en-US" dirty="0"/>
              <a:t>Or done </a:t>
            </a:r>
            <a:r>
              <a:rPr lang="en-US" dirty="0" err="1"/>
              <a:t>plt.savefig</a:t>
            </a:r>
            <a:r>
              <a:rPr lang="en-US" dirty="0"/>
              <a:t> on a single graph</a:t>
            </a:r>
          </a:p>
          <a:p>
            <a:r>
              <a:rPr lang="en-US" dirty="0"/>
              <a:t>What if we call </a:t>
            </a:r>
            <a:r>
              <a:rPr lang="en-US" dirty="0" err="1"/>
              <a:t>plt.savefig</a:t>
            </a:r>
            <a:r>
              <a:rPr lang="en-US" dirty="0"/>
              <a:t> on multiple graphs?</a:t>
            </a:r>
          </a:p>
          <a:p>
            <a:pPr lvl="1"/>
            <a:r>
              <a:rPr lang="en-US" dirty="0"/>
              <a:t>E.g. script to generate result graphs for paper</a:t>
            </a:r>
          </a:p>
          <a:p>
            <a:pPr lvl="1"/>
            <a:endParaRPr lang="en-US" dirty="0"/>
          </a:p>
          <a:p>
            <a:r>
              <a:rPr lang="en-US" dirty="0"/>
              <a:t>Leaves the old graph on top of the new one!</a:t>
            </a:r>
          </a:p>
          <a:p>
            <a:pPr lvl="1"/>
            <a:r>
              <a:rPr lang="en-US" dirty="0"/>
              <a:t>Need to use </a:t>
            </a:r>
            <a:r>
              <a:rPr lang="en-US" dirty="0" err="1"/>
              <a:t>plt.cla</a:t>
            </a:r>
            <a:r>
              <a:rPr lang="en-US" dirty="0"/>
              <a:t>() &amp; </a:t>
            </a:r>
            <a:r>
              <a:rPr lang="en-US" dirty="0" err="1"/>
              <a:t>plt.clf</a:t>
            </a:r>
            <a:r>
              <a:rPr lang="en-US" dirty="0"/>
              <a:t>() to clear graph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65736E-A072-4648-A161-A3256E4DF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16388" y="3357154"/>
            <a:ext cx="6096000" cy="3619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A3C0B5-1C5E-45C9-983E-01EB7C6D91F7}"/>
              </a:ext>
            </a:extLst>
          </p:cNvPr>
          <p:cNvSpPr txBox="1"/>
          <p:nvPr/>
        </p:nvSpPr>
        <p:spPr>
          <a:xfrm>
            <a:off x="8116388" y="6976654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flickr.com/photos/amsterdamprinting/4314621554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1646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plots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it can be useful to present multiple graphs</a:t>
            </a:r>
          </a:p>
          <a:p>
            <a:pPr lvl="1"/>
            <a:r>
              <a:rPr lang="en-US" dirty="0"/>
              <a:t>Side-by-side</a:t>
            </a:r>
          </a:p>
          <a:p>
            <a:pPr lvl="1"/>
            <a:r>
              <a:rPr lang="en-US" dirty="0"/>
              <a:t>In a grid layout etc.</a:t>
            </a:r>
          </a:p>
          <a:p>
            <a:r>
              <a:rPr lang="en-US" dirty="0"/>
              <a:t>To do that in </a:t>
            </a:r>
            <a:r>
              <a:rPr lang="en-US" dirty="0" err="1"/>
              <a:t>matplotlib</a:t>
            </a:r>
            <a:r>
              <a:rPr lang="en-US" dirty="0"/>
              <a:t>, the outer thing is called a figure</a:t>
            </a:r>
          </a:p>
          <a:p>
            <a:r>
              <a:rPr lang="en-US" dirty="0"/>
              <a:t>And the inner thing is called a subplot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3482502" y="4396902"/>
            <a:ext cx="2850204" cy="2286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751634" y="4549302"/>
            <a:ext cx="878732" cy="771728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129719" y="4549302"/>
            <a:ext cx="878732" cy="771728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978613" y="4766553"/>
            <a:ext cx="107004" cy="37937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085617" y="4863830"/>
            <a:ext cx="107004" cy="28210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192621" y="5048657"/>
            <a:ext cx="107003" cy="972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2321668" y="5953277"/>
            <a:ext cx="1429966" cy="4766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2377602" y="4732532"/>
            <a:ext cx="1429966" cy="4766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590186" y="6007232"/>
            <a:ext cx="731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6268" y="4750500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subplot</a:t>
            </a:r>
          </a:p>
        </p:txBody>
      </p:sp>
      <p:sp>
        <p:nvSpPr>
          <p:cNvPr id="17" name="Right Arrow 13">
            <a:extLst>
              <a:ext uri="{FF2B5EF4-FFF2-40B4-BE49-F238E27FC236}">
                <a16:creationId xmlns:a16="http://schemas.microsoft.com/office/drawing/2014/main" id="{B35778BD-DAEB-4F1D-8113-9A10F318DB53}"/>
              </a:ext>
            </a:extLst>
          </p:cNvPr>
          <p:cNvSpPr/>
          <p:nvPr/>
        </p:nvSpPr>
        <p:spPr>
          <a:xfrm rot="15947549">
            <a:off x="3804093" y="5389453"/>
            <a:ext cx="773813" cy="3315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5AF1FE-FCFB-4A22-83B6-1A141FA52E33}"/>
              </a:ext>
            </a:extLst>
          </p:cNvPr>
          <p:cNvSpPr txBox="1"/>
          <p:nvPr/>
        </p:nvSpPr>
        <p:spPr>
          <a:xfrm>
            <a:off x="3912744" y="5857653"/>
            <a:ext cx="616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Axes</a:t>
            </a:r>
          </a:p>
        </p:txBody>
      </p:sp>
    </p:spTree>
    <p:extLst>
      <p:ext uri="{BB962C8B-B14F-4D97-AF65-F5344CB8AC3E}">
        <p14:creationId xmlns:p14="http://schemas.microsoft.com/office/powerpoint/2010/main" val="15007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 animBg="1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set this up?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Decide what our grid is going to look like</a:t>
            </a:r>
          </a:p>
          <a:p>
            <a:pPr lvl="1"/>
            <a:r>
              <a:rPr lang="en-US" dirty="0" err="1"/>
              <a:t>numRows</a:t>
            </a:r>
            <a:endParaRPr lang="en-US" dirty="0"/>
          </a:p>
          <a:p>
            <a:pPr lvl="1"/>
            <a:r>
              <a:rPr lang="en-US" dirty="0" err="1"/>
              <a:t>numColumns</a:t>
            </a:r>
            <a:endParaRPr lang="en-US" dirty="0"/>
          </a:p>
          <a:p>
            <a:r>
              <a:rPr lang="en-US" dirty="0"/>
              <a:t>Step 2: create a new figure with those subplots</a:t>
            </a:r>
          </a:p>
          <a:p>
            <a:pPr lvl="1"/>
            <a:r>
              <a:rPr lang="en-US" dirty="0"/>
              <a:t>(fig, axes) = </a:t>
            </a:r>
            <a:r>
              <a:rPr lang="en-US" dirty="0" err="1"/>
              <a:t>plt.subplots</a:t>
            </a:r>
            <a:r>
              <a:rPr lang="en-US" dirty="0"/>
              <a:t>(</a:t>
            </a:r>
            <a:r>
              <a:rPr lang="en-US" dirty="0" err="1"/>
              <a:t>numRows</a:t>
            </a:r>
            <a:r>
              <a:rPr lang="en-US" dirty="0"/>
              <a:t>, </a:t>
            </a:r>
            <a:r>
              <a:rPr lang="en-US" dirty="0" err="1"/>
              <a:t>numColumns</a:t>
            </a:r>
            <a:r>
              <a:rPr lang="en-US" dirty="0"/>
              <a:t>)</a:t>
            </a:r>
          </a:p>
          <a:p>
            <a:r>
              <a:rPr lang="en-US" dirty="0"/>
              <a:t>Step 3: get the axis of interest</a:t>
            </a:r>
          </a:p>
          <a:p>
            <a:pPr lvl="1"/>
            <a:r>
              <a:rPr lang="en-US" dirty="0"/>
              <a:t>axes[</a:t>
            </a:r>
            <a:r>
              <a:rPr lang="en-US" dirty="0" err="1"/>
              <a:t>rowIndex</a:t>
            </a:r>
            <a:r>
              <a:rPr lang="en-US" dirty="0"/>
              <a:t>, </a:t>
            </a:r>
            <a:r>
              <a:rPr lang="en-US" dirty="0" err="1"/>
              <a:t>colIndex</a:t>
            </a:r>
            <a:r>
              <a:rPr lang="en-US" dirty="0"/>
              <a:t>]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66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on subplots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subplot commands returns axes</a:t>
            </a:r>
          </a:p>
          <a:p>
            <a:pPr lvl="1"/>
            <a:r>
              <a:rPr lang="en-US" dirty="0"/>
              <a:t>Commands should be run on the appropriate axes object instead of </a:t>
            </a:r>
            <a:r>
              <a:rPr lang="en-US" dirty="0" err="1"/>
              <a:t>plt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Ax1 = axes[</a:t>
            </a:r>
            <a:r>
              <a:rPr lang="en-US" dirty="0" err="1"/>
              <a:t>rowIndex</a:t>
            </a:r>
            <a:r>
              <a:rPr lang="en-US" dirty="0"/>
              <a:t>, </a:t>
            </a:r>
            <a:r>
              <a:rPr lang="en-US" dirty="0" err="1"/>
              <a:t>colIndex</a:t>
            </a:r>
            <a:r>
              <a:rPr lang="en-US" dirty="0"/>
              <a:t>]</a:t>
            </a:r>
          </a:p>
          <a:p>
            <a:r>
              <a:rPr lang="en-US" dirty="0"/>
              <a:t>Can then run most plt.* commands on the Axes</a:t>
            </a:r>
          </a:p>
          <a:p>
            <a:pPr lvl="1"/>
            <a:r>
              <a:rPr lang="en-US" dirty="0"/>
              <a:t>ax1.plot(…)</a:t>
            </a:r>
          </a:p>
          <a:p>
            <a:pPr lvl="1"/>
            <a:r>
              <a:rPr lang="en-US" dirty="0"/>
              <a:t>ax1.bar(…)</a:t>
            </a:r>
          </a:p>
          <a:p>
            <a:pPr lvl="1"/>
            <a:r>
              <a:rPr lang="en-US" dirty="0"/>
              <a:t>Some of them need to be prefixed with set_</a:t>
            </a:r>
          </a:p>
          <a:p>
            <a:pPr lvl="2"/>
            <a:r>
              <a:rPr lang="en-US" dirty="0" err="1"/>
              <a:t>set_title</a:t>
            </a:r>
            <a:r>
              <a:rPr lang="en-US" dirty="0"/>
              <a:t>()</a:t>
            </a:r>
          </a:p>
          <a:p>
            <a:pPr lvl="2"/>
            <a:r>
              <a:rPr lang="en-US" dirty="0" err="1"/>
              <a:t>set_xticks</a:t>
            </a:r>
            <a:r>
              <a:rPr lang="en-US" dirty="0"/>
              <a:t>()</a:t>
            </a:r>
          </a:p>
          <a:p>
            <a:pPr lvl="3"/>
            <a:r>
              <a:rPr lang="en-US" dirty="0"/>
              <a:t>Works like </a:t>
            </a:r>
            <a:r>
              <a:rPr lang="en-US" dirty="0" err="1"/>
              <a:t>plt.xticks</a:t>
            </a:r>
            <a:r>
              <a:rPr lang="en-US" dirty="0"/>
              <a:t>()</a:t>
            </a:r>
          </a:p>
          <a:p>
            <a:pPr lvl="2"/>
            <a:r>
              <a:rPr lang="en-US" dirty="0" err="1"/>
              <a:t>set_xticklabels</a:t>
            </a:r>
            <a:r>
              <a:rPr lang="en-US" dirty="0"/>
              <a:t>() [Highly Discouraged]</a:t>
            </a:r>
          </a:p>
        </p:txBody>
      </p:sp>
    </p:spTree>
    <p:extLst>
      <p:ext uri="{BB962C8B-B14F-4D97-AF65-F5344CB8AC3E}">
        <p14:creationId xmlns:p14="http://schemas.microsoft.com/office/powerpoint/2010/main" val="309069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Adjusting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Default spacing is pretty generous</a:t>
            </a:r>
          </a:p>
          <a:p>
            <a:r>
              <a:rPr lang="en-US" dirty="0"/>
              <a:t>Can be a problem if you’re trying to cut down on space (for a paper etc.)</a:t>
            </a:r>
          </a:p>
          <a:p>
            <a:r>
              <a:rPr lang="en-US" dirty="0" err="1"/>
              <a:t>fig.subplots_adjust</a:t>
            </a:r>
            <a:r>
              <a:rPr lang="en-US" dirty="0"/>
              <a:t>(</a:t>
            </a:r>
            <a:r>
              <a:rPr lang="en-US" dirty="0" err="1"/>
              <a:t>wspace</a:t>
            </a:r>
            <a:r>
              <a:rPr lang="en-US" dirty="0"/>
              <a:t>=0.1, </a:t>
            </a:r>
            <a:r>
              <a:rPr lang="en-US" dirty="0" err="1"/>
              <a:t>hspace</a:t>
            </a:r>
            <a:r>
              <a:rPr lang="en-US" dirty="0"/>
              <a:t>=0.1)</a:t>
            </a:r>
          </a:p>
          <a:p>
            <a:r>
              <a:rPr lang="en-US" dirty="0" err="1"/>
              <a:t>shareaxes</a:t>
            </a:r>
            <a:r>
              <a:rPr lang="en-US" dirty="0"/>
              <a:t> = true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873CE8-BC2B-4168-B375-1496EC0F8618}"/>
              </a:ext>
            </a:extLst>
          </p:cNvPr>
          <p:cNvSpPr/>
          <p:nvPr/>
        </p:nvSpPr>
        <p:spPr>
          <a:xfrm>
            <a:off x="4240148" y="4357713"/>
            <a:ext cx="2850204" cy="2286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9177BD-4AC7-49C0-8B0F-5387095DCC9D}"/>
              </a:ext>
            </a:extLst>
          </p:cNvPr>
          <p:cNvSpPr/>
          <p:nvPr/>
        </p:nvSpPr>
        <p:spPr>
          <a:xfrm>
            <a:off x="4509280" y="4510113"/>
            <a:ext cx="878732" cy="771728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8B4D26-C161-4C2E-9B79-F2FB743A2863}"/>
              </a:ext>
            </a:extLst>
          </p:cNvPr>
          <p:cNvSpPr/>
          <p:nvPr/>
        </p:nvSpPr>
        <p:spPr>
          <a:xfrm>
            <a:off x="5887365" y="4510113"/>
            <a:ext cx="878732" cy="771728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3D5144-BB1C-428F-B53A-46075DC8C471}"/>
              </a:ext>
            </a:extLst>
          </p:cNvPr>
          <p:cNvSpPr/>
          <p:nvPr/>
        </p:nvSpPr>
        <p:spPr>
          <a:xfrm>
            <a:off x="4736259" y="4727364"/>
            <a:ext cx="107004" cy="37937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F7C37D-B3C0-4ECC-B589-AED1BDE40F8A}"/>
              </a:ext>
            </a:extLst>
          </p:cNvPr>
          <p:cNvSpPr/>
          <p:nvPr/>
        </p:nvSpPr>
        <p:spPr>
          <a:xfrm>
            <a:off x="4843263" y="4824641"/>
            <a:ext cx="107004" cy="28210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9B3D95-C757-4C8D-99B5-C5DC549490AE}"/>
              </a:ext>
            </a:extLst>
          </p:cNvPr>
          <p:cNvSpPr/>
          <p:nvPr/>
        </p:nvSpPr>
        <p:spPr>
          <a:xfrm>
            <a:off x="4950267" y="5009468"/>
            <a:ext cx="107003" cy="972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E367AB38-CD32-4E3B-BBFD-AB2000C7A57D}"/>
              </a:ext>
            </a:extLst>
          </p:cNvPr>
          <p:cNvSpPr/>
          <p:nvPr/>
        </p:nvSpPr>
        <p:spPr>
          <a:xfrm>
            <a:off x="5432342" y="4803425"/>
            <a:ext cx="410693" cy="185103"/>
          </a:xfrm>
          <a:prstGeom prst="leftRightArrow">
            <a:avLst>
              <a:gd name="adj1" fmla="val 19231"/>
              <a:gd name="adj2" fmla="val 34616"/>
            </a:avLst>
          </a:prstGeom>
          <a:solidFill>
            <a:srgbClr val="92D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A1556EF2-CF18-41D1-8C12-26BC556DD051}"/>
              </a:ext>
            </a:extLst>
          </p:cNvPr>
          <p:cNvSpPr/>
          <p:nvPr/>
        </p:nvSpPr>
        <p:spPr>
          <a:xfrm rot="5400000">
            <a:off x="4715852" y="5371685"/>
            <a:ext cx="282104" cy="186724"/>
          </a:xfrm>
          <a:prstGeom prst="leftRightArrow">
            <a:avLst>
              <a:gd name="adj1" fmla="val 19231"/>
              <a:gd name="adj2" fmla="val 34616"/>
            </a:avLst>
          </a:prstGeom>
          <a:solidFill>
            <a:srgbClr val="92D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CC5E9E-D575-43AB-B3C4-1377C80A5844}"/>
              </a:ext>
            </a:extLst>
          </p:cNvPr>
          <p:cNvSpPr/>
          <p:nvPr/>
        </p:nvSpPr>
        <p:spPr>
          <a:xfrm>
            <a:off x="4474122" y="5646527"/>
            <a:ext cx="878732" cy="771728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4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size of a figure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plt.subplots</a:t>
            </a:r>
            <a:r>
              <a:rPr lang="en-US" dirty="0"/>
              <a:t>(</a:t>
            </a:r>
            <a:r>
              <a:rPr lang="en-US" dirty="0" err="1"/>
              <a:t>numRows</a:t>
            </a:r>
            <a:r>
              <a:rPr lang="en-US" dirty="0"/>
              <a:t>, </a:t>
            </a:r>
            <a:r>
              <a:rPr lang="en-US" dirty="0" err="1"/>
              <a:t>numCols</a:t>
            </a:r>
            <a:r>
              <a:rPr lang="en-US" dirty="0"/>
              <a:t>, </a:t>
            </a:r>
            <a:r>
              <a:rPr lang="en-US" dirty="0" err="1"/>
              <a:t>figsize</a:t>
            </a:r>
            <a:r>
              <a:rPr lang="en-US" dirty="0"/>
              <a:t> = (</a:t>
            </a:r>
            <a:r>
              <a:rPr lang="en-US" dirty="0" err="1"/>
              <a:t>xInches,yInches</a:t>
            </a:r>
            <a:r>
              <a:rPr lang="en-US" dirty="0"/>
              <a:t>))</a:t>
            </a:r>
          </a:p>
          <a:p>
            <a:r>
              <a:rPr lang="en-US" dirty="0"/>
              <a:t>Matplotlib assumes dpi of monitor</a:t>
            </a:r>
          </a:p>
          <a:p>
            <a:pPr lvl="1"/>
            <a:r>
              <a:rPr lang="en-US" dirty="0"/>
              <a:t>If we know dpi can do better:</a:t>
            </a:r>
          </a:p>
          <a:p>
            <a:pPr lvl="2"/>
            <a:r>
              <a:rPr lang="en-US" dirty="0" err="1"/>
              <a:t>plt.subplots</a:t>
            </a:r>
            <a:r>
              <a:rPr lang="en-US" dirty="0"/>
              <a:t>(</a:t>
            </a:r>
            <a:r>
              <a:rPr lang="en-US" dirty="0" err="1"/>
              <a:t>numRows</a:t>
            </a:r>
            <a:r>
              <a:rPr lang="en-US" dirty="0"/>
              <a:t>, </a:t>
            </a:r>
            <a:r>
              <a:rPr lang="en-US" dirty="0" err="1"/>
              <a:t>numCols</a:t>
            </a:r>
            <a:r>
              <a:rPr lang="en-US" dirty="0"/>
              <a:t>, </a:t>
            </a:r>
            <a:r>
              <a:rPr lang="en-US" dirty="0" err="1"/>
              <a:t>figsize</a:t>
            </a:r>
            <a:r>
              <a:rPr lang="en-US" dirty="0"/>
              <a:t> = (10,8), dpi =96)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B3BE4A-34E8-4E77-9E5D-EFD2BBDF7B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30055" y="4127547"/>
            <a:ext cx="3486198" cy="23648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DB0033-0EAF-4BE9-8D2A-99B60E67A13B}"/>
              </a:ext>
            </a:extLst>
          </p:cNvPr>
          <p:cNvSpPr txBox="1"/>
          <p:nvPr/>
        </p:nvSpPr>
        <p:spPr>
          <a:xfrm>
            <a:off x="1041042" y="6858000"/>
            <a:ext cx="101099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ux.stackexchange.com/questions/81382/does-it-matter-which-direction-an-icon-faces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11681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E9055-C599-44EB-9403-2091F0CB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FEBB8-B43E-4A2F-B8C3-B8FD6331A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Matplotlib can do a LOT of stuff</a:t>
            </a:r>
          </a:p>
          <a:p>
            <a:pPr lvl="1"/>
            <a:r>
              <a:rPr lang="en-US" dirty="0"/>
              <a:t>We covered just a small fraction of what it can do</a:t>
            </a:r>
          </a:p>
          <a:p>
            <a:pPr lvl="1"/>
            <a:r>
              <a:rPr lang="en-US" dirty="0"/>
              <a:t>Really good for generating high-quality, customizable graphs with ease</a:t>
            </a:r>
          </a:p>
          <a:p>
            <a:pPr lvl="1"/>
            <a:r>
              <a:rPr lang="en-US" dirty="0"/>
              <a:t>Feel free to look up the documentation and learn more types of graphs etc.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 descr="&lt;strong&gt;Matplotlib&lt;/strong&gt; - Wikidat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703" y="3774331"/>
            <a:ext cx="3800271" cy="285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94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9480</TotalTime>
  <Words>635</Words>
  <Application>Microsoft Office PowerPoint</Application>
  <PresentationFormat>Widescreen</PresentationFormat>
  <Paragraphs>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DATA/CS 172: Python for Data Analysis</vt:lpstr>
      <vt:lpstr>Announcements</vt:lpstr>
      <vt:lpstr>Today</vt:lpstr>
      <vt:lpstr>Last time, we saw how to make bar charts…</vt:lpstr>
      <vt:lpstr>X rotation</vt:lpstr>
      <vt:lpstr>Problem #1</vt:lpstr>
      <vt:lpstr>Problem #2</vt:lpstr>
      <vt:lpstr>Another issue…</vt:lpstr>
      <vt:lpstr>Multiple plots </vt:lpstr>
      <vt:lpstr>How do we set this up?</vt:lpstr>
      <vt:lpstr>Drawing on subplots</vt:lpstr>
      <vt:lpstr>Adjusting spacing</vt:lpstr>
      <vt:lpstr>Changing size of a figure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CS150: Intro to computer Science I</dc:title>
  <dc:creator>Travis Mandel</dc:creator>
  <cp:lastModifiedBy>Travis Mandel</cp:lastModifiedBy>
  <cp:revision>229</cp:revision>
  <dcterms:created xsi:type="dcterms:W3CDTF">2017-08-18T20:15:43Z</dcterms:created>
  <dcterms:modified xsi:type="dcterms:W3CDTF">2024-10-28T19:43:16Z</dcterms:modified>
</cp:coreProperties>
</file>