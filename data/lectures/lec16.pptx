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70" r:id="rId7"/>
    <p:sldId id="261" r:id="rId8"/>
    <p:sldId id="276" r:id="rId9"/>
    <p:sldId id="274" r:id="rId10"/>
    <p:sldId id="273" r:id="rId11"/>
    <p:sldId id="271" r:id="rId12"/>
    <p:sldId id="272" r:id="rId13"/>
    <p:sldId id="277" r:id="rId14"/>
    <p:sldId id="27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5204" autoAdjust="0"/>
  </p:normalViewPr>
  <p:slideViewPr>
    <p:cSldViewPr snapToGrid="0">
      <p:cViewPr varScale="1">
        <p:scale>
          <a:sx n="97" d="100"/>
          <a:sy n="97" d="100"/>
        </p:scale>
        <p:origin x="9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4EF4E-EB93-44C3-A141-FC4330C6D7B6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E85AB-DFED-4B8C-AE02-49FF73A58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0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6E85AB-DFED-4B8C-AE02-49FF73A586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9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3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5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7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0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5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2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1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1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5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CE987-FBFA-40E2-9FBA-1C59C5AC02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9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Intro to matplotlib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10/23/2024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864475" y="4022109"/>
            <a:ext cx="2724117" cy="283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86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 and 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2 out</a:t>
            </a:r>
          </a:p>
          <a:p>
            <a:pPr lvl="1"/>
            <a:r>
              <a:rPr lang="en-US" dirty="0"/>
              <a:t>Should be able to do now – uses your CSV, API, etc. skills</a:t>
            </a:r>
          </a:p>
          <a:p>
            <a:pPr lvl="1"/>
            <a:r>
              <a:rPr lang="en-US" dirty="0"/>
              <a:t>Have quite a while to work on it</a:t>
            </a:r>
          </a:p>
          <a:p>
            <a:r>
              <a:rPr lang="en-US" dirty="0"/>
              <a:t>Keep on </a:t>
            </a:r>
            <a:r>
              <a:rPr lang="en-US"/>
              <a:t>top of labs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 of data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1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worked with many different kinds of data…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Data</a:t>
            </a:r>
          </a:p>
          <a:p>
            <a:r>
              <a:rPr lang="en-US" dirty="0"/>
              <a:t>More recently:</a:t>
            </a:r>
          </a:p>
          <a:p>
            <a:pPr lvl="1"/>
            <a:r>
              <a:rPr lang="en-US" dirty="0"/>
              <a:t>CSV Data</a:t>
            </a:r>
          </a:p>
          <a:p>
            <a:pPr lvl="1"/>
            <a:r>
              <a:rPr lang="en-US" dirty="0"/>
              <a:t>JSON Data</a:t>
            </a:r>
          </a:p>
          <a:p>
            <a:r>
              <a:rPr lang="en-US" dirty="0"/>
              <a:t>But we have just been able to spit out basic facts about the data</a:t>
            </a:r>
          </a:p>
          <a:p>
            <a:r>
              <a:rPr lang="en-US" dirty="0"/>
              <a:t>A big part of data science is how to communicate complex data to non-data-scientists….</a:t>
            </a:r>
          </a:p>
          <a:p>
            <a:pPr lvl="1"/>
            <a:r>
              <a:rPr lang="en-US" dirty="0"/>
              <a:t>We need </a:t>
            </a:r>
            <a:r>
              <a:rPr lang="en-US" b="1" dirty="0"/>
              <a:t>visualization</a:t>
            </a:r>
          </a:p>
          <a:p>
            <a:pPr lvl="2"/>
            <a:r>
              <a:rPr lang="en-US" dirty="0"/>
              <a:t>Graphs, charts, etc.</a:t>
            </a:r>
          </a:p>
        </p:txBody>
      </p:sp>
      <p:pic>
        <p:nvPicPr>
          <p:cNvPr id="4" name="Picture 3" descr="حملة لدعم اللغة العربية في المحرك الناطق التابع لشركة جوجل على نظام أندرويد - مدونة مشروع سويفت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821" y="1027906"/>
            <a:ext cx="3273763" cy="245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8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plotting library</a:t>
            </a:r>
          </a:p>
          <a:p>
            <a:r>
              <a:rPr lang="en-US" dirty="0"/>
              <a:t>Around since 2002, really started taking off when people started using Python for data science</a:t>
            </a:r>
          </a:p>
          <a:p>
            <a:pPr lvl="1"/>
            <a:r>
              <a:rPr lang="en-US" dirty="0"/>
              <a:t>There are other Python Plotting libraries</a:t>
            </a:r>
          </a:p>
          <a:p>
            <a:pPr lvl="2"/>
            <a:r>
              <a:rPr lang="en-US" dirty="0"/>
              <a:t>Matplotlib definitely still #1 in Python graphing</a:t>
            </a:r>
          </a:p>
          <a:p>
            <a:pPr lvl="1"/>
            <a:r>
              <a:rPr lang="en-US" dirty="0"/>
              <a:t>Can do many kinds of powerful plots</a:t>
            </a:r>
          </a:p>
          <a:p>
            <a:endParaRPr lang="en-US" dirty="0"/>
          </a:p>
          <a:p>
            <a:r>
              <a:rPr lang="en-US" dirty="0"/>
              <a:t>Chapter 15 in Crash course book</a:t>
            </a:r>
          </a:p>
          <a:p>
            <a:pPr lvl="1"/>
            <a:r>
              <a:rPr lang="en-US" dirty="0"/>
              <a:t>Online documentation may be more helpful</a:t>
            </a:r>
          </a:p>
        </p:txBody>
      </p:sp>
      <p:pic>
        <p:nvPicPr>
          <p:cNvPr id="5" name="Picture 4" descr="File:&lt;strong&gt;Matplotlib&lt;/strong&gt; logo.svg - Wikipedi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668" y="509091"/>
            <a:ext cx="5651770" cy="103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6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matplotlib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do this locally</a:t>
            </a:r>
          </a:p>
          <a:p>
            <a:r>
              <a:rPr lang="en-US" dirty="0"/>
              <a:t>pip install </a:t>
            </a:r>
            <a:r>
              <a:rPr lang="en-US" dirty="0" err="1"/>
              <a:t>matplotlib</a:t>
            </a:r>
            <a:endParaRPr lang="en-US" dirty="0"/>
          </a:p>
          <a:p>
            <a:r>
              <a:rPr lang="en-US" dirty="0"/>
              <a:t>From local command line (</a:t>
            </a:r>
            <a:r>
              <a:rPr lang="en-US" dirty="0" err="1"/>
              <a:t>cmd</a:t>
            </a:r>
            <a:r>
              <a:rPr lang="en-US" dirty="0"/>
              <a:t> or Terminal)</a:t>
            </a:r>
          </a:p>
          <a:p>
            <a:r>
              <a:rPr lang="en-US" dirty="0"/>
              <a:t>Test by running “import </a:t>
            </a:r>
            <a:r>
              <a:rPr lang="en-US" dirty="0" err="1"/>
              <a:t>matplotlib</a:t>
            </a:r>
            <a:r>
              <a:rPr lang="en-US" dirty="0"/>
              <a:t>” in interactive mode</a:t>
            </a:r>
          </a:p>
        </p:txBody>
      </p:sp>
    </p:spTree>
    <p:extLst>
      <p:ext uri="{BB962C8B-B14F-4D97-AF65-F5344CB8AC3E}">
        <p14:creationId xmlns:p14="http://schemas.microsoft.com/office/powerpoint/2010/main" val="343816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basic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lvl="1"/>
            <a:r>
              <a:rPr lang="en-US" dirty="0"/>
              <a:t>So you don’t have to type the name every time – very common</a:t>
            </a:r>
          </a:p>
          <a:p>
            <a:r>
              <a:rPr lang="en-US" dirty="0" err="1"/>
              <a:t>plt.hist</a:t>
            </a:r>
            <a:r>
              <a:rPr lang="en-US" dirty="0"/>
              <a:t>(&lt;list of values&gt;)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800" y="3317131"/>
            <a:ext cx="3772401" cy="320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5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Showing the figure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Pops up a window with the figure</a:t>
            </a:r>
          </a:p>
          <a:p>
            <a:pPr lvl="1"/>
            <a:r>
              <a:rPr lang="en-US" dirty="0"/>
              <a:t>Script pauses until window is closed</a:t>
            </a:r>
          </a:p>
          <a:p>
            <a:pPr lvl="2"/>
            <a:r>
              <a:rPr lang="en-US" dirty="0"/>
              <a:t>Later commands DO NOT execute</a:t>
            </a:r>
          </a:p>
        </p:txBody>
      </p:sp>
    </p:spTree>
    <p:extLst>
      <p:ext uri="{BB962C8B-B14F-4D97-AF65-F5344CB8AC3E}">
        <p14:creationId xmlns:p14="http://schemas.microsoft.com/office/powerpoint/2010/main" val="291682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number of bins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plt.hist</a:t>
            </a:r>
            <a:r>
              <a:rPr lang="en-US" dirty="0"/>
              <a:t>(&lt;numbers&gt;, bins=&lt;number of bins&gt;)</a:t>
            </a:r>
          </a:p>
        </p:txBody>
      </p:sp>
      <p:pic>
        <p:nvPicPr>
          <p:cNvPr id="4" name="Picture 3" descr="Jeri’s Organizing &amp; Decluttering News: Buying Plastic &lt;strong&gt;Bins&lt;/strong&gt; Won't Solve Your Clutter Issu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228" y="3177891"/>
            <a:ext cx="3813243" cy="313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57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axis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plt.xlabel</a:t>
            </a:r>
            <a:r>
              <a:rPr lang="en-US" dirty="0"/>
              <a:t>(“X Label”)</a:t>
            </a:r>
          </a:p>
          <a:p>
            <a:r>
              <a:rPr lang="en-US" dirty="0" err="1"/>
              <a:t>plt.ylabel</a:t>
            </a:r>
            <a:r>
              <a:rPr lang="en-US" dirty="0"/>
              <a:t>(“Y Label”)</a:t>
            </a:r>
          </a:p>
          <a:p>
            <a:r>
              <a:rPr lang="en-US" dirty="0" err="1"/>
              <a:t>plt.title</a:t>
            </a:r>
            <a:r>
              <a:rPr lang="en-US" dirty="0"/>
              <a:t>(“Title”)</a:t>
            </a:r>
          </a:p>
        </p:txBody>
      </p:sp>
    </p:spTree>
    <p:extLst>
      <p:ext uri="{BB962C8B-B14F-4D97-AF65-F5344CB8AC3E}">
        <p14:creationId xmlns:p14="http://schemas.microsoft.com/office/powerpoint/2010/main" val="212889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up: Line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plt.plot</a:t>
            </a:r>
            <a:r>
              <a:rPr lang="en-US" dirty="0"/>
              <a:t>(</a:t>
            </a:r>
            <a:r>
              <a:rPr lang="en-US" dirty="0" err="1"/>
              <a:t>yValues</a:t>
            </a:r>
            <a:r>
              <a:rPr lang="en-US" dirty="0"/>
              <a:t>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577" y="1587432"/>
            <a:ext cx="611505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8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&amp; Y line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default, </a:t>
            </a:r>
            <a:r>
              <a:rPr lang="en-US" dirty="0" err="1"/>
              <a:t>xs</a:t>
            </a:r>
            <a:r>
              <a:rPr lang="en-US" dirty="0"/>
              <a:t> appear at 0,1,2,3,4,5,6,7,8,9</a:t>
            </a:r>
          </a:p>
          <a:p>
            <a:pPr lvl="1"/>
            <a:r>
              <a:rPr lang="en-US" dirty="0"/>
              <a:t>Often not what we want!</a:t>
            </a:r>
          </a:p>
          <a:p>
            <a:endParaRPr lang="en-US" dirty="0"/>
          </a:p>
          <a:p>
            <a:r>
              <a:rPr lang="en-US" dirty="0" err="1"/>
              <a:t>plt.plot</a:t>
            </a:r>
            <a:r>
              <a:rPr lang="en-US" dirty="0"/>
              <a:t>(</a:t>
            </a:r>
            <a:r>
              <a:rPr lang="en-US" dirty="0" err="1"/>
              <a:t>xs</a:t>
            </a:r>
            <a:r>
              <a:rPr lang="en-US" dirty="0"/>
              <a:t>, </a:t>
            </a:r>
            <a:r>
              <a:rPr lang="en-US" dirty="0" err="1"/>
              <a:t>ys</a:t>
            </a:r>
            <a:r>
              <a:rPr lang="en-US" dirty="0"/>
              <a:t>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219" y="2821020"/>
            <a:ext cx="3852467" cy="327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4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axis ranges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plt.xlim</a:t>
            </a:r>
            <a:r>
              <a:rPr lang="en-US" dirty="0"/>
              <a:t>([0, 100])</a:t>
            </a:r>
          </a:p>
          <a:p>
            <a:pPr lvl="1"/>
            <a:r>
              <a:rPr lang="en-US" dirty="0"/>
              <a:t>Sets x form 0 to 100</a:t>
            </a:r>
          </a:p>
          <a:p>
            <a:r>
              <a:rPr lang="en-US" dirty="0" err="1"/>
              <a:t>plt.ylim</a:t>
            </a:r>
            <a:r>
              <a:rPr lang="en-US" dirty="0"/>
              <a:t>([0, 10])</a:t>
            </a:r>
          </a:p>
          <a:p>
            <a:pPr lvl="1"/>
            <a:r>
              <a:rPr lang="en-US" dirty="0"/>
              <a:t>Sets y from 0 to 10</a:t>
            </a:r>
          </a:p>
        </p:txBody>
      </p:sp>
      <p:pic>
        <p:nvPicPr>
          <p:cNvPr id="4" name="Picture 3" descr="Erdachse – Wikipedi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950" y="2992944"/>
            <a:ext cx="3566583" cy="267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83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figures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manually save by pressing the disk icon</a:t>
            </a:r>
          </a:p>
          <a:p>
            <a:pPr lvl="1"/>
            <a:r>
              <a:rPr lang="en-US" dirty="0"/>
              <a:t>Inconvenient</a:t>
            </a:r>
          </a:p>
          <a:p>
            <a:r>
              <a:rPr lang="en-US" dirty="0" err="1"/>
              <a:t>plt.savefig</a:t>
            </a:r>
            <a:r>
              <a:rPr lang="en-US" dirty="0"/>
              <a:t>(“</a:t>
            </a:r>
            <a:r>
              <a:rPr lang="en-US" dirty="0" err="1"/>
              <a:t>filename.extension</a:t>
            </a:r>
            <a:r>
              <a:rPr lang="en-US" dirty="0"/>
              <a:t>”)</a:t>
            </a:r>
          </a:p>
          <a:p>
            <a:pPr lvl="1"/>
            <a:r>
              <a:rPr lang="en-US" dirty="0"/>
              <a:t>Relies on file extension</a:t>
            </a:r>
          </a:p>
          <a:p>
            <a:pPr lvl="1"/>
            <a:r>
              <a:rPr lang="en-US" dirty="0"/>
              <a:t>Can save in rasterized formats (</a:t>
            </a:r>
            <a:r>
              <a:rPr lang="en-US" dirty="0" err="1"/>
              <a:t>png</a:t>
            </a:r>
            <a:r>
              <a:rPr lang="en-US" dirty="0"/>
              <a:t>, jpg)</a:t>
            </a:r>
          </a:p>
          <a:p>
            <a:pPr lvl="1"/>
            <a:r>
              <a:rPr lang="en-US" dirty="0"/>
              <a:t>Or in vector graphics (</a:t>
            </a:r>
            <a:r>
              <a:rPr lang="en-US" dirty="0" err="1"/>
              <a:t>svg</a:t>
            </a:r>
            <a:r>
              <a:rPr lang="en-US" dirty="0"/>
              <a:t>, pdf)</a:t>
            </a:r>
          </a:p>
          <a:p>
            <a:pPr lvl="2"/>
            <a:r>
              <a:rPr lang="en-US" dirty="0"/>
              <a:t>Infinitely </a:t>
            </a:r>
            <a:r>
              <a:rPr lang="en-US" dirty="0" err="1"/>
              <a:t>zoomable</a:t>
            </a:r>
            <a:r>
              <a:rPr lang="en-US" dirty="0"/>
              <a:t>/no </a:t>
            </a:r>
            <a:r>
              <a:rPr lang="en-US" dirty="0" err="1"/>
              <a:t>pixelation</a:t>
            </a:r>
            <a:endParaRPr lang="en-US" dirty="0"/>
          </a:p>
          <a:p>
            <a:pPr lvl="2"/>
            <a:r>
              <a:rPr lang="en-US" dirty="0"/>
              <a:t>Often best for papers, reports, etc.</a:t>
            </a:r>
          </a:p>
        </p:txBody>
      </p:sp>
      <p:pic>
        <p:nvPicPr>
          <p:cNvPr id="4" name="Picture 3" descr="File:Dysan &lt;strong&gt;floppy disk&lt;/strong&gt; 01.jpg - Wikipedi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973" y="1585608"/>
            <a:ext cx="4059427" cy="422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1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your first graph</a:t>
            </a:r>
          </a:p>
          <a:p>
            <a:pPr lvl="1"/>
            <a:r>
              <a:rPr lang="en-US" dirty="0"/>
              <a:t>Based on CSV data – refer to last Wednesday’s lecture if you don’t recall how to do this</a:t>
            </a:r>
          </a:p>
          <a:p>
            <a:r>
              <a:rPr lang="en-US" dirty="0"/>
              <a:t>Friday: More matplotlib!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54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8074</TotalTime>
  <Words>443</Words>
  <Application>Microsoft Office PowerPoint</Application>
  <PresentationFormat>Widescreen</PresentationFormat>
  <Paragraphs>77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DATA/CS 172: Python for Data Analysis</vt:lpstr>
      <vt:lpstr>Reminders and Announcements</vt:lpstr>
      <vt:lpstr>Today</vt:lpstr>
      <vt:lpstr>We’ve worked with many different kinds of data…</vt:lpstr>
      <vt:lpstr>matplotlib</vt:lpstr>
      <vt:lpstr>Installing matplotlib</vt:lpstr>
      <vt:lpstr>A basic histogram</vt:lpstr>
      <vt:lpstr>Showing the figure</vt:lpstr>
      <vt:lpstr>Changing number of bins</vt:lpstr>
      <vt:lpstr>Adding axis labels</vt:lpstr>
      <vt:lpstr>Next up: Line graph</vt:lpstr>
      <vt:lpstr>X &amp; Y line graph</vt:lpstr>
      <vt:lpstr>Changing axis ranges</vt:lpstr>
      <vt:lpstr>Saving figures</vt:lpstr>
      <vt:lpstr>Lab 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CS150: Intro to computer Science I</dc:title>
  <dc:creator>Travis Mandel</dc:creator>
  <cp:lastModifiedBy>Travis Mandel</cp:lastModifiedBy>
  <cp:revision>195</cp:revision>
  <dcterms:created xsi:type="dcterms:W3CDTF">2017-08-18T20:15:43Z</dcterms:created>
  <dcterms:modified xsi:type="dcterms:W3CDTF">2024-10-23T19:49:51Z</dcterms:modified>
</cp:coreProperties>
</file>