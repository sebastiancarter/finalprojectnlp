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71" r:id="rId3"/>
    <p:sldId id="262" r:id="rId4"/>
    <p:sldId id="256" r:id="rId5"/>
    <p:sldId id="257" r:id="rId6"/>
    <p:sldId id="265" r:id="rId7"/>
    <p:sldId id="266" r:id="rId8"/>
    <p:sldId id="267" r:id="rId9"/>
    <p:sldId id="270" r:id="rId10"/>
    <p:sldId id="258" r:id="rId11"/>
    <p:sldId id="268" r:id="rId12"/>
    <p:sldId id="259" r:id="rId13"/>
    <p:sldId id="263" r:id="rId14"/>
    <p:sldId id="269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18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888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987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2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63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089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13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37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466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80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82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17CB5-4FD5-47DA-9BFE-6C54A66C2B79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8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imple.wikibooks.org/wiki/Number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phillisremastered.wordpress.com/2010/09/16/the-sister-poet-numbers-count-number-two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bytesizebio.net/2010/03/14/pi-day-2010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omendeavors.com/2014/03/st-patricks-day-kids-craft-lucky-bracelet.html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lemasney.com/consulting/2010/03/13/82-of-365-is-a-forward-slash-not-a-backslash-in-inkscape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owl.excelsior.edu/educator-resources/owl-across-disciplines/owl-across-the-disciplines-grammar-and-usage/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perspective/185309831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dailytipsndtricks.blogspot.com/2013_01_01_archive.html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File:Al_Fathah_Air_Field_Iraq_Explosion.jpg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08172"/>
            <a:ext cx="9144000" cy="2387600"/>
          </a:xfrm>
        </p:spPr>
        <p:txBody>
          <a:bodyPr/>
          <a:lstStyle/>
          <a:p>
            <a:r>
              <a:rPr lang="en-US" dirty="0"/>
              <a:t>DATA/CS 172: Python for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95772"/>
            <a:ext cx="9144000" cy="1655762"/>
          </a:xfrm>
        </p:spPr>
        <p:txBody>
          <a:bodyPr/>
          <a:lstStyle/>
          <a:p>
            <a:r>
              <a:rPr lang="en-US" dirty="0"/>
              <a:t>Understanding Types</a:t>
            </a:r>
          </a:p>
          <a:p>
            <a:r>
              <a:rPr lang="en-US" dirty="0"/>
              <a:t>Prof. Travis Mandel</a:t>
            </a:r>
          </a:p>
          <a:p>
            <a:r>
              <a:rPr lang="en-US" dirty="0"/>
              <a:t>9/4/2024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60" b="8455"/>
          <a:stretch/>
        </p:blipFill>
        <p:spPr>
          <a:xfrm>
            <a:off x="4996543" y="4416592"/>
            <a:ext cx="2108296" cy="219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176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 1 due today</a:t>
            </a:r>
          </a:p>
          <a:p>
            <a:r>
              <a:rPr lang="en-US" dirty="0"/>
              <a:t>Reminder for lab 2: Careful not to hold files open too long!</a:t>
            </a:r>
          </a:p>
          <a:p>
            <a:pPr lvl="1"/>
            <a:r>
              <a:rPr lang="en-US" dirty="0"/>
              <a:t>Also, probably not good to open/close files more than we need to</a:t>
            </a:r>
          </a:p>
          <a:p>
            <a:pPr lvl="2"/>
            <a:r>
              <a:rPr lang="en-US" dirty="0"/>
              <a:t>Opening/closing a file takes time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400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 Types</a:t>
            </a:r>
          </a:p>
          <a:p>
            <a:r>
              <a:rPr lang="en-US" dirty="0"/>
              <a:t>String basics</a:t>
            </a:r>
          </a:p>
          <a:p>
            <a:r>
              <a:rPr lang="en-US" dirty="0"/>
              <a:t>Type conversion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643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Variable Types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952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 far, our variables have mostly represented numbers…</a:t>
            </a:r>
          </a:p>
          <a:p>
            <a:pPr lvl="1"/>
            <a:r>
              <a:rPr lang="en-US" dirty="0"/>
              <a:t>Remember from math that there are different types of numbers</a:t>
            </a:r>
          </a:p>
          <a:p>
            <a:pPr lvl="1"/>
            <a:r>
              <a:rPr lang="en-US" dirty="0"/>
              <a:t>Integers, real Numbers, Complex Numbers, Rational Numbers etc.</a:t>
            </a:r>
          </a:p>
          <a:p>
            <a:r>
              <a:rPr lang="en-US" dirty="0"/>
              <a:t>In python, there are three common basic </a:t>
            </a:r>
            <a:r>
              <a:rPr lang="en-US" b="1" dirty="0"/>
              <a:t>types</a:t>
            </a:r>
            <a:r>
              <a:rPr lang="en-US" dirty="0"/>
              <a:t> for a variable 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 Important term!</a:t>
            </a:r>
            <a:endParaRPr lang="en-US" dirty="0"/>
          </a:p>
          <a:p>
            <a:pPr lvl="1"/>
            <a:r>
              <a:rPr lang="en-US" dirty="0"/>
              <a:t>int, float, </a:t>
            </a:r>
            <a:r>
              <a:rPr lang="en-US" dirty="0" err="1"/>
              <a:t>str</a:t>
            </a:r>
            <a:endParaRPr lang="en-US" b="1" dirty="0"/>
          </a:p>
          <a:p>
            <a:pPr lvl="1"/>
            <a:r>
              <a:rPr lang="en-US" dirty="0"/>
              <a:t>There are others (</a:t>
            </a:r>
            <a:r>
              <a:rPr lang="en-US" dirty="0" err="1"/>
              <a:t>booleans</a:t>
            </a:r>
            <a:r>
              <a:rPr lang="en-US" dirty="0"/>
              <a:t>, complex types), we’ll talk about later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E185E6-8C1E-4264-830A-8007A25B1A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675341" y="1"/>
            <a:ext cx="2516658" cy="251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93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Short for integer 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-1</a:t>
            </a:r>
          </a:p>
          <a:p>
            <a:pPr lvl="1"/>
            <a:r>
              <a:rPr lang="en-US" dirty="0"/>
              <a:t>367</a:t>
            </a:r>
          </a:p>
          <a:p>
            <a:pPr lvl="1"/>
            <a:r>
              <a:rPr lang="en-US" dirty="0"/>
              <a:t>3000</a:t>
            </a:r>
          </a:p>
          <a:p>
            <a:r>
              <a:rPr lang="en-US" dirty="0"/>
              <a:t>Note: Must omit commas! 3,000 not an integer!</a:t>
            </a:r>
          </a:p>
          <a:p>
            <a:r>
              <a:rPr lang="en-US" dirty="0"/>
              <a:t>Basic arithmetic (+,-,*,/) work as expected</a:t>
            </a:r>
          </a:p>
          <a:p>
            <a:pPr lvl="1"/>
            <a:r>
              <a:rPr lang="en-US" dirty="0"/>
              <a:t>Until you start working with really large numbers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69C40D-43C0-4C40-9B97-70B1F9BE0A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406555" y="0"/>
            <a:ext cx="1644500" cy="169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786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8910" y="158333"/>
            <a:ext cx="10515600" cy="1325563"/>
          </a:xfrm>
        </p:spPr>
        <p:txBody>
          <a:bodyPr/>
          <a:lstStyle/>
          <a:p>
            <a:r>
              <a:rPr lang="en-US" dirty="0"/>
              <a:t>float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621" y="1348033"/>
            <a:ext cx="10854179" cy="498304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Short for floating-point number</a:t>
            </a:r>
          </a:p>
          <a:p>
            <a:r>
              <a:rPr lang="en-US" dirty="0"/>
              <a:t>Note for C++ programmers: equivalent to double</a:t>
            </a:r>
          </a:p>
          <a:p>
            <a:pPr lvl="1"/>
            <a:r>
              <a:rPr lang="en-US" dirty="0"/>
              <a:t>Can represent really large or small numbers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-1.89423</a:t>
            </a:r>
          </a:p>
          <a:p>
            <a:pPr lvl="1"/>
            <a:r>
              <a:rPr lang="en-US" dirty="0"/>
              <a:t>367.0</a:t>
            </a:r>
          </a:p>
          <a:p>
            <a:pPr lvl="1"/>
            <a:r>
              <a:rPr lang="en-US" dirty="0"/>
              <a:t>0.0000000000000000000001</a:t>
            </a:r>
          </a:p>
          <a:p>
            <a:pPr lvl="1"/>
            <a:r>
              <a:rPr lang="en-US" dirty="0"/>
              <a:t>Infinity - float(“</a:t>
            </a:r>
            <a:r>
              <a:rPr lang="en-US" dirty="0" err="1"/>
              <a:t>inf</a:t>
            </a:r>
            <a:r>
              <a:rPr lang="en-US" dirty="0"/>
              <a:t>”)</a:t>
            </a:r>
          </a:p>
          <a:p>
            <a:pPr lvl="2"/>
            <a:r>
              <a:rPr lang="en-US" dirty="0"/>
              <a:t>Infinity is not a number – bad style to use this in code!</a:t>
            </a:r>
          </a:p>
          <a:p>
            <a:pPr lvl="3"/>
            <a:r>
              <a:rPr lang="en-US" dirty="0"/>
              <a:t>math.inf is just as bad</a:t>
            </a:r>
          </a:p>
          <a:p>
            <a:pPr lvl="1"/>
            <a:r>
              <a:rPr lang="en-US" dirty="0" err="1"/>
              <a:t>NaN</a:t>
            </a:r>
            <a:r>
              <a:rPr lang="en-US" dirty="0"/>
              <a:t> – float (“nan”)</a:t>
            </a:r>
          </a:p>
          <a:p>
            <a:pPr lvl="2"/>
            <a:r>
              <a:rPr lang="en-US" dirty="0"/>
              <a:t>Short for “not a number” </a:t>
            </a:r>
          </a:p>
          <a:p>
            <a:pPr lvl="2"/>
            <a:r>
              <a:rPr lang="en-US" dirty="0"/>
              <a:t>Can sometimes result from mathematical operations</a:t>
            </a:r>
          </a:p>
          <a:p>
            <a:pPr lvl="3"/>
            <a:r>
              <a:rPr lang="en-US" dirty="0"/>
              <a:t>Example: float(“</a:t>
            </a:r>
            <a:r>
              <a:rPr lang="en-US" dirty="0" err="1"/>
              <a:t>inf</a:t>
            </a:r>
            <a:r>
              <a:rPr lang="en-US" dirty="0"/>
              <a:t>”)/float(“</a:t>
            </a:r>
            <a:r>
              <a:rPr lang="en-US" dirty="0" err="1"/>
              <a:t>inf</a:t>
            </a:r>
            <a:r>
              <a:rPr lang="en-US" dirty="0"/>
              <a:t>”)</a:t>
            </a:r>
          </a:p>
          <a:p>
            <a:pPr lvl="2"/>
            <a:r>
              <a:rPr lang="en-US" dirty="0"/>
              <a:t>Can wreak havoc but shouldn’t usually be a problem </a:t>
            </a:r>
          </a:p>
          <a:p>
            <a:pPr marL="914400" lvl="2" indent="0">
              <a:buNone/>
            </a:pPr>
            <a:r>
              <a:rPr lang="en-US" dirty="0"/>
              <a:t>	if avoid </a:t>
            </a:r>
            <a:r>
              <a:rPr lang="en-US" dirty="0" err="1"/>
              <a:t>inf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EBE7DC-2D09-4CF7-B2C9-8041D8794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195349" y="0"/>
            <a:ext cx="443752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F403A1-A6F6-48C9-8A63-21018C96795A}"/>
              </a:ext>
            </a:extLst>
          </p:cNvPr>
          <p:cNvSpPr txBox="1"/>
          <p:nvPr/>
        </p:nvSpPr>
        <p:spPr>
          <a:xfrm>
            <a:off x="8412165" y="6746789"/>
            <a:ext cx="44375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://bytesizebio.net/2010/03/14/pi-day-2010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879613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Short for “String of Characters”</a:t>
            </a:r>
          </a:p>
          <a:p>
            <a:pPr lvl="1"/>
            <a:r>
              <a:rPr lang="en-US" dirty="0"/>
              <a:t>Example – </a:t>
            </a:r>
            <a:br>
              <a:rPr lang="en-US" dirty="0"/>
            </a:br>
            <a:r>
              <a:rPr lang="en-US" dirty="0"/>
              <a:t>“hello” is a string of 5 characters</a:t>
            </a:r>
          </a:p>
          <a:p>
            <a:r>
              <a:rPr lang="en-US" dirty="0"/>
              <a:t>Those things enclosed in quotes</a:t>
            </a:r>
          </a:p>
          <a:p>
            <a:pPr lvl="1"/>
            <a:r>
              <a:rPr lang="en-US" dirty="0"/>
              <a:t>Unlike some languages, fine to enclose in single(‘) or double(“) quotes</a:t>
            </a:r>
          </a:p>
          <a:p>
            <a:pPr lvl="1"/>
            <a:r>
              <a:rPr lang="en-US" dirty="0"/>
              <a:t>If you have quotes inside your string, you need to be careful here</a:t>
            </a:r>
          </a:p>
          <a:p>
            <a:pPr lvl="1"/>
            <a:r>
              <a:rPr lang="en-US" dirty="0"/>
              <a:t>‘Here’s a string’ </a:t>
            </a:r>
            <a:r>
              <a:rPr lang="en-US" dirty="0">
                <a:sym typeface="Wingdings" panose="05000000000000000000" pitchFamily="2" charset="2"/>
              </a:rPr>
              <a:t> Not okay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“Here’s a string”  Okay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‘This is a “nice” string’ Okay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“Here’s a “nice” string”  Uh oh, how do I fix this?!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C1D7EE-CFC2-4030-8ABD-BA7D7EB9A9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199670" y="185350"/>
            <a:ext cx="3822960" cy="25496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C32E49-8E92-4F18-A6A6-FD92AF7E8D2E}"/>
              </a:ext>
            </a:extLst>
          </p:cNvPr>
          <p:cNvSpPr txBox="1"/>
          <p:nvPr/>
        </p:nvSpPr>
        <p:spPr>
          <a:xfrm>
            <a:off x="8513804" y="2855458"/>
            <a:ext cx="35088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://www.momendeavors.com/2014/03/st-patricks-day-kids-craft-lucky-bracelet.html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-sa/3.0/"/>
              </a:rPr>
              <a:t>CC BY-SA-NC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219855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 and special 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Backslash allows you to escape special characters like quotes</a:t>
            </a:r>
          </a:p>
          <a:p>
            <a:r>
              <a:rPr lang="en-US" dirty="0"/>
              <a:t>Also allows you to put other characters in string</a:t>
            </a:r>
          </a:p>
          <a:p>
            <a:pPr lvl="1"/>
            <a:r>
              <a:rPr lang="en-US" dirty="0"/>
              <a:t>Line break (aka newline) - \n</a:t>
            </a:r>
          </a:p>
          <a:p>
            <a:pPr lvl="1"/>
            <a:r>
              <a:rPr lang="en-US" dirty="0"/>
              <a:t>Tab - \t</a:t>
            </a:r>
          </a:p>
          <a:p>
            <a:pPr lvl="1"/>
            <a:r>
              <a:rPr lang="en-US" dirty="0"/>
              <a:t>Can also be used with quotes</a:t>
            </a:r>
          </a:p>
          <a:p>
            <a:pPr lvl="1"/>
            <a:r>
              <a:rPr lang="en-US" dirty="0"/>
              <a:t>Demo</a:t>
            </a:r>
          </a:p>
          <a:p>
            <a:r>
              <a:rPr lang="en-US" dirty="0"/>
              <a:t>Hmm, haven’t we shifted the problem back?  What if I want to put a backslash in my string?</a:t>
            </a:r>
          </a:p>
          <a:p>
            <a:pPr lvl="1"/>
            <a:r>
              <a:rPr lang="en-US" dirty="0"/>
              <a:t>Right - \\</a:t>
            </a:r>
          </a:p>
          <a:p>
            <a:endParaRPr lang="en-US" dirty="0"/>
          </a:p>
          <a:p>
            <a:r>
              <a:rPr lang="en-US" dirty="0"/>
              <a:t>Much more you can do with strings – we’ll talk about this later</a:t>
            </a:r>
          </a:p>
          <a:p>
            <a:pPr lvl="1"/>
            <a:r>
              <a:rPr lang="en-US" dirty="0"/>
              <a:t>If you work with text data all this will be key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C8A3D9-1B61-4CDA-9BFA-B0A008074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107826" y="0"/>
            <a:ext cx="2198127" cy="21981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F5DA98-3C9D-40A3-A175-BC71AF9712A0}"/>
              </a:ext>
            </a:extLst>
          </p:cNvPr>
          <p:cNvSpPr txBox="1"/>
          <p:nvPr/>
        </p:nvSpPr>
        <p:spPr>
          <a:xfrm>
            <a:off x="10242678" y="2827042"/>
            <a:ext cx="2063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://lemasney.com/consulting/2010/03/13/82-of-365-is-a-forward-slash-not-a-backslash-in-inkscape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/3.0/"/>
              </a:rPr>
              <a:t>CC BY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91989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Python know which type my variable 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the value!</a:t>
            </a:r>
          </a:p>
          <a:p>
            <a:pPr lvl="1"/>
            <a:r>
              <a:rPr lang="en-US" dirty="0"/>
              <a:t>What type is 3?</a:t>
            </a:r>
          </a:p>
          <a:p>
            <a:pPr lvl="2"/>
            <a:r>
              <a:rPr lang="en-US" dirty="0"/>
              <a:t>Right! So if I write a = 3, Python knows the type of a is </a:t>
            </a:r>
            <a:r>
              <a:rPr lang="en-US" dirty="0" err="1"/>
              <a:t>int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How about a=3.14?</a:t>
            </a:r>
          </a:p>
          <a:p>
            <a:pPr lvl="1"/>
            <a:r>
              <a:rPr lang="en-US" dirty="0"/>
              <a:t>How about a=“hello world”?</a:t>
            </a:r>
          </a:p>
          <a:p>
            <a:pPr lvl="1"/>
            <a:r>
              <a:rPr lang="en-US" dirty="0"/>
              <a:t> How about a=“3.14”?</a:t>
            </a:r>
          </a:p>
          <a:p>
            <a:pPr lvl="1"/>
            <a:r>
              <a:rPr lang="en-US" dirty="0"/>
              <a:t>How about a=hello?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FA2C18-983C-4CA4-A30A-BC8A3F31C3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140700" y="3035300"/>
            <a:ext cx="3822700" cy="3822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FC6716-C09A-4E08-B37C-2A246286EF8E}"/>
              </a:ext>
            </a:extLst>
          </p:cNvPr>
          <p:cNvSpPr txBox="1"/>
          <p:nvPr/>
        </p:nvSpPr>
        <p:spPr>
          <a:xfrm>
            <a:off x="8712200" y="6960164"/>
            <a:ext cx="3251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owl.excelsior.edu/educator-resources/owl-across-disciplines/owl-across-the-disciplines-grammar-and-usage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/3.0/"/>
              </a:rPr>
              <a:t>CC BY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822229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Note: unlike other languages…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Python’s type system is fairly weak</a:t>
            </a:r>
          </a:p>
          <a:p>
            <a:pPr lvl="1"/>
            <a:r>
              <a:rPr lang="en-US" dirty="0"/>
              <a:t>Almost “anything goes”</a:t>
            </a:r>
          </a:p>
          <a:p>
            <a:r>
              <a:rPr lang="en-US" dirty="0"/>
              <a:t>A variable’s type is not fixed!</a:t>
            </a:r>
          </a:p>
          <a:p>
            <a:r>
              <a:rPr lang="en-US" dirty="0"/>
              <a:t>a=2</a:t>
            </a:r>
          </a:p>
          <a:p>
            <a:r>
              <a:rPr lang="en-US" dirty="0"/>
              <a:t>a=“hello”</a:t>
            </a:r>
          </a:p>
          <a:p>
            <a:pPr lvl="1"/>
            <a:r>
              <a:rPr lang="en-US" dirty="0"/>
              <a:t>Perfectly fine! </a:t>
            </a:r>
          </a:p>
          <a:p>
            <a:pPr lvl="1"/>
            <a:r>
              <a:rPr lang="en-US" dirty="0"/>
              <a:t>In a strongly typed language like C++, this would never work!</a:t>
            </a:r>
          </a:p>
          <a:p>
            <a:pPr lvl="1"/>
            <a:r>
              <a:rPr lang="en-US" dirty="0"/>
              <a:t>Usually bad style, but switching between floats and </a:t>
            </a:r>
            <a:r>
              <a:rPr lang="en-US" dirty="0" err="1"/>
              <a:t>ints</a:t>
            </a:r>
            <a:r>
              <a:rPr lang="en-US" dirty="0"/>
              <a:t> is fine</a:t>
            </a:r>
          </a:p>
          <a:p>
            <a:pPr lvl="2"/>
            <a:r>
              <a:rPr lang="en-US" dirty="0"/>
              <a:t>Good rule of thumb: If in doubt, </a:t>
            </a:r>
            <a:r>
              <a:rPr lang="en-US" b="1" dirty="0"/>
              <a:t>add more variables</a:t>
            </a:r>
          </a:p>
          <a:p>
            <a:pPr lvl="3"/>
            <a:r>
              <a:rPr lang="en-US" dirty="0"/>
              <a:t>Keeps code readable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1DF4D7-AC97-4812-82CF-F196A61158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712200" y="365125"/>
            <a:ext cx="2959100" cy="197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702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convert types?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python, </a:t>
            </a:r>
            <a:r>
              <a:rPr lang="en-US" b="1" dirty="0"/>
              <a:t>type conversion </a:t>
            </a:r>
            <a:r>
              <a:rPr lang="en-US" dirty="0"/>
              <a:t>is very easy 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 Important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							term!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nameOfType</a:t>
            </a:r>
            <a:r>
              <a:rPr lang="en-US" dirty="0"/>
              <a:t>(</a:t>
            </a:r>
            <a:r>
              <a:rPr lang="en-US" dirty="0" err="1"/>
              <a:t>variableYouWantTochange</a:t>
            </a:r>
            <a:r>
              <a:rPr lang="en-US" dirty="0"/>
              <a:t>)</a:t>
            </a:r>
          </a:p>
          <a:p>
            <a:r>
              <a:rPr lang="en-US" dirty="0"/>
              <a:t>Example:</a:t>
            </a:r>
          </a:p>
          <a:p>
            <a:pPr marL="457200" lvl="1" indent="0">
              <a:buNone/>
            </a:pPr>
            <a:r>
              <a:rPr lang="en-US" dirty="0"/>
              <a:t>a = “1”</a:t>
            </a:r>
          </a:p>
          <a:p>
            <a:pPr marL="457200" lvl="1" indent="0">
              <a:buNone/>
            </a:pPr>
            <a:r>
              <a:rPr lang="en-US" dirty="0"/>
              <a:t>b = </a:t>
            </a:r>
            <a:r>
              <a:rPr lang="en-US" dirty="0" err="1"/>
              <a:t>int</a:t>
            </a:r>
            <a:r>
              <a:rPr lang="en-US" dirty="0"/>
              <a:t>(a) + 2</a:t>
            </a:r>
          </a:p>
          <a:p>
            <a:pPr marL="457200" lvl="1" indent="0">
              <a:buNone/>
            </a:pPr>
            <a:r>
              <a:rPr lang="en-US" dirty="0"/>
              <a:t>print(b) //prints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476E5E-5DAA-46B9-8AD0-06C92183EC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259330" y="277898"/>
            <a:ext cx="2825579" cy="282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893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convert?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Operators mean different things depending on type!</a:t>
            </a:r>
          </a:p>
          <a:p>
            <a:r>
              <a:rPr lang="en-US" dirty="0"/>
              <a:t>Great example: +</a:t>
            </a:r>
          </a:p>
          <a:p>
            <a:pPr lvl="1"/>
            <a:r>
              <a:rPr lang="en-US" dirty="0"/>
              <a:t>Demo</a:t>
            </a:r>
          </a:p>
          <a:p>
            <a:pPr lvl="1"/>
            <a:r>
              <a:rPr lang="en-US" dirty="0"/>
              <a:t>+ on numbers is called addition (duh)</a:t>
            </a:r>
          </a:p>
          <a:p>
            <a:pPr lvl="1"/>
            <a:r>
              <a:rPr lang="en-US" dirty="0"/>
              <a:t>+ on strings is called string </a:t>
            </a:r>
            <a:r>
              <a:rPr lang="en-US" b="1" dirty="0"/>
              <a:t>concatenation 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 Important term!</a:t>
            </a:r>
            <a:endParaRPr lang="en-US" b="1" dirty="0"/>
          </a:p>
          <a:p>
            <a:pPr lvl="2"/>
            <a:r>
              <a:rPr lang="en-US" dirty="0"/>
              <a:t>Different strings joined together</a:t>
            </a:r>
          </a:p>
          <a:p>
            <a:pPr lvl="3"/>
            <a:r>
              <a:rPr lang="en-US" dirty="0"/>
              <a:t>Careful: comma , seems similar but only works in print()</a:t>
            </a:r>
          </a:p>
          <a:p>
            <a:pPr lvl="2"/>
            <a:r>
              <a:rPr lang="en-US" dirty="0"/>
              <a:t>Demo</a:t>
            </a:r>
          </a:p>
          <a:p>
            <a:r>
              <a:rPr lang="en-US" dirty="0"/>
              <a:t>Another reason: data!</a:t>
            </a:r>
          </a:p>
          <a:p>
            <a:pPr lvl="1"/>
            <a:r>
              <a:rPr lang="en-US" dirty="0"/>
              <a:t>By default, values are read from files as strings</a:t>
            </a:r>
          </a:p>
          <a:p>
            <a:pPr lvl="2"/>
            <a:r>
              <a:rPr lang="en-US" dirty="0"/>
              <a:t>May need to convert them to numbers</a:t>
            </a:r>
          </a:p>
          <a:p>
            <a:pPr lvl="1"/>
            <a:r>
              <a:rPr lang="en-US" dirty="0"/>
              <a:t>By default, can only write strings to files</a:t>
            </a:r>
          </a:p>
          <a:p>
            <a:pPr lvl="2"/>
            <a:r>
              <a:rPr lang="en-US" dirty="0"/>
              <a:t>Need to use the str() cast to convert whatever we have to a string</a:t>
            </a:r>
          </a:p>
          <a:p>
            <a:pPr marL="914400" lvl="2" indent="0">
              <a:buNone/>
            </a:pPr>
            <a:endParaRPr lang="en-US" b="1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510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can go wrong when converting…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int</a:t>
            </a:r>
            <a:r>
              <a:rPr lang="en-US" dirty="0"/>
              <a:t>(“hello”)</a:t>
            </a:r>
          </a:p>
          <a:p>
            <a:r>
              <a:rPr lang="en-US" dirty="0"/>
              <a:t>Demo</a:t>
            </a:r>
          </a:p>
          <a:p>
            <a:r>
              <a:rPr lang="en-US" dirty="0"/>
              <a:t>We get an error: how can we handle this?</a:t>
            </a:r>
          </a:p>
          <a:p>
            <a:r>
              <a:rPr lang="en-US" b="1" dirty="0"/>
              <a:t>Error handling </a:t>
            </a:r>
            <a:r>
              <a:rPr lang="en-US" dirty="0"/>
              <a:t>with try/except! 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 Important term!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try: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("hello")</a:t>
            </a:r>
          </a:p>
          <a:p>
            <a:pPr marL="0" indent="0">
              <a:buNone/>
            </a:pPr>
            <a:r>
              <a:rPr lang="en-US" dirty="0"/>
              <a:t>except </a:t>
            </a:r>
            <a:r>
              <a:rPr lang="en-US" dirty="0" err="1"/>
              <a:t>ValueError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print("error converting to </a:t>
            </a:r>
            <a:r>
              <a:rPr lang="en-US" dirty="0" err="1"/>
              <a:t>int</a:t>
            </a:r>
            <a:r>
              <a:rPr lang="en-US" dirty="0"/>
              <a:t>!")</a:t>
            </a:r>
          </a:p>
          <a:p>
            <a:r>
              <a:rPr lang="en-US" dirty="0"/>
              <a:t>Often we will want to exit on errors</a:t>
            </a:r>
          </a:p>
          <a:p>
            <a:r>
              <a:rPr lang="en-US" dirty="0"/>
              <a:t>import sys at the top</a:t>
            </a:r>
          </a:p>
          <a:p>
            <a:r>
              <a:rPr lang="en-US" dirty="0" err="1"/>
              <a:t>sys.exit</a:t>
            </a:r>
            <a:r>
              <a:rPr lang="en-US" dirty="0"/>
              <a:t>(</a:t>
            </a:r>
            <a:r>
              <a:rPr lang="en-US" dirty="0" err="1"/>
              <a:t>exitcode</a:t>
            </a:r>
            <a:r>
              <a:rPr lang="en-US" dirty="0"/>
              <a:t>) (demo) </a:t>
            </a:r>
          </a:p>
          <a:p>
            <a:pPr lvl="1"/>
            <a:r>
              <a:rPr lang="en-US" dirty="0"/>
              <a:t>Usually an </a:t>
            </a:r>
            <a:r>
              <a:rPr lang="en-US" b="1" dirty="0"/>
              <a:t>exit code </a:t>
            </a:r>
            <a:r>
              <a:rPr lang="en-US" dirty="0"/>
              <a:t>of 0 means success, anything else failure 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 Important term!</a:t>
            </a:r>
            <a:endParaRPr lang="en-US" b="1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BED897-2FB4-4518-B1A2-3A4FD8BB9B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861710" y="1690688"/>
            <a:ext cx="4228057" cy="26775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DC1180-A4BF-4362-AF29-89088293625D}"/>
              </a:ext>
            </a:extLst>
          </p:cNvPr>
          <p:cNvSpPr txBox="1"/>
          <p:nvPr/>
        </p:nvSpPr>
        <p:spPr>
          <a:xfrm>
            <a:off x="8192528" y="4460310"/>
            <a:ext cx="38972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://en.wikipedia.org/wiki/File:Al_Fathah_Air_Field_Iraq_Explosion.jpg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621601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A1428-0988-442B-9DF2-512F6F69E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3 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D873A-AFEC-4BDC-8DEE-C63BA8913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Feel free to use lab 2 as a starting point</a:t>
            </a:r>
          </a:p>
        </p:txBody>
      </p:sp>
    </p:spTree>
    <p:extLst>
      <p:ext uri="{BB962C8B-B14F-4D97-AF65-F5344CB8AC3E}">
        <p14:creationId xmlns:p14="http://schemas.microsoft.com/office/powerpoint/2010/main" val="1546863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2350</TotalTime>
  <Words>893</Words>
  <Application>Microsoft Office PowerPoint</Application>
  <PresentationFormat>Widescreen</PresentationFormat>
  <Paragraphs>134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Office Theme</vt:lpstr>
      <vt:lpstr>DATA/CS 172: Python for Data Analysis</vt:lpstr>
      <vt:lpstr>Announcements</vt:lpstr>
      <vt:lpstr>Agenda</vt:lpstr>
      <vt:lpstr>Variable Types</vt:lpstr>
      <vt:lpstr>Variable Types</vt:lpstr>
      <vt:lpstr>int</vt:lpstr>
      <vt:lpstr>float</vt:lpstr>
      <vt:lpstr>str</vt:lpstr>
      <vt:lpstr>Strings and special characters</vt:lpstr>
      <vt:lpstr>How does Python know which type my variable is?</vt:lpstr>
      <vt:lpstr>Note: unlike other languages…</vt:lpstr>
      <vt:lpstr>How to convert types?</vt:lpstr>
      <vt:lpstr>Why convert?</vt:lpstr>
      <vt:lpstr>Things can go wrong when converting…</vt:lpstr>
      <vt:lpstr>Lab 3 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Travis Mandel</dc:creator>
  <cp:lastModifiedBy>Travis Mandel</cp:lastModifiedBy>
  <cp:revision>54</cp:revision>
  <dcterms:created xsi:type="dcterms:W3CDTF">2018-08-18T19:26:06Z</dcterms:created>
  <dcterms:modified xsi:type="dcterms:W3CDTF">2024-09-04T20:55:40Z</dcterms:modified>
</cp:coreProperties>
</file>