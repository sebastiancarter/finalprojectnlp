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1" r:id="rId2"/>
    <p:sldId id="282" r:id="rId3"/>
    <p:sldId id="298" r:id="rId4"/>
    <p:sldId id="307" r:id="rId5"/>
    <p:sldId id="308" r:id="rId6"/>
    <p:sldId id="312" r:id="rId7"/>
    <p:sldId id="309" r:id="rId8"/>
    <p:sldId id="313" r:id="rId9"/>
    <p:sldId id="310" r:id="rId10"/>
    <p:sldId id="311" r:id="rId11"/>
    <p:sldId id="318" r:id="rId12"/>
    <p:sldId id="314" r:id="rId13"/>
    <p:sldId id="315" r:id="rId14"/>
    <p:sldId id="317" r:id="rId15"/>
    <p:sldId id="316" r:id="rId16"/>
    <p:sldId id="3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D9A1A8-FF1D-4726-838B-47A0FE4AFDE0}">
          <p14:sldIdLst>
            <p14:sldId id="261"/>
            <p14:sldId id="282"/>
            <p14:sldId id="298"/>
            <p14:sldId id="307"/>
            <p14:sldId id="308"/>
            <p14:sldId id="312"/>
            <p14:sldId id="309"/>
            <p14:sldId id="313"/>
            <p14:sldId id="310"/>
            <p14:sldId id="311"/>
            <p14:sldId id="318"/>
            <p14:sldId id="314"/>
            <p14:sldId id="315"/>
            <p14:sldId id="317"/>
            <p14:sldId id="316"/>
            <p14:sldId id="319"/>
          </p14:sldIdLst>
        </p14:section>
        <p14:section name="Untitled Section" id="{077C5D54-4F76-4A0B-8326-09AC223F03F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85632" autoAdjust="0"/>
  </p:normalViewPr>
  <p:slideViewPr>
    <p:cSldViewPr snapToGrid="0">
      <p:cViewPr varScale="1">
        <p:scale>
          <a:sx n="64" d="100"/>
          <a:sy n="64" d="100"/>
        </p:scale>
        <p:origin x="9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8464E-0D39-4941-B2AD-E6549377548E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B063-098E-41CB-863A-BC3C9CDE7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3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the astronauts demo was pulled live from:</a:t>
            </a:r>
          </a:p>
          <a:p>
            <a:pPr lvl="1"/>
            <a:r>
              <a:rPr lang="en-US" dirty="0"/>
              <a:t>http://open-notify.org/Open-Notify-API/People-In-Space/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DB063-098E-41CB-863A-BC3C9CDE7A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atadrivenjournalism.net/resource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-stand.org/shaping-a-common-future-kin-lane-on-open-api-development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career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phonevalidator.com/api/v3/phonesearch?apikey=%7bAPIKEY%7d&amp;phone=%7bPHONE%7d&amp;type=fake,basic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APIs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10/21/2024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13 due today</a:t>
            </a:r>
          </a:p>
          <a:p>
            <a:r>
              <a:rPr lang="en-US" dirty="0"/>
              <a:t>Program 2 out Wednesday</a:t>
            </a:r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Like Python variables (</a:t>
            </a:r>
            <a:r>
              <a:rPr lang="en-US" dirty="0" err="1"/>
              <a:t>dicts</a:t>
            </a:r>
            <a:r>
              <a:rPr lang="en-US" dirty="0"/>
              <a:t>, lists, etc.)</a:t>
            </a:r>
          </a:p>
          <a:p>
            <a:r>
              <a:rPr lang="en-US" dirty="0"/>
              <a:t>Can represent complicated nested structures</a:t>
            </a:r>
          </a:p>
          <a:p>
            <a:r>
              <a:rPr lang="en-US" dirty="0"/>
              <a:t>Easy to load and dump given Python variables</a:t>
            </a:r>
          </a:p>
          <a:p>
            <a:pPr lvl="1"/>
            <a:r>
              <a:rPr lang="en-US" dirty="0"/>
              <a:t>Some small differences to be aware of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7064DB-ED37-4CEA-8659-A145BA0F30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16810" y="149825"/>
            <a:ext cx="3276572" cy="253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7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862C-CD7A-4551-829D-9F0B30714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JSON data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976FE-E61D-4FF9-B1E9-BCBEF641C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87000" cy="30384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Well, they could come from anywhere…</a:t>
            </a:r>
          </a:p>
          <a:p>
            <a:r>
              <a:rPr lang="en-US" dirty="0"/>
              <a:t>But #1 place they come from is calls to Web APIs!</a:t>
            </a:r>
          </a:p>
          <a:p>
            <a:r>
              <a:rPr lang="en-US" dirty="0"/>
              <a:t>What is an API?</a:t>
            </a:r>
          </a:p>
          <a:p>
            <a:r>
              <a:rPr lang="en-US" dirty="0"/>
              <a:t>API stands for Application Programming Interface</a:t>
            </a:r>
          </a:p>
          <a:p>
            <a:pPr lvl="1"/>
            <a:r>
              <a:rPr lang="en-US" dirty="0"/>
              <a:t>Sounds complicated</a:t>
            </a:r>
          </a:p>
          <a:p>
            <a:pPr lvl="1"/>
            <a:r>
              <a:rPr lang="en-US" dirty="0"/>
              <a:t>Reality: Basically a set of functions provided by a website</a:t>
            </a:r>
          </a:p>
          <a:p>
            <a:pPr lvl="1"/>
            <a:r>
              <a:rPr lang="en-US" dirty="0"/>
              <a:t>“Information hiding” again – but to a greater extent!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6695-411F-4BF6-9421-E4234D374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979087" y="165925"/>
            <a:ext cx="2946213" cy="165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B4914C-7E57-4697-AA3A-21182AAC308D}"/>
              </a:ext>
            </a:extLst>
          </p:cNvPr>
          <p:cNvSpPr/>
          <p:nvPr/>
        </p:nvSpPr>
        <p:spPr>
          <a:xfrm>
            <a:off x="1612900" y="5270500"/>
            <a:ext cx="2387600" cy="122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94F87-72AA-4F0A-93BD-D448EA2785B6}"/>
              </a:ext>
            </a:extLst>
          </p:cNvPr>
          <p:cNvSpPr/>
          <p:nvPr/>
        </p:nvSpPr>
        <p:spPr>
          <a:xfrm>
            <a:off x="7073900" y="5270500"/>
            <a:ext cx="2387600" cy="122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Webserver (https://google.com,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33FF97A-2828-48AC-9089-91A10B430F09}"/>
              </a:ext>
            </a:extLst>
          </p:cNvPr>
          <p:cNvSpPr/>
          <p:nvPr/>
        </p:nvSpPr>
        <p:spPr>
          <a:xfrm>
            <a:off x="4267200" y="4864100"/>
            <a:ext cx="2603500" cy="10541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(Calling a function) ex: </a:t>
            </a:r>
            <a:r>
              <a:rPr lang="en-US" dirty="0" err="1"/>
              <a:t>getDate</a:t>
            </a:r>
            <a:r>
              <a:rPr lang="en-US" dirty="0"/>
              <a:t>()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2C614D0-D324-412E-9E29-69B8D8F52EE6}"/>
              </a:ext>
            </a:extLst>
          </p:cNvPr>
          <p:cNvSpPr/>
          <p:nvPr/>
        </p:nvSpPr>
        <p:spPr>
          <a:xfrm flipH="1">
            <a:off x="4267200" y="5881687"/>
            <a:ext cx="2603500" cy="976313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(return value) ex: 10/21</a:t>
            </a:r>
          </a:p>
        </p:txBody>
      </p:sp>
    </p:spTree>
    <p:extLst>
      <p:ext uri="{BB962C8B-B14F-4D97-AF65-F5344CB8AC3E}">
        <p14:creationId xmlns:p14="http://schemas.microsoft.com/office/powerpoint/2010/main" val="115142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83C9A-FE57-48F0-AB7E-A12CF60B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over the internet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5D969-638E-4CC1-AE0E-4CA31A283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make an API request, need to send info over the internet</a:t>
            </a:r>
          </a:p>
          <a:p>
            <a:endParaRPr lang="en-US" dirty="0"/>
          </a:p>
          <a:p>
            <a:r>
              <a:rPr lang="en-US" dirty="0"/>
              <a:t>Problem: Python: built in support is limited</a:t>
            </a:r>
          </a:p>
          <a:p>
            <a:pPr lvl="1"/>
            <a:r>
              <a:rPr lang="en-US" dirty="0" err="1"/>
              <a:t>Urllib.requests</a:t>
            </a:r>
            <a:r>
              <a:rPr lang="en-US" dirty="0"/>
              <a:t> not very popular – even the documentation recommends against it</a:t>
            </a:r>
          </a:p>
          <a:p>
            <a:pPr lvl="1"/>
            <a:endParaRPr lang="en-US" dirty="0"/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Install module via pip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0601F9-EF5D-21E0-53FA-3D9667733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90646"/>
            <a:ext cx="4178513" cy="150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9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7232A-2E89-016A-A43D-C20BBF3D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via 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8369-333D-1040-3779-90743B9C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Let’s say I want to use a library that I don’t have installed</a:t>
            </a:r>
          </a:p>
          <a:p>
            <a:r>
              <a:rPr lang="en-US" dirty="0"/>
              <a:t>Import requests</a:t>
            </a:r>
          </a:p>
          <a:p>
            <a:r>
              <a:rPr lang="en-US" dirty="0"/>
              <a:t>Need to use “pip” to install</a:t>
            </a:r>
          </a:p>
          <a:p>
            <a:pPr lvl="1"/>
            <a:r>
              <a:rPr lang="en-US" dirty="0"/>
              <a:t>Windows “</a:t>
            </a:r>
            <a:r>
              <a:rPr lang="en-US" dirty="0" err="1"/>
              <a:t>cmd</a:t>
            </a:r>
            <a:r>
              <a:rPr lang="en-US" dirty="0"/>
              <a:t>”/”Command Prompt”</a:t>
            </a:r>
            <a:br>
              <a:rPr lang="en-US" dirty="0"/>
            </a:br>
            <a:r>
              <a:rPr lang="en-US" dirty="0"/>
              <a:t>Mac: Terminal</a:t>
            </a:r>
          </a:p>
          <a:p>
            <a:pPr lvl="1"/>
            <a:r>
              <a:rPr lang="en-US" dirty="0"/>
              <a:t>Type “pip install requests”</a:t>
            </a:r>
          </a:p>
          <a:p>
            <a:r>
              <a:rPr lang="en-US" dirty="0"/>
              <a:t>Pip not found?</a:t>
            </a:r>
          </a:p>
          <a:p>
            <a:pPr lvl="1"/>
            <a:r>
              <a:rPr lang="en-US" dirty="0"/>
              <a:t>Type “where python” (Windows) or “which python” (Mac/Linux)</a:t>
            </a:r>
          </a:p>
          <a:p>
            <a:pPr lvl="2"/>
            <a:r>
              <a:rPr lang="en-US" dirty="0"/>
              <a:t>Might show C:\Python312 or something else</a:t>
            </a:r>
          </a:p>
          <a:p>
            <a:pPr lvl="1"/>
            <a:r>
              <a:rPr lang="en-US" dirty="0"/>
              <a:t>Need to run </a:t>
            </a:r>
            <a:r>
              <a:rPr lang="en-US" dirty="0" err="1"/>
              <a:t>PythonDir</a:t>
            </a:r>
            <a:r>
              <a:rPr lang="en-US" dirty="0"/>
              <a:t>/Scripts/pip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All else fails?  See instructions on </a:t>
            </a:r>
            <a:r>
              <a:rPr lang="en-US" dirty="0" err="1"/>
              <a:t>Laulima</a:t>
            </a:r>
            <a:r>
              <a:rPr lang="en-US" dirty="0"/>
              <a:t> (beginning of Modules) about installing pip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8C33C-19B8-55AB-200B-93774CF44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45" y="5086230"/>
            <a:ext cx="3943900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5CDA-9F3D-4601-8ABA-47CD8558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3C5A-9AE5-4128-854F-4A835C5BE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requests</a:t>
            </a:r>
          </a:p>
          <a:p>
            <a:r>
              <a:rPr lang="en-US" dirty="0"/>
              <a:t>response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r>
              <a:rPr lang="en-US" dirty="0"/>
              <a:t>Makes a request to the URL</a:t>
            </a:r>
          </a:p>
          <a:p>
            <a:pPr lvl="1"/>
            <a:r>
              <a:rPr lang="en-US" dirty="0"/>
              <a:t>URL is something like </a:t>
            </a:r>
            <a:r>
              <a:rPr lang="en-US" dirty="0">
                <a:hlinkClick r:id="rId2"/>
              </a:rPr>
              <a:t>https://www.google.com/careers</a:t>
            </a:r>
            <a:endParaRPr lang="en-US" dirty="0"/>
          </a:p>
          <a:p>
            <a:pPr lvl="1"/>
            <a:r>
              <a:rPr lang="en-US" dirty="0"/>
              <a:t>See demo for real-world examples</a:t>
            </a:r>
          </a:p>
          <a:p>
            <a:r>
              <a:rPr lang="en-US" dirty="0"/>
              <a:t>Uses HTTP or HTTPS</a:t>
            </a:r>
          </a:p>
          <a:p>
            <a:pPr lvl="1"/>
            <a:r>
              <a:rPr lang="en-US" dirty="0"/>
              <a:t>Hypertext transfer Protocol – a way of formatting web requests and responses</a:t>
            </a:r>
          </a:p>
          <a:p>
            <a:pPr lvl="1"/>
            <a:r>
              <a:rPr lang="en-US" dirty="0"/>
              <a:t>The S stands for secure – recommended where 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9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1B938-9C5C-4581-531A-9F5CA7B4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HTTP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1CA3-0249-F885-5FA9-33B5C3A9F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After the request, can get the status code with </a:t>
            </a:r>
            <a:r>
              <a:rPr lang="en-US" dirty="0" err="1"/>
              <a:t>response.status_code</a:t>
            </a:r>
            <a:endParaRPr lang="en-US" dirty="0"/>
          </a:p>
          <a:p>
            <a:r>
              <a:rPr lang="en-US" dirty="0"/>
              <a:t>Common codes: </a:t>
            </a:r>
          </a:p>
          <a:p>
            <a:pPr lvl="1"/>
            <a:r>
              <a:rPr lang="en-US" dirty="0"/>
              <a:t>200 – OK</a:t>
            </a:r>
          </a:p>
          <a:p>
            <a:pPr lvl="1"/>
            <a:r>
              <a:rPr lang="en-US" dirty="0"/>
              <a:t>304 Not Modified</a:t>
            </a:r>
          </a:p>
          <a:p>
            <a:pPr lvl="1"/>
            <a:r>
              <a:rPr lang="en-US" dirty="0"/>
              <a:t>400 Bad Request</a:t>
            </a:r>
          </a:p>
          <a:p>
            <a:pPr lvl="1"/>
            <a:r>
              <a:rPr lang="en-US" dirty="0"/>
              <a:t>403 Forbidden</a:t>
            </a:r>
          </a:p>
          <a:p>
            <a:pPr lvl="1"/>
            <a:r>
              <a:rPr lang="en-US" dirty="0"/>
              <a:t>404 – Page not found</a:t>
            </a:r>
          </a:p>
          <a:p>
            <a:pPr lvl="1"/>
            <a:r>
              <a:rPr lang="en-US" dirty="0"/>
              <a:t>500 – Internal Server Error</a:t>
            </a:r>
          </a:p>
          <a:p>
            <a:r>
              <a:rPr lang="en-US" b="1" dirty="0"/>
              <a:t>Very important </a:t>
            </a:r>
            <a:r>
              <a:rPr lang="en-US" dirty="0"/>
              <a:t>to always check this in case something has gone wrong!</a:t>
            </a:r>
          </a:p>
          <a:p>
            <a:pPr lvl="1"/>
            <a:r>
              <a:rPr lang="en-US" dirty="0"/>
              <a:t>Webserver could go down at any time</a:t>
            </a:r>
          </a:p>
          <a:p>
            <a:pPr lvl="1"/>
            <a:r>
              <a:rPr lang="en-US" dirty="0"/>
              <a:t>If it is a bad code, ideal to print </a:t>
            </a:r>
            <a:r>
              <a:rPr lang="en-US" dirty="0" err="1"/>
              <a:t>response.text</a:t>
            </a:r>
            <a:r>
              <a:rPr lang="en-US" dirty="0"/>
              <a:t> in case server has more information on the error</a:t>
            </a:r>
          </a:p>
        </p:txBody>
      </p:sp>
    </p:spTree>
    <p:extLst>
      <p:ext uri="{BB962C8B-B14F-4D97-AF65-F5344CB8AC3E}">
        <p14:creationId xmlns:p14="http://schemas.microsoft.com/office/powerpoint/2010/main" val="267944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02FD-A9EC-4652-9A24-0673289E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the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2EBF-D7F9-4045-8393-2D7CB7573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Response.text</a:t>
            </a:r>
            <a:r>
              <a:rPr lang="en-US" dirty="0"/>
              <a:t> gets the string text</a:t>
            </a:r>
          </a:p>
          <a:p>
            <a:r>
              <a:rPr lang="en-US" dirty="0"/>
              <a:t>Can load this with function (learned last time)</a:t>
            </a:r>
          </a:p>
          <a:p>
            <a:pPr lvl="1"/>
            <a:r>
              <a:rPr lang="en-US" dirty="0" err="1"/>
              <a:t>json.loads</a:t>
            </a:r>
            <a:r>
              <a:rPr lang="en-US" dirty="0"/>
              <a:t>()</a:t>
            </a:r>
          </a:p>
          <a:p>
            <a:r>
              <a:rPr lang="en-US" dirty="0"/>
              <a:t>Note: Many sources suggest the following instead:</a:t>
            </a:r>
          </a:p>
          <a:p>
            <a:pPr lvl="1"/>
            <a:r>
              <a:rPr lang="en-US" dirty="0" err="1"/>
              <a:t>response.json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NOT recommended in my opinion/experience – do not use</a:t>
            </a:r>
          </a:p>
          <a:p>
            <a:pPr lvl="2"/>
            <a:r>
              <a:rPr lang="en-US" dirty="0"/>
              <a:t>Why?  If it is not JSON-formatted, will crash with a nasty error without even letting us see the text!</a:t>
            </a:r>
          </a:p>
        </p:txBody>
      </p:sp>
    </p:spTree>
    <p:extLst>
      <p:ext uri="{BB962C8B-B14F-4D97-AF65-F5344CB8AC3E}">
        <p14:creationId xmlns:p14="http://schemas.microsoft.com/office/powerpoint/2010/main" val="298333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3E5C-3622-4AB2-BCF6-9ACEAF8D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1521-9D56-4353-A02D-71A4AF6CA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Most APIs require you to provide a key that you obtain from them first</a:t>
            </a:r>
          </a:p>
          <a:p>
            <a:pPr lvl="1"/>
            <a:r>
              <a:rPr lang="en-US" dirty="0"/>
              <a:t>Every request has to send this key</a:t>
            </a:r>
          </a:p>
          <a:p>
            <a:pPr lvl="1"/>
            <a:r>
              <a:rPr lang="en-US" dirty="0"/>
              <a:t>Usually requires signing up (sometimes requires credit card number!)</a:t>
            </a:r>
          </a:p>
          <a:p>
            <a:pPr lvl="1"/>
            <a:r>
              <a:rPr lang="en-US" dirty="0"/>
              <a:t>Usually have limits </a:t>
            </a:r>
            <a:r>
              <a:rPr lang="en-US"/>
              <a:t>or charges</a:t>
            </a:r>
            <a:endParaRPr lang="en-US" dirty="0"/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Server time/resources cost $</a:t>
            </a:r>
          </a:p>
          <a:p>
            <a:pPr lvl="1"/>
            <a:r>
              <a:rPr lang="en-US" dirty="0"/>
              <a:t>Getting data from websites is valuable (and becoming more so)</a:t>
            </a:r>
          </a:p>
          <a:p>
            <a:pPr lvl="1"/>
            <a:r>
              <a:rPr lang="en-US" dirty="0"/>
              <a:t>Need to prevent cyberattacks</a:t>
            </a:r>
          </a:p>
          <a:p>
            <a:pPr lvl="2"/>
            <a:r>
              <a:rPr lang="en-US" dirty="0"/>
              <a:t>Denial of Service (DoS) – keep making huge number of API requests </a:t>
            </a:r>
          </a:p>
          <a:p>
            <a:r>
              <a:rPr lang="en-US" dirty="0"/>
              <a:t>Important note on API Keys:</a:t>
            </a:r>
          </a:p>
          <a:p>
            <a:pPr lvl="1"/>
            <a:r>
              <a:rPr lang="en-US" dirty="0"/>
              <a:t>API keys should NOT be hardcoded</a:t>
            </a:r>
          </a:p>
          <a:p>
            <a:pPr lvl="1"/>
            <a:r>
              <a:rPr lang="en-US" dirty="0"/>
              <a:t>Especially not in code anyone else is going to see (on </a:t>
            </a:r>
            <a:r>
              <a:rPr lang="en-US" dirty="0" err="1"/>
              <a:t>Github</a:t>
            </a:r>
            <a:r>
              <a:rPr lang="en-US" dirty="0"/>
              <a:t> etc.)</a:t>
            </a:r>
          </a:p>
          <a:p>
            <a:pPr lvl="1"/>
            <a:r>
              <a:rPr lang="en-US" dirty="0"/>
              <a:t>This could have disastrous consequences</a:t>
            </a:r>
          </a:p>
          <a:p>
            <a:pPr lvl="1"/>
            <a:r>
              <a:rPr lang="en-US" dirty="0"/>
              <a:t>Solution: store in a separate file which is not uploaded anywhere</a:t>
            </a:r>
          </a:p>
        </p:txBody>
      </p:sp>
    </p:spTree>
    <p:extLst>
      <p:ext uri="{BB962C8B-B14F-4D97-AF65-F5344CB8AC3E}">
        <p14:creationId xmlns:p14="http://schemas.microsoft.com/office/powerpoint/2010/main" val="19694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7CDC-8400-0EBF-5514-B9716CD9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How can we send API Keys?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8F15-059A-68F2-16F3-74A163A59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requires sending information from Python to the server</a:t>
            </a:r>
          </a:p>
          <a:p>
            <a:r>
              <a:rPr lang="en-US" dirty="0"/>
              <a:t>There are three ways to do this!</a:t>
            </a:r>
          </a:p>
          <a:p>
            <a:pPr lvl="1"/>
            <a:r>
              <a:rPr lang="en-US" dirty="0"/>
              <a:t>Covered in next slides</a:t>
            </a:r>
          </a:p>
          <a:p>
            <a:r>
              <a:rPr lang="en-US" dirty="0"/>
              <a:t>Many websites may only accept 1-2 of the three ways – need to read API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18910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B787-AC75-C70B-F177-02E861C9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 of passing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0744-FAD3-7529-BD06-5295DC59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Params in URL</a:t>
            </a:r>
          </a:p>
          <a:p>
            <a:r>
              <a:rPr lang="en-US" dirty="0"/>
              <a:t>First one begin with a ?, separated by &amp;</a:t>
            </a:r>
          </a:p>
          <a:p>
            <a:pPr lvl="1"/>
            <a:r>
              <a:rPr lang="en-US" dirty="0"/>
              <a:t>Each one generally specified as key=value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>
                <a:hlinkClick r:id="rId2"/>
              </a:rPr>
              <a:t>https://api.phonevalidator.com/api/v3/phonesearch?apikey={APIKEY}&amp;phone={PHONE}&amp;type=fake,basic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What exact keys/properties do I need to specify?</a:t>
            </a:r>
          </a:p>
          <a:p>
            <a:pPr lvl="1"/>
            <a:r>
              <a:rPr lang="en-US" dirty="0"/>
              <a:t>Need to check the documentation (these are essentially arguments to the function)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Easy to build </a:t>
            </a:r>
            <a:r>
              <a:rPr lang="en-US" dirty="0" err="1"/>
              <a:t>url</a:t>
            </a:r>
            <a:r>
              <a:rPr lang="en-US" dirty="0"/>
              <a:t> string yourself</a:t>
            </a:r>
          </a:p>
          <a:p>
            <a:pPr lvl="2"/>
            <a:r>
              <a:rPr lang="en-US" dirty="0"/>
              <a:t>Although, it is recommended to let requests handle this for you</a:t>
            </a:r>
          </a:p>
          <a:p>
            <a:pPr lvl="2"/>
            <a:r>
              <a:rPr lang="en-US" dirty="0"/>
              <a:t>Parameters = {“</a:t>
            </a:r>
            <a:r>
              <a:rPr lang="en-US" dirty="0" err="1"/>
              <a:t>apikey</a:t>
            </a:r>
            <a:r>
              <a:rPr lang="en-US" dirty="0"/>
              <a:t>”: “APIKEY”, “</a:t>
            </a:r>
            <a:r>
              <a:rPr lang="en-US" dirty="0" err="1"/>
              <a:t>phone”:”PHONE</a:t>
            </a:r>
            <a:r>
              <a:rPr lang="en-US" dirty="0"/>
              <a:t>”, “</a:t>
            </a:r>
            <a:r>
              <a:rPr lang="en-US" dirty="0" err="1"/>
              <a:t>Type”:”fake</a:t>
            </a:r>
            <a:r>
              <a:rPr lang="en-US" dirty="0"/>
              <a:t>, basic”}</a:t>
            </a:r>
          </a:p>
          <a:p>
            <a:pPr lvl="2"/>
            <a:r>
              <a:rPr lang="en-US" dirty="0"/>
              <a:t>Then add params=parameters to API call</a:t>
            </a:r>
          </a:p>
          <a:p>
            <a:r>
              <a:rPr lang="en-US" dirty="0"/>
              <a:t>Drawbacks:</a:t>
            </a:r>
          </a:p>
          <a:p>
            <a:pPr lvl="1"/>
            <a:r>
              <a:rPr lang="en-US" dirty="0"/>
              <a:t>Difficult/annoying  to send large amounts of information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6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813C9-916B-2C62-C79B-0F2EBC21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 of passing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D691-654D-AC08-401E-B0ECB061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What if we need to send longer information to the server?</a:t>
            </a:r>
          </a:p>
          <a:p>
            <a:r>
              <a:rPr lang="en-US" dirty="0"/>
              <a:t>POST</a:t>
            </a:r>
          </a:p>
          <a:p>
            <a:pPr lvl="1"/>
            <a:r>
              <a:rPr lang="en-US" dirty="0" err="1"/>
              <a:t>Requests.post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, data=variable)</a:t>
            </a:r>
          </a:p>
          <a:p>
            <a:pPr lvl="2"/>
            <a:r>
              <a:rPr lang="en-US" dirty="0"/>
              <a:t>Form-encodes variable (No JSON)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 err="1"/>
              <a:t>Requests.post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, json=variable)</a:t>
            </a:r>
          </a:p>
          <a:p>
            <a:pPr lvl="2"/>
            <a:r>
              <a:rPr lang="en-US" dirty="0"/>
              <a:t>JSON-encodes variable</a:t>
            </a:r>
          </a:p>
          <a:p>
            <a:pPr lvl="2"/>
            <a:r>
              <a:rPr lang="en-US" dirty="0"/>
              <a:t>Same as data=</a:t>
            </a:r>
            <a:r>
              <a:rPr lang="en-US" dirty="0" err="1"/>
              <a:t>json.dumps</a:t>
            </a:r>
            <a:r>
              <a:rPr lang="en-US" dirty="0"/>
              <a:t>(variable) and then setting a header (see next slide)</a:t>
            </a:r>
          </a:p>
          <a:p>
            <a:pPr lvl="1"/>
            <a:r>
              <a:rPr lang="en-US" dirty="0"/>
              <a:t>Which one you use depends on documentation</a:t>
            </a:r>
          </a:p>
          <a:p>
            <a:r>
              <a:rPr lang="en-US" dirty="0"/>
              <a:t>Similar to params variable should generally be a </a:t>
            </a:r>
            <a:r>
              <a:rPr lang="en-US" dirty="0" err="1"/>
              <a:t>dict</a:t>
            </a:r>
            <a:r>
              <a:rPr lang="en-US" dirty="0"/>
              <a:t> mapping name to value</a:t>
            </a:r>
          </a:p>
          <a:p>
            <a:pPr lvl="1"/>
            <a:r>
              <a:rPr lang="en-US" dirty="0"/>
              <a:t>Check documentation for key names</a:t>
            </a:r>
          </a:p>
          <a:p>
            <a:r>
              <a:rPr lang="en-US" dirty="0"/>
              <a:t>REST/RESTful API generally refers to an API that uses HTTP GTE, POST, </a:t>
            </a:r>
            <a:r>
              <a:rPr lang="en-US" dirty="0" err="1"/>
              <a:t>etc</a:t>
            </a:r>
            <a:r>
              <a:rPr lang="en-US" dirty="0"/>
              <a:t> to access resources via URLs in a way that satisfies certain requirements</a:t>
            </a:r>
          </a:p>
          <a:p>
            <a:pPr lvl="1"/>
            <a:r>
              <a:rPr lang="en-US" dirty="0"/>
              <a:t>Probably most important is that a RESTful API should generally be stateless</a:t>
            </a:r>
          </a:p>
          <a:p>
            <a:pPr lvl="1"/>
            <a:r>
              <a:rPr lang="en-US" dirty="0"/>
              <a:t>Re-doing the same API request should return the same result</a:t>
            </a:r>
          </a:p>
          <a:p>
            <a:pPr lvl="2"/>
            <a:r>
              <a:rPr lang="en-US" dirty="0"/>
              <a:t>Example: Requesting “next page” not good practice compared to “requesting page 6”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9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7A07-C7F0-1DA3-1D38-47F7322C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3 of passing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65655-7E14-1839-FA95-837F65AD9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Headers!</a:t>
            </a:r>
          </a:p>
          <a:p>
            <a:r>
              <a:rPr lang="en-US" dirty="0"/>
              <a:t>Headers get sent with each request to the server</a:t>
            </a:r>
          </a:p>
          <a:p>
            <a:pPr lvl="1"/>
            <a:r>
              <a:rPr lang="en-US" dirty="0"/>
              <a:t>Generally contain initial information, such as what format the response is in, etc.</a:t>
            </a:r>
          </a:p>
          <a:p>
            <a:r>
              <a:rPr lang="en-US" dirty="0"/>
              <a:t>Sometimes needs API key or other information passed as a header</a:t>
            </a:r>
          </a:p>
          <a:p>
            <a:r>
              <a:rPr lang="en-US" dirty="0"/>
              <a:t>Similar way to specify </a:t>
            </a:r>
          </a:p>
          <a:p>
            <a:r>
              <a:rPr lang="en-US" dirty="0"/>
              <a:t>head =  {"Content-Type": "application/json"}</a:t>
            </a:r>
          </a:p>
          <a:p>
            <a:r>
              <a:rPr lang="en-US" dirty="0" err="1"/>
              <a:t>requests.post</a:t>
            </a:r>
            <a:r>
              <a:rPr lang="en-US"/>
              <a:t>(…, headers=</a:t>
            </a:r>
            <a:r>
              <a:rPr lang="en-US" dirty="0"/>
              <a:t>head)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E95F-0388-9D03-9FCC-6A85BBDB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APIs for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D115-7E08-1AAE-6183-32CF4846C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APIs have been around for decades…</a:t>
            </a:r>
          </a:p>
          <a:p>
            <a:pPr lvl="1"/>
            <a:r>
              <a:rPr lang="en-US" dirty="0"/>
              <a:t>Idea started in ~2000 and has only gained steam since</a:t>
            </a:r>
          </a:p>
          <a:p>
            <a:pPr lvl="1"/>
            <a:r>
              <a:rPr lang="en-US" dirty="0"/>
              <a:t>APIs are a great way to access web datasets, especially ones which update frequently</a:t>
            </a:r>
          </a:p>
          <a:p>
            <a:r>
              <a:rPr lang="en-US" dirty="0"/>
              <a:t>Why am I just discussing APIs this semester?</a:t>
            </a:r>
          </a:p>
          <a:p>
            <a:pPr lvl="1"/>
            <a:r>
              <a:rPr lang="en-US" dirty="0"/>
              <a:t>AI, especially Large Language Models (LLMs)</a:t>
            </a:r>
          </a:p>
          <a:p>
            <a:pPr lvl="1"/>
            <a:r>
              <a:rPr lang="en-US" dirty="0"/>
              <a:t>Many of the best models too large to run on end machine </a:t>
            </a:r>
          </a:p>
          <a:p>
            <a:pPr lvl="1"/>
            <a:r>
              <a:rPr lang="en-US" dirty="0"/>
              <a:t>Need to be run “in the cloud”</a:t>
            </a:r>
          </a:p>
          <a:p>
            <a:pPr lvl="1"/>
            <a:r>
              <a:rPr lang="en-US" dirty="0"/>
              <a:t>Require APIs to integrate into your code</a:t>
            </a:r>
          </a:p>
          <a:p>
            <a:pPr lvl="2"/>
            <a:r>
              <a:rPr lang="en-US" dirty="0"/>
              <a:t>See the lab!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6184-811F-4411-B5C2-E40F0F4D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85DD-D403-40C5-93D3-CAEC232BC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APIs</a:t>
            </a:r>
          </a:p>
        </p:txBody>
      </p:sp>
    </p:spTree>
    <p:extLst>
      <p:ext uri="{BB962C8B-B14F-4D97-AF65-F5344CB8AC3E}">
        <p14:creationId xmlns:p14="http://schemas.microsoft.com/office/powerpoint/2010/main" val="1882554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4860</TotalTime>
  <Words>1155</Words>
  <Application>Microsoft Office PowerPoint</Application>
  <PresentationFormat>Widescreen</PresentationFormat>
  <Paragraphs>150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DATA/CS 172: Python for Data Analysis</vt:lpstr>
      <vt:lpstr>Announcements </vt:lpstr>
      <vt:lpstr>Last time: JSON</vt:lpstr>
      <vt:lpstr>Where does JSON data come from?</vt:lpstr>
      <vt:lpstr>Communication over the internet</vt:lpstr>
      <vt:lpstr>Installing via pip</vt:lpstr>
      <vt:lpstr>Requests module</vt:lpstr>
      <vt:lpstr>Common HTTP Status codes</vt:lpstr>
      <vt:lpstr>Parsing the response</vt:lpstr>
      <vt:lpstr>API Keys</vt:lpstr>
      <vt:lpstr>Q: How can we send API Keys?</vt:lpstr>
      <vt:lpstr>Method 1 of passing information</vt:lpstr>
      <vt:lpstr>Method 2 of passing information</vt:lpstr>
      <vt:lpstr>Method 3 of passing information</vt:lpstr>
      <vt:lpstr>APIs for AI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142</cp:revision>
  <dcterms:created xsi:type="dcterms:W3CDTF">2018-09-05T09:38:38Z</dcterms:created>
  <dcterms:modified xsi:type="dcterms:W3CDTF">2024-10-28T21:37:37Z</dcterms:modified>
</cp:coreProperties>
</file>