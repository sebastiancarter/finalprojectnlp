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96" r:id="rId5"/>
    <p:sldId id="288" r:id="rId6"/>
    <p:sldId id="289" r:id="rId7"/>
    <p:sldId id="292" r:id="rId8"/>
    <p:sldId id="291" r:id="rId9"/>
    <p:sldId id="293" r:id="rId10"/>
    <p:sldId id="295" r:id="rId11"/>
    <p:sldId id="297" r:id="rId12"/>
    <p:sldId id="2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5204" autoAdjust="0"/>
  </p:normalViewPr>
  <p:slideViewPr>
    <p:cSldViewPr snapToGrid="0">
      <p:cViewPr varScale="1">
        <p:scale>
          <a:sx n="95" d="100"/>
          <a:sy n="95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EF4E-EB93-44C3-A141-FC4330C6D7B6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E85AB-DFED-4B8C-AE02-49FF73A58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5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CE987-FBFA-40E2-9FBA-1C59C5AC0221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9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N-D arrays and images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11/4/2024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5082008" y="4159045"/>
            <a:ext cx="2172288" cy="22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Stay on top of labs</a:t>
            </a:r>
          </a:p>
          <a:p>
            <a:r>
              <a:rPr lang="en-US" dirty="0"/>
              <a:t>Should be working on Program 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Multi-dimensional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1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7503-FD46-4409-9596-BABE1C38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 </a:t>
            </a:r>
            <a:r>
              <a:rPr lang="en-US" dirty="0" err="1"/>
              <a:t>numpy</a:t>
            </a:r>
            <a:r>
              <a:rPr lang="en-US" dirty="0"/>
              <a:t>,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40FFF-E4CC-4008-8350-B97F63687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Arr.shape</a:t>
            </a:r>
            <a:endParaRPr lang="en-US" dirty="0"/>
          </a:p>
          <a:p>
            <a:r>
              <a:rPr lang="en-US" dirty="0"/>
              <a:t>Indexing with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firstIndex</a:t>
            </a:r>
            <a:r>
              <a:rPr lang="en-US" dirty="0"/>
              <a:t>, </a:t>
            </a:r>
            <a:r>
              <a:rPr lang="en-US" dirty="0" err="1"/>
              <a:t>secondIndex</a:t>
            </a:r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87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C039-8C16-4F07-8A05-320573B8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60272-D519-49FE-B9A9-1039451AC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100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still slice on multi-dimensional arrays!</a:t>
            </a:r>
            <a:br>
              <a:rPr lang="en-US" dirty="0"/>
            </a:br>
            <a:r>
              <a:rPr lang="en-US" dirty="0"/>
              <a:t>Just get to pick which dimension you slice on!</a:t>
            </a:r>
          </a:p>
          <a:p>
            <a:endParaRPr lang="en-US" dirty="0"/>
          </a:p>
          <a:p>
            <a:r>
              <a:rPr lang="en-US" dirty="0"/>
              <a:t>Arr2d[:,1] gets everything in the second column</a:t>
            </a:r>
          </a:p>
          <a:p>
            <a:r>
              <a:rPr lang="en-US" dirty="0"/>
              <a:t>Arr2d[:3,:3] gets the upper left corner 3x3 </a:t>
            </a:r>
          </a:p>
          <a:p>
            <a:r>
              <a:rPr lang="en-US" dirty="0"/>
              <a:t>Arr2d[:] is shorthand for arr2d[:,:]</a:t>
            </a:r>
          </a:p>
          <a:p>
            <a:pPr lvl="1"/>
            <a:r>
              <a:rPr lang="en-US" dirty="0"/>
              <a:t>Good style to put in : for the dimensions you want everything 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56060" y="2412460"/>
            <a:ext cx="3482502" cy="2577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56060" y="2412460"/>
            <a:ext cx="1245140" cy="1099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793804" y="2062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2698" y="27774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9970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B755-1F53-4D0C-80B5-546E2E13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F45-D4B9-4C64-9922-87DB77DFD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71945" cy="4351338"/>
          </a:xfrm>
        </p:spPr>
        <p:txBody>
          <a:bodyPr/>
          <a:lstStyle/>
          <a:p>
            <a:r>
              <a:rPr lang="en-US" dirty="0"/>
              <a:t>As with 1D arrays, operations apply to all elements </a:t>
            </a:r>
          </a:p>
          <a:p>
            <a:pPr lvl="1"/>
            <a:r>
              <a:rPr lang="en-US" dirty="0"/>
              <a:t>arr2d *2 doubles all elements</a:t>
            </a:r>
          </a:p>
          <a:p>
            <a:r>
              <a:rPr lang="en-US" dirty="0"/>
              <a:t>As with 1D arrays, operations across arrays work element-wise</a:t>
            </a:r>
          </a:p>
          <a:p>
            <a:pPr lvl="1"/>
            <a:r>
              <a:rPr lang="en-US" dirty="0"/>
              <a:t>Assuming they are the same size, arr1 * arr2 does arr1[0,0] * arr2[0,0], arr1[0,1] * arr2[0,1], etc.</a:t>
            </a:r>
          </a:p>
          <a:p>
            <a:r>
              <a:rPr lang="en-US" dirty="0"/>
              <a:t>As with 1D arrays, can apply operations to a slice and have it apply to all elements of that slice</a:t>
            </a:r>
          </a:p>
        </p:txBody>
      </p:sp>
      <p:pic>
        <p:nvPicPr>
          <p:cNvPr id="4" name="Picture 3" descr="File:Number natural numbers &lt;strong&gt;1&lt;/strong&gt;-&lt;strong&gt;1&lt;/strong&gt; correspondence.JP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940" y="349993"/>
            <a:ext cx="4022084" cy="268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4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1578-3D4C-4B56-9E53-BA81CAED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filtering/masking/indexing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D4C44-ED04-46AF-AA74-DBE556CC9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5560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Sometimes we want to apply an operation only to certain elements</a:t>
            </a:r>
          </a:p>
          <a:p>
            <a:pPr lvl="1"/>
            <a:r>
              <a:rPr lang="en-US" dirty="0"/>
              <a:t>Slices can help us apply to certain indexes, but not to certain values…</a:t>
            </a:r>
          </a:p>
          <a:p>
            <a:r>
              <a:rPr lang="en-US" dirty="0"/>
              <a:t>Can create a Boolean filter/mask</a:t>
            </a:r>
          </a:p>
          <a:p>
            <a:r>
              <a:rPr lang="en-US" dirty="0"/>
              <a:t> </a:t>
            </a:r>
            <a:r>
              <a:rPr lang="en-US" dirty="0" err="1"/>
              <a:t>dogfilter</a:t>
            </a:r>
            <a:r>
              <a:rPr lang="en-US" dirty="0"/>
              <a:t> = (</a:t>
            </a:r>
            <a:r>
              <a:rPr lang="en-US" dirty="0" err="1"/>
              <a:t>arr</a:t>
            </a:r>
            <a:r>
              <a:rPr lang="en-US" dirty="0"/>
              <a:t> == ‘dog’)</a:t>
            </a:r>
          </a:p>
          <a:p>
            <a:pPr lvl="1"/>
            <a:r>
              <a:rPr lang="en-US" dirty="0"/>
              <a:t>Array of </a:t>
            </a:r>
            <a:r>
              <a:rPr lang="en-US" dirty="0" err="1"/>
              <a:t>booleans</a:t>
            </a:r>
            <a:endParaRPr lang="en-US" dirty="0"/>
          </a:p>
          <a:p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dogfilter</a:t>
            </a:r>
            <a:r>
              <a:rPr lang="en-US" dirty="0"/>
              <a:t>] = ‘cat’ </a:t>
            </a:r>
            <a:r>
              <a:rPr lang="en-US" dirty="0">
                <a:sym typeface="Wingdings" panose="05000000000000000000" pitchFamily="2" charset="2"/>
              </a:rPr>
              <a:t> changes all dogs to cats</a:t>
            </a:r>
          </a:p>
          <a:p>
            <a:r>
              <a:rPr lang="en-US" dirty="0">
                <a:sym typeface="Wingdings" panose="05000000000000000000" pitchFamily="2" charset="2"/>
              </a:rPr>
              <a:t>Can use &lt;. &lt;=,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r>
              <a:rPr lang="en-US" dirty="0">
                <a:sym typeface="Wingdings" panose="05000000000000000000" pitchFamily="2" charset="2"/>
              </a:rPr>
              <a:t>Want to combine with logic?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Careful – and &amp; or don’t work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Need to use bitwise symbols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&amp; = and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| = or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~ = not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Example:  ((</a:t>
            </a:r>
            <a:r>
              <a:rPr lang="en-US" dirty="0" err="1">
                <a:sym typeface="Wingdings" panose="05000000000000000000" pitchFamily="2" charset="2"/>
              </a:rPr>
              <a:t>arr</a:t>
            </a:r>
            <a:r>
              <a:rPr lang="en-US" dirty="0">
                <a:sym typeface="Wingdings" panose="05000000000000000000" pitchFamily="2" charset="2"/>
              </a:rPr>
              <a:t> &gt; 6) &amp; (</a:t>
            </a:r>
            <a:r>
              <a:rPr lang="en-US" dirty="0" err="1">
                <a:sym typeface="Wingdings" panose="05000000000000000000" pitchFamily="2" charset="2"/>
              </a:rPr>
              <a:t>arr</a:t>
            </a:r>
            <a:r>
              <a:rPr lang="en-US" dirty="0">
                <a:sym typeface="Wingdings" panose="05000000000000000000" pitchFamily="2" charset="2"/>
              </a:rPr>
              <a:t> &lt; 10))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Note: need parentheses!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Privacy, Masks and Religion | Center for Internet and Societ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655" y="2227634"/>
            <a:ext cx="2833631" cy="417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5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B283-9219-4DEB-A662-3EEDF2EC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99847-A30D-4E2A-AE7C-9697EADE4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735" y="1592160"/>
            <a:ext cx="7478949" cy="50518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Frequently a library will take one shape (e.g. 1D array) when you have another shape (e.g. 3D array)</a:t>
            </a:r>
          </a:p>
          <a:p>
            <a:endParaRPr lang="en-US" dirty="0"/>
          </a:p>
          <a:p>
            <a:r>
              <a:rPr lang="en-US" dirty="0" err="1"/>
              <a:t>arr.reshape</a:t>
            </a:r>
            <a:r>
              <a:rPr lang="en-US" dirty="0"/>
              <a:t>((</a:t>
            </a:r>
            <a:r>
              <a:rPr lang="en-US" dirty="0" err="1"/>
              <a:t>newRows,newCols</a:t>
            </a:r>
            <a:r>
              <a:rPr lang="en-US" dirty="0"/>
              <a:t>,…))</a:t>
            </a:r>
          </a:p>
          <a:p>
            <a:pPr lvl="1"/>
            <a:r>
              <a:rPr lang="en-US" dirty="0"/>
              <a:t>Defaults to row-major order: walks through first row, then second row, etc.</a:t>
            </a:r>
          </a:p>
          <a:p>
            <a:pPr lvl="1"/>
            <a:endParaRPr lang="en-US" dirty="0"/>
          </a:p>
          <a:p>
            <a:r>
              <a:rPr lang="en-US" dirty="0"/>
              <a:t>Does not make a copy</a:t>
            </a:r>
          </a:p>
          <a:p>
            <a:r>
              <a:rPr lang="en-US" dirty="0"/>
              <a:t>Shorthand for flattening down to 1D is called </a:t>
            </a:r>
            <a:r>
              <a:rPr lang="en-US" dirty="0" err="1"/>
              <a:t>arr.ravel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arr.flatten</a:t>
            </a:r>
            <a:r>
              <a:rPr lang="en-US" dirty="0"/>
              <a:t>() also exists but it makes a copy (want to avoid)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The Energy Problem behind Trump’s Election | Our Finite Worl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690" y="2184591"/>
            <a:ext cx="3763834" cy="250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2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8F30-4ECD-46C8-9354-C8F99346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562" y="0"/>
            <a:ext cx="10515600" cy="1325563"/>
          </a:xfrm>
        </p:spPr>
        <p:txBody>
          <a:bodyPr/>
          <a:lstStyle/>
          <a:p>
            <a:r>
              <a:rPr lang="en-US" dirty="0"/>
              <a:t>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2731-C5F7-4BB0-B231-5A922B161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60" y="1254868"/>
            <a:ext cx="5097293" cy="5048655"/>
          </a:xfrm>
        </p:spPr>
        <p:txBody>
          <a:bodyPr>
            <a:normAutofit/>
          </a:bodyPr>
          <a:lstStyle/>
          <a:p>
            <a:r>
              <a:rPr lang="en-US" dirty="0"/>
              <a:t>So far we have talked about text data, CSV data, JSON data</a:t>
            </a:r>
          </a:p>
          <a:p>
            <a:pPr lvl="1"/>
            <a:r>
              <a:rPr lang="en-US" dirty="0"/>
              <a:t>What about image data?</a:t>
            </a:r>
          </a:p>
          <a:p>
            <a:r>
              <a:rPr lang="en-US" dirty="0"/>
              <a:t>Image data is large and has multiple dimensions</a:t>
            </a:r>
          </a:p>
          <a:p>
            <a:r>
              <a:rPr lang="en-US" dirty="0"/>
              <a:t>Therefore, in Python, we almost always work with images as multi-dimensional </a:t>
            </a:r>
            <a:r>
              <a:rPr lang="en-US" dirty="0" err="1"/>
              <a:t>numpy</a:t>
            </a:r>
            <a:r>
              <a:rPr lang="en-US" dirty="0"/>
              <a:t> arrays!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 descr="Photographic mosaic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855" y="290771"/>
            <a:ext cx="9831422" cy="737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4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8F30-4ECD-46C8-9354-C8F99346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562" y="0"/>
            <a:ext cx="10515600" cy="1325563"/>
          </a:xfrm>
        </p:spPr>
        <p:txBody>
          <a:bodyPr/>
          <a:lstStyle/>
          <a:p>
            <a:r>
              <a:rPr lang="en-US" dirty="0"/>
              <a:t>Loading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2731-C5F7-4BB0-B231-5A922B161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60" y="1254868"/>
            <a:ext cx="7412476" cy="49220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Wait… why would we model an image as a 3D array?</a:t>
            </a:r>
          </a:p>
          <a:p>
            <a:r>
              <a:rPr lang="en-US" b="1" dirty="0"/>
              <a:t>To read: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matplotlib.image</a:t>
            </a:r>
            <a:r>
              <a:rPr lang="en-US" dirty="0"/>
              <a:t> as </a:t>
            </a:r>
            <a:r>
              <a:rPr lang="en-US" dirty="0" err="1"/>
              <a:t>mpimg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mpimg.imread</a:t>
            </a:r>
            <a:r>
              <a:rPr lang="en-US" dirty="0"/>
              <a:t>("cat2.png")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To show: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pic>
        <p:nvPicPr>
          <p:cNvPr id="4" name="Picture 3" descr="&lt;strong&gt;Cat&lt;/strong&gt; senses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076" y="1254868"/>
            <a:ext cx="3135086" cy="208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6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7F6B-8071-4D5A-92DF-5587DF1E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shape?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C00CE-EC67-4B7F-B871-322F4FBA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682071" cy="4081689"/>
          </a:xfrm>
        </p:spPr>
        <p:txBody>
          <a:bodyPr/>
          <a:lstStyle/>
          <a:p>
            <a:r>
              <a:rPr lang="en-US" dirty="0"/>
              <a:t>Why 3d?</a:t>
            </a:r>
          </a:p>
          <a:p>
            <a:pPr lvl="1"/>
            <a:r>
              <a:rPr lang="en-US" dirty="0"/>
              <a:t>Red – either between 0-255 (as int) or 0-1 (as float)</a:t>
            </a:r>
          </a:p>
          <a:p>
            <a:pPr lvl="1"/>
            <a:r>
              <a:rPr lang="en-US" dirty="0"/>
              <a:t>Green – either between 0-255 or 0-1</a:t>
            </a:r>
          </a:p>
          <a:p>
            <a:pPr lvl="1"/>
            <a:r>
              <a:rPr lang="en-US" dirty="0"/>
              <a:t>Blue – either between 0-255 or 0-1</a:t>
            </a:r>
          </a:p>
          <a:p>
            <a:pPr lvl="1"/>
            <a:r>
              <a:rPr lang="en-US" dirty="0"/>
              <a:t>Should be in this order</a:t>
            </a:r>
          </a:p>
          <a:p>
            <a:r>
              <a:rPr lang="en-US" dirty="0"/>
              <a:t>Darken an image – multiply by a small value</a:t>
            </a:r>
          </a:p>
          <a:p>
            <a:r>
              <a:rPr lang="en-US" dirty="0"/>
              <a:t>Need to make sure it doesn’t go out of range – can be a problem with lightening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 descr="Additive color - Wikipedia">
            <a:extLst>
              <a:ext uri="{FF2B5EF4-FFF2-40B4-BE49-F238E27FC236}">
                <a16:creationId xmlns:a16="http://schemas.microsoft.com/office/drawing/2014/main" id="{1F427908-4D79-4E3A-9AE2-49D4EB2D84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271" y="3647821"/>
            <a:ext cx="3026460" cy="302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0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70B6-1CFB-48EB-BC74-8140EDCF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1A6F-187E-4ED1-A0A1-544A7FAB7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using </a:t>
            </a:r>
            <a:r>
              <a:rPr lang="en-US" dirty="0" err="1"/>
              <a:t>numpy</a:t>
            </a:r>
            <a:r>
              <a:rPr lang="en-US" dirty="0"/>
              <a:t> arrays to manipulate image!</a:t>
            </a:r>
          </a:p>
        </p:txBody>
      </p:sp>
    </p:spTree>
    <p:extLst>
      <p:ext uri="{BB962C8B-B14F-4D97-AF65-F5344CB8AC3E}">
        <p14:creationId xmlns:p14="http://schemas.microsoft.com/office/powerpoint/2010/main" val="290561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9869</TotalTime>
  <Words>562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Announcements</vt:lpstr>
      <vt:lpstr>Today</vt:lpstr>
      <vt:lpstr>Multi-d numpy, so far</vt:lpstr>
      <vt:lpstr>Slicing</vt:lpstr>
      <vt:lpstr>Operations</vt:lpstr>
      <vt:lpstr>Boolean filtering/masking/indexing</vt:lpstr>
      <vt:lpstr>Reshaping</vt:lpstr>
      <vt:lpstr>Images</vt:lpstr>
      <vt:lpstr>Loading images</vt:lpstr>
      <vt:lpstr>What is the shape?</vt:lpstr>
      <vt:lpstr>Lab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CS150: Intro to computer Science I</dc:title>
  <dc:creator>Travis Mandel</dc:creator>
  <cp:lastModifiedBy>Travis Mandel</cp:lastModifiedBy>
  <cp:revision>254</cp:revision>
  <dcterms:created xsi:type="dcterms:W3CDTF">2017-08-18T20:15:43Z</dcterms:created>
  <dcterms:modified xsi:type="dcterms:W3CDTF">2024-11-04T21:04:25Z</dcterms:modified>
</cp:coreProperties>
</file>