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2" r:id="rId3"/>
    <p:sldId id="262" r:id="rId4"/>
    <p:sldId id="296" r:id="rId5"/>
    <p:sldId id="294" r:id="rId6"/>
    <p:sldId id="295" r:id="rId7"/>
    <p:sldId id="293" r:id="rId8"/>
    <p:sldId id="292" r:id="rId9"/>
    <p:sldId id="297" r:id="rId10"/>
    <p:sldId id="298" r:id="rId11"/>
    <p:sldId id="299" r:id="rId12"/>
    <p:sldId id="300" r:id="rId13"/>
    <p:sldId id="301" r:id="rId14"/>
    <p:sldId id="303" r:id="rId15"/>
    <p:sldId id="304" r:id="rId16"/>
    <p:sldId id="29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8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8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2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8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1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3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6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7CB5-4FD5-47DA-9BFE-6C54A66C2B79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asterstockphotos.com/free_images/symbols/slides/birds_nest.htm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American_Robin_Nest_with_Eggs.jpg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tionary.org/wiki/Russian_doll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vermind.it/tutorial-come-realizzare-una-tabella-con-photoshop-parte-2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ndermondo.com/meteor-crater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rt_Nouveau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mandelman.ml-implode.com/2013/07/why-i-havent-written-about-the-declarations-by-ex-bank-of-america-employees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miracleshappen13.blogspot.com/2012/04/magic-that-is-serendipity-haiku.html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Pet_Gravestones_-_Marble_Hill.JPG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Nested  Loops and Style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9/11/2024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7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3 due today</a:t>
            </a:r>
          </a:p>
          <a:p>
            <a:r>
              <a:rPr lang="en-US" dirty="0"/>
              <a:t>Lab 4 due Friday</a:t>
            </a:r>
          </a:p>
          <a:p>
            <a:r>
              <a:rPr lang="en-US" dirty="0"/>
              <a:t>Friday – class will not meet</a:t>
            </a:r>
          </a:p>
          <a:p>
            <a:pPr lvl="1"/>
            <a:r>
              <a:rPr lang="en-US" dirty="0"/>
              <a:t>As stated in the syllabus, I will be off-island Friday (</a:t>
            </a:r>
            <a:r>
              <a:rPr lang="en-US" dirty="0" err="1"/>
              <a:t>EPSCoR</a:t>
            </a:r>
            <a:r>
              <a:rPr lang="en-US" dirty="0"/>
              <a:t> conference)</a:t>
            </a:r>
          </a:p>
          <a:p>
            <a:pPr lvl="1"/>
            <a:r>
              <a:rPr lang="en-US" dirty="0"/>
              <a:t>I will record a lecture/demo and post to </a:t>
            </a:r>
            <a:r>
              <a:rPr lang="en-US" dirty="0" err="1"/>
              <a:t>Laulima</a:t>
            </a:r>
            <a:r>
              <a:rPr lang="en-US" dirty="0"/>
              <a:t> (Loops wrap-up)</a:t>
            </a:r>
          </a:p>
          <a:p>
            <a:pPr lvl="1"/>
            <a:r>
              <a:rPr lang="en-US" dirty="0"/>
              <a:t>There will be no lab out on Friday</a:t>
            </a:r>
          </a:p>
        </p:txBody>
      </p:sp>
    </p:spTree>
    <p:extLst>
      <p:ext uri="{BB962C8B-B14F-4D97-AF65-F5344CB8AC3E}">
        <p14:creationId xmlns:p14="http://schemas.microsoft.com/office/powerpoint/2010/main" val="194965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Nesting loops and if statements</a:t>
            </a:r>
          </a:p>
          <a:p>
            <a:r>
              <a:rPr lang="en-US" dirty="0"/>
              <a:t>Some style notes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64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statements within if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put one if statement inside another</a:t>
            </a:r>
          </a:p>
          <a:p>
            <a:pPr lvl="1"/>
            <a:r>
              <a:rPr lang="en-US" dirty="0"/>
              <a:t>Called </a:t>
            </a:r>
            <a:r>
              <a:rPr lang="en-US" b="1" dirty="0"/>
              <a:t>nesting</a:t>
            </a:r>
          </a:p>
          <a:p>
            <a:pPr lvl="1"/>
            <a:r>
              <a:rPr lang="en-US" dirty="0"/>
              <a:t>Make sure to indent!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if x &gt; 0:</a:t>
            </a:r>
          </a:p>
          <a:p>
            <a:pPr marL="457200" lvl="1" indent="0">
              <a:buNone/>
            </a:pPr>
            <a:r>
              <a:rPr lang="en-US" b="1" dirty="0"/>
              <a:t>if y &gt; 0:</a:t>
            </a:r>
          </a:p>
          <a:p>
            <a:pPr marL="914400" lvl="2" indent="0">
              <a:buNone/>
            </a:pPr>
            <a:r>
              <a:rPr lang="en-US" b="1" dirty="0"/>
              <a:t>print(“x and y both positive“)</a:t>
            </a:r>
          </a:p>
          <a:p>
            <a:pPr marL="914400" lvl="2" indent="0">
              <a:buNone/>
            </a:pPr>
            <a:r>
              <a:rPr lang="en-US" b="1" dirty="0"/>
              <a:t>#inside both</a:t>
            </a:r>
          </a:p>
          <a:p>
            <a:pPr marL="457200" lvl="1" indent="0">
              <a:buNone/>
            </a:pPr>
            <a:r>
              <a:rPr lang="en-US" b="1" dirty="0"/>
              <a:t>#outside one</a:t>
            </a:r>
          </a:p>
          <a:p>
            <a:pPr marL="0" indent="0">
              <a:buNone/>
            </a:pPr>
            <a:r>
              <a:rPr lang="en-US" b="1" dirty="0"/>
              <a:t>#outside both</a:t>
            </a:r>
          </a:p>
          <a:p>
            <a:endParaRPr lang="en-US" dirty="0"/>
          </a:p>
        </p:txBody>
      </p:sp>
      <p:pic>
        <p:nvPicPr>
          <p:cNvPr id="9" name="Picture 8" descr="A close up of a nest&#10;&#10;Description automatically generated">
            <a:extLst>
              <a:ext uri="{FF2B5EF4-FFF2-40B4-BE49-F238E27FC236}">
                <a16:creationId xmlns:a16="http://schemas.microsoft.com/office/drawing/2014/main" id="{338BC18C-F2C8-4A22-AE47-073874E6E0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99855" y="2969213"/>
            <a:ext cx="4603302" cy="340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nesting, careful with indentation!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29322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x &gt; 0:</a:t>
            </a:r>
          </a:p>
          <a:p>
            <a:pPr marL="457200" lvl="1" indent="0">
              <a:buNone/>
            </a:pPr>
            <a:r>
              <a:rPr lang="en-US" dirty="0"/>
              <a:t>if y &gt; 0:</a:t>
            </a:r>
          </a:p>
          <a:p>
            <a:pPr marL="914400" lvl="2" indent="0">
              <a:buNone/>
            </a:pPr>
            <a:r>
              <a:rPr lang="en-US" dirty="0"/>
              <a:t>print(“x and y both positive“)</a:t>
            </a:r>
          </a:p>
          <a:p>
            <a:pPr marL="457200" lvl="1" indent="0">
              <a:buNone/>
            </a:pPr>
            <a:r>
              <a:rPr lang="en-US" dirty="0"/>
              <a:t>else:</a:t>
            </a:r>
          </a:p>
          <a:p>
            <a:pPr marL="914400" lvl="2" indent="0">
              <a:buNone/>
            </a:pPr>
            <a:r>
              <a:rPr lang="en-US" dirty="0"/>
              <a:t>print(“negative”)</a:t>
            </a:r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944985" y="1825625"/>
            <a:ext cx="32932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x &gt; 0:</a:t>
            </a:r>
          </a:p>
          <a:p>
            <a:pPr marL="457200" lvl="1" indent="0">
              <a:buNone/>
            </a:pPr>
            <a:r>
              <a:rPr lang="en-US" dirty="0"/>
              <a:t>if y &gt; 0:</a:t>
            </a:r>
          </a:p>
          <a:p>
            <a:pPr marL="914400" lvl="2" indent="0">
              <a:buNone/>
            </a:pPr>
            <a:r>
              <a:rPr lang="en-US" dirty="0"/>
              <a:t>print(“x and y both positive“)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457200" lvl="1" indent="0">
              <a:buNone/>
            </a:pPr>
            <a:r>
              <a:rPr lang="en-US" dirty="0"/>
              <a:t>print(“negative”)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80160" y="4971011"/>
            <a:ext cx="76393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What’s the difference?</a:t>
            </a:r>
          </a:p>
          <a:p>
            <a:r>
              <a:rPr lang="en-US" sz="3200" b="1" dirty="0"/>
              <a:t>How will this affect how the code runs?</a:t>
            </a:r>
          </a:p>
        </p:txBody>
      </p:sp>
    </p:spTree>
    <p:extLst>
      <p:ext uri="{BB962C8B-B14F-4D97-AF65-F5344CB8AC3E}">
        <p14:creationId xmlns:p14="http://schemas.microsoft.com/office/powerpoint/2010/main" val="254115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statements within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nest an if inside a loop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for i in range(10):</a:t>
            </a:r>
          </a:p>
          <a:p>
            <a:pPr marL="0" indent="0">
              <a:buNone/>
            </a:pPr>
            <a:r>
              <a:rPr lang="en-US" dirty="0"/>
              <a:t>	if </a:t>
            </a:r>
            <a:r>
              <a:rPr lang="en-US" dirty="0" err="1"/>
              <a:t>i</a:t>
            </a:r>
            <a:r>
              <a:rPr lang="en-US" dirty="0"/>
              <a:t> == 3 or </a:t>
            </a:r>
            <a:r>
              <a:rPr lang="en-US" dirty="0" err="1"/>
              <a:t>i</a:t>
            </a:r>
            <a:r>
              <a:rPr lang="en-US" dirty="0"/>
              <a:t> == 7:</a:t>
            </a:r>
          </a:p>
          <a:p>
            <a:pPr marL="0" indent="0">
              <a:buNone/>
            </a:pPr>
            <a:r>
              <a:rPr lang="en-US" dirty="0"/>
              <a:t>		print(“</a:t>
            </a:r>
            <a:r>
              <a:rPr lang="en-US" dirty="0" err="1"/>
              <a:t>i</a:t>
            </a:r>
            <a:r>
              <a:rPr lang="en-US" dirty="0"/>
              <a:t> is”, 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pic>
        <p:nvPicPr>
          <p:cNvPr id="7" name="Picture 6" descr="A pile of hay&#10;&#10;Description automatically generated">
            <a:extLst>
              <a:ext uri="{FF2B5EF4-FFF2-40B4-BE49-F238E27FC236}">
                <a16:creationId xmlns:a16="http://schemas.microsoft.com/office/drawing/2014/main" id="{A0D3BA01-9140-4BAC-A501-679F20B220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07696" y="2701511"/>
            <a:ext cx="4813852" cy="36103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5ED5E0-74E3-46CE-A39E-B44550FBF62B}"/>
              </a:ext>
            </a:extLst>
          </p:cNvPr>
          <p:cNvSpPr txBox="1"/>
          <p:nvPr/>
        </p:nvSpPr>
        <p:spPr>
          <a:xfrm>
            <a:off x="6907696" y="6440363"/>
            <a:ext cx="48138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commons.wikimedia.org/wiki/File:American_Robin_Nest_with_Eggs.jpg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03242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within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</a:p>
          <a:p>
            <a:pPr lvl="1"/>
            <a:r>
              <a:rPr lang="en-US" dirty="0"/>
              <a:t>for j in range(5):</a:t>
            </a:r>
          </a:p>
          <a:p>
            <a:pPr lvl="2"/>
            <a:r>
              <a:rPr lang="en-US" dirty="0"/>
              <a:t>print(“</a:t>
            </a:r>
            <a:r>
              <a:rPr lang="en-US" dirty="0" err="1"/>
              <a:t>i</a:t>
            </a:r>
            <a:r>
              <a:rPr lang="en-US" dirty="0"/>
              <a:t>”, </a:t>
            </a:r>
            <a:r>
              <a:rPr lang="en-US" dirty="0" err="1"/>
              <a:t>i</a:t>
            </a:r>
            <a:r>
              <a:rPr lang="en-US" dirty="0"/>
              <a:t> ,”j”, j)</a:t>
            </a:r>
          </a:p>
          <a:p>
            <a:pPr lvl="2"/>
            <a:r>
              <a:rPr lang="en-US" dirty="0"/>
              <a:t>#inside both</a:t>
            </a:r>
          </a:p>
          <a:p>
            <a:pPr lvl="1"/>
            <a:r>
              <a:rPr lang="en-US" dirty="0"/>
              <a:t>#inside </a:t>
            </a:r>
            <a:r>
              <a:rPr lang="en-US" dirty="0" err="1"/>
              <a:t>i</a:t>
            </a:r>
            <a:r>
              <a:rPr lang="en-US" dirty="0"/>
              <a:t>, outside j</a:t>
            </a:r>
          </a:p>
          <a:p>
            <a:r>
              <a:rPr lang="en-US" dirty="0"/>
              <a:t>#outside both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65343-7A17-48C5-A8EC-768E5E7E3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15200" y="156044"/>
            <a:ext cx="4806563" cy="384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915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loop to count all characters in a file</a:t>
            </a:r>
          </a:p>
        </p:txBody>
      </p:sp>
    </p:spTree>
    <p:extLst>
      <p:ext uri="{BB962C8B-B14F-4D97-AF65-F5344CB8AC3E}">
        <p14:creationId xmlns:p14="http://schemas.microsoft.com/office/powerpoint/2010/main" val="538952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Indentation Error &amp; Tab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we can see, indentation is key in Python </a:t>
            </a:r>
          </a:p>
          <a:p>
            <a:pPr lvl="1"/>
            <a:r>
              <a:rPr lang="en-US" dirty="0"/>
              <a:t>Different than most programming languages</a:t>
            </a:r>
          </a:p>
          <a:p>
            <a:r>
              <a:rPr lang="en-US" dirty="0"/>
              <a:t>Python can give some very strange errors because of this</a:t>
            </a:r>
          </a:p>
          <a:p>
            <a:pPr lvl="1"/>
            <a:r>
              <a:rPr lang="en-US" dirty="0"/>
              <a:t>Indentation Error: </a:t>
            </a:r>
          </a:p>
          <a:p>
            <a:pPr lvl="2"/>
            <a:r>
              <a:rPr lang="en-US" dirty="0"/>
              <a:t>Python can’t figure out why you indented or </a:t>
            </a:r>
            <a:r>
              <a:rPr lang="en-US" dirty="0" err="1"/>
              <a:t>unindented</a:t>
            </a:r>
            <a:endParaRPr lang="en-US" dirty="0"/>
          </a:p>
          <a:p>
            <a:pPr lvl="1"/>
            <a:r>
              <a:rPr lang="en-US" dirty="0"/>
              <a:t>Tab Error:</a:t>
            </a:r>
          </a:p>
          <a:p>
            <a:pPr lvl="2"/>
            <a:r>
              <a:rPr lang="en-US" dirty="0"/>
              <a:t>You mixed tabs and spaces, Python can’t figure out how to line things up</a:t>
            </a:r>
          </a:p>
          <a:p>
            <a:pPr lvl="3"/>
            <a:r>
              <a:rPr lang="en-US" dirty="0"/>
              <a:t>Usually only happens when switching editor/computers</a:t>
            </a:r>
          </a:p>
        </p:txBody>
      </p:sp>
      <p:pic>
        <p:nvPicPr>
          <p:cNvPr id="5" name="Picture 4" descr="A close up of a keyboard&#10;&#10;Description automatically generated">
            <a:extLst>
              <a:ext uri="{FF2B5EF4-FFF2-40B4-BE49-F238E27FC236}">
                <a16:creationId xmlns:a16="http://schemas.microsoft.com/office/drawing/2014/main" id="{F0375009-031C-4090-9822-5EACFE5F4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32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indentation works, but doesn’t look pretty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858539" cy="4667250"/>
          </a:xfrm>
        </p:spPr>
        <p:txBody>
          <a:bodyPr/>
          <a:lstStyle/>
          <a:p>
            <a:r>
              <a:rPr lang="en-US" dirty="0"/>
              <a:t>Python doesn’t care about the amount of the indent, just what it is relative to other blocks</a:t>
            </a:r>
          </a:p>
          <a:p>
            <a:r>
              <a:rPr lang="en-US" dirty="0"/>
              <a:t>Small (one space) or large (10 tabs) is fine with python</a:t>
            </a:r>
          </a:p>
          <a:p>
            <a:pPr lvl="1"/>
            <a:r>
              <a:rPr lang="en-US" dirty="0"/>
              <a:t>Demo</a:t>
            </a:r>
          </a:p>
          <a:p>
            <a:r>
              <a:rPr lang="en-US" dirty="0"/>
              <a:t>Good style is to keep all the indents a consistent size</a:t>
            </a:r>
          </a:p>
          <a:p>
            <a:endParaRPr lang="en-US" dirty="0"/>
          </a:p>
        </p:txBody>
      </p:sp>
      <p:pic>
        <p:nvPicPr>
          <p:cNvPr id="5" name="Picture 4" descr="A close up of a desert&#10;&#10;Description automatically generated">
            <a:extLst>
              <a:ext uri="{FF2B5EF4-FFF2-40B4-BE49-F238E27FC236}">
                <a16:creationId xmlns:a16="http://schemas.microsoft.com/office/drawing/2014/main" id="{D8CD38CC-324F-4940-B0F1-08EDE53B05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86981" y="4293704"/>
            <a:ext cx="3905019" cy="25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2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361583" cy="1334466"/>
          </a:xfrm>
        </p:spPr>
        <p:txBody>
          <a:bodyPr/>
          <a:lstStyle/>
          <a:p>
            <a:r>
              <a:rPr lang="en-US" dirty="0"/>
              <a:t>Why do we care about style in data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918174" cy="4351338"/>
          </a:xfrm>
        </p:spPr>
        <p:txBody>
          <a:bodyPr/>
          <a:lstStyle/>
          <a:p>
            <a:r>
              <a:rPr lang="en-US" dirty="0"/>
              <a:t>As data scientists, want to be able to share our work with others!</a:t>
            </a:r>
          </a:p>
          <a:p>
            <a:pPr lvl="1"/>
            <a:r>
              <a:rPr lang="en-US" dirty="0"/>
              <a:t>Want to make our code easy for other data scientists to read</a:t>
            </a:r>
          </a:p>
          <a:p>
            <a:pPr lvl="1"/>
            <a:r>
              <a:rPr lang="en-US" dirty="0"/>
              <a:t>Want to make it easy for others to come in and modify</a:t>
            </a:r>
          </a:p>
          <a:p>
            <a:pPr lvl="1"/>
            <a:r>
              <a:rPr lang="en-US" dirty="0"/>
              <a:t>Ideally, even want to make it easy for non-data-scientists to understand!</a:t>
            </a:r>
          </a:p>
          <a:p>
            <a:r>
              <a:rPr lang="en-US" dirty="0"/>
              <a:t>So style is super important in DS!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49037" y="51394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Style tip 1: Make sure indentation looks nice</a:t>
            </a:r>
          </a:p>
        </p:txBody>
      </p:sp>
      <p:pic>
        <p:nvPicPr>
          <p:cNvPr id="6" name="Picture 5" descr="A corner of a room&#10;&#10;Description automatically generated">
            <a:extLst>
              <a:ext uri="{FF2B5EF4-FFF2-40B4-BE49-F238E27FC236}">
                <a16:creationId xmlns:a16="http://schemas.microsoft.com/office/drawing/2014/main" id="{73DB59D2-6E85-4F7A-8641-887F4A553B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33452" y="97977"/>
            <a:ext cx="2830800" cy="23967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AD6C59-494F-4901-B07F-7EECF94AC90D}"/>
              </a:ext>
            </a:extLst>
          </p:cNvPr>
          <p:cNvSpPr txBox="1"/>
          <p:nvPr/>
        </p:nvSpPr>
        <p:spPr>
          <a:xfrm>
            <a:off x="9233452" y="2679833"/>
            <a:ext cx="283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en.wikipedia.org/wiki/Art_Nouveau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76507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63990" cy="1073931"/>
          </a:xfrm>
        </p:spPr>
        <p:txBody>
          <a:bodyPr>
            <a:normAutofit fontScale="90000"/>
          </a:bodyPr>
          <a:lstStyle/>
          <a:p>
            <a:r>
              <a:rPr lang="en-US" dirty="0"/>
              <a:t>Style tip 2: Careful with things we didn’t cover in class, or things we said not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3932583" cy="4475785"/>
          </a:xfrm>
        </p:spPr>
        <p:txBody>
          <a:bodyPr/>
          <a:lstStyle/>
          <a:p>
            <a:r>
              <a:rPr lang="en-US" dirty="0"/>
              <a:t>Bad style way:</a:t>
            </a:r>
          </a:p>
          <a:p>
            <a:r>
              <a:rPr lang="en-US" dirty="0"/>
              <a:t>f = open(..)</a:t>
            </a:r>
          </a:p>
          <a:p>
            <a:r>
              <a:rPr lang="en-US" dirty="0" err="1"/>
              <a:t>f.write</a:t>
            </a:r>
            <a:r>
              <a:rPr lang="en-US" dirty="0"/>
              <a:t>(“This is a test string”)</a:t>
            </a:r>
          </a:p>
          <a:p>
            <a:r>
              <a:rPr lang="en-US" dirty="0" err="1"/>
              <a:t>f.close</a:t>
            </a:r>
            <a:r>
              <a:rPr lang="en-US" dirty="0"/>
              <a:t>()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2240A4-21D1-41A5-87E3-D0108C5FF70D}"/>
              </a:ext>
            </a:extLst>
          </p:cNvPr>
          <p:cNvSpPr txBox="1">
            <a:spLocks/>
          </p:cNvSpPr>
          <p:nvPr/>
        </p:nvSpPr>
        <p:spPr>
          <a:xfrm>
            <a:off x="4770782" y="1697450"/>
            <a:ext cx="6143295" cy="4475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Good style way:</a:t>
            </a:r>
          </a:p>
          <a:p>
            <a:r>
              <a:rPr lang="en-US" dirty="0"/>
              <a:t>f = open(..)</a:t>
            </a:r>
          </a:p>
          <a:p>
            <a:r>
              <a:rPr lang="en-US" dirty="0"/>
              <a:t>print(“this is a test string”, file=f)</a:t>
            </a:r>
          </a:p>
          <a:p>
            <a:r>
              <a:rPr lang="en-US" dirty="0" err="1"/>
              <a:t>f.close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FAD843-067A-4492-895D-54E82CB613C4}"/>
              </a:ext>
            </a:extLst>
          </p:cNvPr>
          <p:cNvSpPr txBox="1"/>
          <p:nvPr/>
        </p:nvSpPr>
        <p:spPr>
          <a:xfrm>
            <a:off x="665814" y="4613701"/>
            <a:ext cx="84631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You may not agree with me on everything  – that’s fine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big part of being a good programmer is learning the conventions and guidelines  , and following them</a:t>
            </a:r>
          </a:p>
        </p:txBody>
      </p:sp>
    </p:spTree>
    <p:extLst>
      <p:ext uri="{BB962C8B-B14F-4D97-AF65-F5344CB8AC3E}">
        <p14:creationId xmlns:p14="http://schemas.microsoft.com/office/powerpoint/2010/main" val="300052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 tip 2: Minimizing re-looping, or closing/opening files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CC7B23-F857-42BE-92AE-CBEACEFE7581}"/>
              </a:ext>
            </a:extLst>
          </p:cNvPr>
          <p:cNvSpPr txBox="1">
            <a:spLocks/>
          </p:cNvSpPr>
          <p:nvPr/>
        </p:nvSpPr>
        <p:spPr>
          <a:xfrm>
            <a:off x="838200" y="2282824"/>
            <a:ext cx="3932583" cy="4475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Bad style way:</a:t>
            </a:r>
          </a:p>
          <a:p>
            <a:r>
              <a:rPr lang="en-US" dirty="0"/>
              <a:t>i = 0</a:t>
            </a:r>
          </a:p>
          <a:p>
            <a:r>
              <a:rPr lang="en-US" dirty="0"/>
              <a:t>for k in range(20):</a:t>
            </a:r>
          </a:p>
          <a:p>
            <a:pPr lvl="1"/>
            <a:r>
              <a:rPr lang="en-US" dirty="0"/>
              <a:t>i += k</a:t>
            </a:r>
          </a:p>
          <a:p>
            <a:r>
              <a:rPr lang="en-US" dirty="0"/>
              <a:t>j = 0</a:t>
            </a:r>
          </a:p>
          <a:p>
            <a:r>
              <a:rPr lang="en-US" dirty="0"/>
              <a:t>for k in range(20):</a:t>
            </a:r>
          </a:p>
          <a:p>
            <a:pPr lvl="1"/>
            <a:r>
              <a:rPr lang="en-US" dirty="0"/>
              <a:t>j += 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FEB95F7-2FAD-4BD0-800D-90E76F4902C1}"/>
              </a:ext>
            </a:extLst>
          </p:cNvPr>
          <p:cNvSpPr txBox="1">
            <a:spLocks/>
          </p:cNvSpPr>
          <p:nvPr/>
        </p:nvSpPr>
        <p:spPr>
          <a:xfrm>
            <a:off x="5602357" y="2117172"/>
            <a:ext cx="3932583" cy="4475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Better way:</a:t>
            </a:r>
          </a:p>
          <a:p>
            <a:r>
              <a:rPr lang="en-US" dirty="0"/>
              <a:t>i = 0</a:t>
            </a:r>
          </a:p>
          <a:p>
            <a:r>
              <a:rPr lang="en-US" dirty="0"/>
              <a:t>j = 0</a:t>
            </a:r>
          </a:p>
          <a:p>
            <a:r>
              <a:rPr lang="en-US" dirty="0"/>
              <a:t>for k in range(20):</a:t>
            </a:r>
          </a:p>
          <a:p>
            <a:pPr lvl="1"/>
            <a:r>
              <a:rPr lang="en-US" dirty="0"/>
              <a:t>i += k</a:t>
            </a:r>
          </a:p>
          <a:p>
            <a:pPr lvl="1"/>
            <a:r>
              <a:rPr lang="en-US" dirty="0"/>
              <a:t>j += k</a:t>
            </a:r>
          </a:p>
        </p:txBody>
      </p:sp>
      <p:pic>
        <p:nvPicPr>
          <p:cNvPr id="9" name="Picture 8" descr="A picture containing sitting&#10;&#10;Description automatically generated">
            <a:extLst>
              <a:ext uri="{FF2B5EF4-FFF2-40B4-BE49-F238E27FC236}">
                <a16:creationId xmlns:a16="http://schemas.microsoft.com/office/drawing/2014/main" id="{A6685CB8-F0C1-420B-9881-9FC81F750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5557" y="1298021"/>
            <a:ext cx="3308404" cy="194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2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 tip 3: No “magic numbers” (or magic strings)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76191" cy="4667250"/>
          </a:xfrm>
        </p:spPr>
        <p:txBody>
          <a:bodyPr/>
          <a:lstStyle/>
          <a:p>
            <a:r>
              <a:rPr lang="en-US" dirty="0"/>
              <a:t>Bad style way:</a:t>
            </a:r>
          </a:p>
          <a:p>
            <a:endParaRPr lang="en-US" dirty="0"/>
          </a:p>
          <a:p>
            <a:r>
              <a:rPr lang="en-US" dirty="0" err="1"/>
              <a:t>datapointsPerYear</a:t>
            </a:r>
            <a:r>
              <a:rPr lang="en-US" dirty="0"/>
              <a:t> = 10*3*365</a:t>
            </a:r>
          </a:p>
          <a:p>
            <a:r>
              <a:rPr lang="en-US" dirty="0" err="1"/>
              <a:t>surveysPerYear</a:t>
            </a:r>
            <a:r>
              <a:rPr lang="en-US" dirty="0"/>
              <a:t> = 3*365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CCC458-AF7D-427E-B216-4A944D7CFF4C}"/>
              </a:ext>
            </a:extLst>
          </p:cNvPr>
          <p:cNvSpPr txBox="1">
            <a:spLocks/>
          </p:cNvSpPr>
          <p:nvPr/>
        </p:nvSpPr>
        <p:spPr>
          <a:xfrm>
            <a:off x="5814391" y="1825624"/>
            <a:ext cx="6174409" cy="4886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Better way:</a:t>
            </a:r>
          </a:p>
          <a:p>
            <a:endParaRPr lang="en-US" dirty="0"/>
          </a:p>
          <a:p>
            <a:r>
              <a:rPr lang="en-US" dirty="0" err="1"/>
              <a:t>daysPerYear</a:t>
            </a:r>
            <a:r>
              <a:rPr lang="en-US" dirty="0"/>
              <a:t> = 365</a:t>
            </a:r>
          </a:p>
          <a:p>
            <a:r>
              <a:rPr lang="en-US" dirty="0" err="1"/>
              <a:t>surveysPerDay</a:t>
            </a:r>
            <a:r>
              <a:rPr lang="en-US" dirty="0"/>
              <a:t> = 3</a:t>
            </a:r>
          </a:p>
          <a:p>
            <a:r>
              <a:rPr lang="en-US" dirty="0" err="1"/>
              <a:t>dataPointsPerSurvey</a:t>
            </a:r>
            <a:r>
              <a:rPr lang="en-US" dirty="0"/>
              <a:t> = 10</a:t>
            </a:r>
          </a:p>
          <a:p>
            <a:r>
              <a:rPr lang="en-US" dirty="0" err="1"/>
              <a:t>surveysPerYear</a:t>
            </a:r>
            <a:r>
              <a:rPr lang="en-US" dirty="0"/>
              <a:t> = \</a:t>
            </a:r>
          </a:p>
          <a:p>
            <a:pPr marL="457200" lvl="1" indent="0">
              <a:buNone/>
            </a:pPr>
            <a:r>
              <a:rPr lang="en-US" dirty="0" err="1"/>
              <a:t>surveysPerDay</a:t>
            </a:r>
            <a:r>
              <a:rPr lang="en-US" dirty="0"/>
              <a:t> * </a:t>
            </a:r>
            <a:r>
              <a:rPr lang="en-US" dirty="0" err="1"/>
              <a:t>daysPerYear</a:t>
            </a:r>
            <a:endParaRPr lang="en-US" dirty="0"/>
          </a:p>
          <a:p>
            <a:r>
              <a:rPr lang="en-US" sz="2400" dirty="0" err="1"/>
              <a:t>datapointsPerYear</a:t>
            </a:r>
            <a:r>
              <a:rPr lang="en-US" sz="2400" dirty="0"/>
              <a:t> = \</a:t>
            </a:r>
          </a:p>
          <a:p>
            <a:pPr marL="457200" lvl="1" indent="0">
              <a:buNone/>
            </a:pPr>
            <a:r>
              <a:rPr lang="en-US" dirty="0" err="1"/>
              <a:t>dataPointsPerSurvey</a:t>
            </a:r>
            <a:r>
              <a:rPr lang="en-US" dirty="0"/>
              <a:t> * </a:t>
            </a:r>
            <a:r>
              <a:rPr lang="en-US" dirty="0" err="1"/>
              <a:t>surveysPerYear</a:t>
            </a:r>
            <a:endParaRPr lang="en-US" dirty="0"/>
          </a:p>
        </p:txBody>
      </p:sp>
      <p:pic>
        <p:nvPicPr>
          <p:cNvPr id="6" name="Picture 5" descr="A picture containing nature, fire&#10;&#10;Description automatically generated">
            <a:extLst>
              <a:ext uri="{FF2B5EF4-FFF2-40B4-BE49-F238E27FC236}">
                <a16:creationId xmlns:a16="http://schemas.microsoft.com/office/drawing/2014/main" id="{EF420483-1993-4FE9-B7C8-424D0F4E9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98982" y="3896139"/>
            <a:ext cx="2816087" cy="281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7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 tip 4: No “dead code”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leave in lines that do little or nothing</a:t>
            </a:r>
          </a:p>
          <a:p>
            <a:endParaRPr lang="en-US" dirty="0"/>
          </a:p>
          <a:p>
            <a:r>
              <a:rPr lang="en-US" dirty="0"/>
              <a:t>for line in f:</a:t>
            </a:r>
          </a:p>
          <a:p>
            <a:pPr lvl="1"/>
            <a:r>
              <a:rPr lang="en-US" dirty="0"/>
              <a:t>num = int(line) # dead code!</a:t>
            </a:r>
          </a:p>
          <a:p>
            <a:pPr lvl="1"/>
            <a:r>
              <a:rPr lang="en-US" dirty="0"/>
              <a:t>num = float(line)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Variables that are never used, etc.</a:t>
            </a:r>
          </a:p>
        </p:txBody>
      </p:sp>
      <p:pic>
        <p:nvPicPr>
          <p:cNvPr id="5" name="Picture 4" descr="A stone building&#10;&#10;Description automatically generated">
            <a:extLst>
              <a:ext uri="{FF2B5EF4-FFF2-40B4-BE49-F238E27FC236}">
                <a16:creationId xmlns:a16="http://schemas.microsoft.com/office/drawing/2014/main" id="{37DC0C8D-F8DB-4D4C-9512-D9BC38DACC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36034" y="0"/>
            <a:ext cx="4255966" cy="272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7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 with nested loops</a:t>
            </a:r>
          </a:p>
          <a:p>
            <a:r>
              <a:rPr lang="en-US" dirty="0"/>
              <a:t>Keep style tips in mind for labs &amp; projects</a:t>
            </a:r>
          </a:p>
        </p:txBody>
      </p:sp>
    </p:spTree>
    <p:extLst>
      <p:ext uri="{BB962C8B-B14F-4D97-AF65-F5344CB8AC3E}">
        <p14:creationId xmlns:p14="http://schemas.microsoft.com/office/powerpoint/2010/main" val="434075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1577</TotalTime>
  <Words>772</Words>
  <Application>Microsoft Office PowerPoint</Application>
  <PresentationFormat>Widescreen</PresentationFormat>
  <Paragraphs>127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DATA/CS 172: Python for Data Analysis</vt:lpstr>
      <vt:lpstr>Announcements </vt:lpstr>
      <vt:lpstr>Agenda</vt:lpstr>
      <vt:lpstr>If statements within if statements</vt:lpstr>
      <vt:lpstr>When nesting, careful with indentation!</vt:lpstr>
      <vt:lpstr>If statements within Loops</vt:lpstr>
      <vt:lpstr>Loops within loops</vt:lpstr>
      <vt:lpstr>Demo </vt:lpstr>
      <vt:lpstr>Indentation Error &amp; Tab Error</vt:lpstr>
      <vt:lpstr>Some indentation works, but doesn’t look pretty</vt:lpstr>
      <vt:lpstr>Why do we care about style in data science?</vt:lpstr>
      <vt:lpstr>Style tip 2: Careful with things we didn’t cover in class, or things we said not to do</vt:lpstr>
      <vt:lpstr>Style tip 2: Minimizing re-looping, or closing/opening files</vt:lpstr>
      <vt:lpstr>Style tip 3: No “magic numbers” (or magic strings)</vt:lpstr>
      <vt:lpstr>Style tip 4: No “dead code”</vt:lpstr>
      <vt:lpstr>Lab 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CS172: Python for Data Analysis</dc:title>
  <dc:creator>Travis</dc:creator>
  <cp:lastModifiedBy>Travis Mandel</cp:lastModifiedBy>
  <cp:revision>51</cp:revision>
  <dcterms:created xsi:type="dcterms:W3CDTF">2018-09-05T09:38:38Z</dcterms:created>
  <dcterms:modified xsi:type="dcterms:W3CDTF">2024-09-11T19:41:12Z</dcterms:modified>
</cp:coreProperties>
</file>