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305" r:id="rId3"/>
    <p:sldId id="262" r:id="rId4"/>
    <p:sldId id="271" r:id="rId5"/>
    <p:sldId id="291" r:id="rId6"/>
    <p:sldId id="298" r:id="rId7"/>
    <p:sldId id="304" r:id="rId8"/>
    <p:sldId id="297" r:id="rId9"/>
    <p:sldId id="295" r:id="rId10"/>
    <p:sldId id="299" r:id="rId11"/>
    <p:sldId id="303" r:id="rId12"/>
    <p:sldId id="293" r:id="rId13"/>
    <p:sldId id="301" r:id="rId14"/>
    <p:sldId id="30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1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8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87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2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8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1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3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6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8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17CB5-4FD5-47DA-9BFE-6C54A66C2B79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/>
              <a:t>Intro to Lists 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9/16/2024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996543" y="4416592"/>
            <a:ext cx="2108296" cy="21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7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7404D-2ECB-4C2E-B628-8C3AE9DF1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7CF96-1028-44C2-BA5F-D1C5FA7652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Friday’s lecture (recording, slides, demo) is up on </a:t>
            </a:r>
            <a:r>
              <a:rPr lang="en-US" dirty="0" err="1"/>
              <a:t>Laulima</a:t>
            </a:r>
            <a:endParaRPr lang="en-US" dirty="0"/>
          </a:p>
          <a:p>
            <a:r>
              <a:rPr lang="en-US" dirty="0"/>
              <a:t>Lab 5 due today</a:t>
            </a:r>
          </a:p>
        </p:txBody>
      </p:sp>
    </p:spTree>
    <p:extLst>
      <p:ext uri="{BB962C8B-B14F-4D97-AF65-F5344CB8AC3E}">
        <p14:creationId xmlns:p14="http://schemas.microsoft.com/office/powerpoint/2010/main" val="3713226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Basics</a:t>
            </a:r>
          </a:p>
          <a:p>
            <a:r>
              <a:rPr lang="en-US" dirty="0"/>
              <a:t>Lists and Strings</a:t>
            </a:r>
          </a:p>
        </p:txBody>
      </p:sp>
    </p:spTree>
    <p:extLst>
      <p:ext uri="{BB962C8B-B14F-4D97-AF65-F5344CB8AC3E}">
        <p14:creationId xmlns:p14="http://schemas.microsoft.com/office/powerpoint/2010/main" val="2540643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238220"/>
            <a:ext cx="10515600" cy="4351338"/>
          </a:xfrm>
        </p:spPr>
        <p:txBody>
          <a:bodyPr/>
          <a:lstStyle/>
          <a:p>
            <a:r>
              <a:rPr lang="en-US" dirty="0"/>
              <a:t>We know how we can read a file containing multiple lines of data…</a:t>
            </a:r>
          </a:p>
          <a:p>
            <a:r>
              <a:rPr lang="en-US" dirty="0"/>
              <a:t>Great! But so far, no where to store that data!</a:t>
            </a:r>
          </a:p>
          <a:p>
            <a:r>
              <a:rPr lang="en-US" dirty="0"/>
              <a:t>What if I need to store 100 pieces of data in Python?</a:t>
            </a:r>
          </a:p>
          <a:p>
            <a:pPr lvl="1"/>
            <a:r>
              <a:rPr lang="en-US" dirty="0"/>
              <a:t>Could use 100 variables (Ugh!)</a:t>
            </a:r>
          </a:p>
          <a:p>
            <a:pPr lvl="1"/>
            <a:r>
              <a:rPr lang="en-US" dirty="0"/>
              <a:t>Could store them in a giant string (slow &amp; painful)</a:t>
            </a:r>
          </a:p>
          <a:p>
            <a:pPr lvl="1"/>
            <a:r>
              <a:rPr lang="en-US" dirty="0"/>
              <a:t>Could use a file for storage (slow &amp; painful)</a:t>
            </a:r>
          </a:p>
        </p:txBody>
      </p:sp>
      <p:pic>
        <p:nvPicPr>
          <p:cNvPr id="4" name="Picture 3" descr="What the Drake Equation Can Tell Us About the Future of Humanit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8810" y="0"/>
            <a:ext cx="3073190" cy="2028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7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01950-B502-4AFC-9583-92C75222F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898769-0368-4757-B579-ABD8EA8F4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ordered sequence of elements, usually all of the same type</a:t>
            </a:r>
          </a:p>
          <a:p>
            <a:r>
              <a:rPr lang="en-US" dirty="0"/>
              <a:t>Initialized like [3, 1, 4, 1, 5, 9]</a:t>
            </a:r>
          </a:p>
          <a:p>
            <a:r>
              <a:rPr lang="en-US" dirty="0"/>
              <a:t>Empty would be []</a:t>
            </a:r>
          </a:p>
          <a:p>
            <a:r>
              <a:rPr lang="en-US" dirty="0"/>
              <a:t>Single element would be [4]</a:t>
            </a:r>
          </a:p>
          <a:p>
            <a:r>
              <a:rPr lang="en-US" dirty="0"/>
              <a:t>Type of brackets matter – must be SQUARE</a:t>
            </a:r>
          </a:p>
          <a:p>
            <a:r>
              <a:rPr lang="en-US" dirty="0"/>
              <a:t>Very important in data science!</a:t>
            </a:r>
          </a:p>
        </p:txBody>
      </p:sp>
      <p:pic>
        <p:nvPicPr>
          <p:cNvPr id="4" name="Picture 3" descr="Sum It Up | Lan's SoapBox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760" y="-73811"/>
            <a:ext cx="2301240" cy="1831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329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32067-6DD3-492F-8B06-D06D1E02E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BD635-BFC6-47E1-BA6D-3CC182847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Getting the length</a:t>
            </a:r>
          </a:p>
          <a:p>
            <a:pPr lvl="1"/>
            <a:r>
              <a:rPr lang="en-US" sz="2800" dirty="0" err="1"/>
              <a:t>len</a:t>
            </a:r>
            <a:r>
              <a:rPr lang="en-US" sz="2800" dirty="0"/>
              <a:t>(</a:t>
            </a:r>
            <a:r>
              <a:rPr lang="en-US" sz="2800" dirty="0" err="1"/>
              <a:t>myList</a:t>
            </a:r>
            <a:r>
              <a:rPr lang="en-US" sz="2800" dirty="0"/>
              <a:t>)</a:t>
            </a:r>
          </a:p>
          <a:p>
            <a:pPr lvl="1"/>
            <a:r>
              <a:rPr lang="en-US" sz="2800" dirty="0"/>
              <a:t>Note </a:t>
            </a:r>
            <a:r>
              <a:rPr lang="en-US" sz="2800" dirty="0" err="1"/>
              <a:t>indicies</a:t>
            </a:r>
            <a:r>
              <a:rPr lang="en-US" sz="2800" dirty="0"/>
              <a:t> start at 0, so the last index is </a:t>
            </a:r>
            <a:r>
              <a:rPr lang="en-US" sz="2800" dirty="0" err="1"/>
              <a:t>len</a:t>
            </a:r>
            <a:r>
              <a:rPr lang="en-US" sz="2800" dirty="0"/>
              <a:t>(</a:t>
            </a:r>
            <a:r>
              <a:rPr lang="en-US" sz="2800" dirty="0" err="1"/>
              <a:t>myList</a:t>
            </a:r>
            <a:r>
              <a:rPr lang="en-US" sz="2800" dirty="0"/>
              <a:t>)-1</a:t>
            </a:r>
          </a:p>
          <a:p>
            <a:r>
              <a:rPr lang="en-US" sz="3200" dirty="0"/>
              <a:t>Getting the </a:t>
            </a:r>
            <a:r>
              <a:rPr lang="en-US" sz="3200" dirty="0" err="1"/>
              <a:t>ith</a:t>
            </a:r>
            <a:r>
              <a:rPr lang="en-US" sz="3200" dirty="0"/>
              <a:t> element</a:t>
            </a:r>
          </a:p>
          <a:p>
            <a:pPr lvl="1"/>
            <a:r>
              <a:rPr lang="en-US" sz="2800" dirty="0" err="1"/>
              <a:t>myList</a:t>
            </a:r>
            <a:r>
              <a:rPr lang="en-US" sz="2800" dirty="0"/>
              <a:t>[</a:t>
            </a:r>
            <a:r>
              <a:rPr lang="en-US" sz="2800" dirty="0" err="1"/>
              <a:t>i</a:t>
            </a:r>
            <a:r>
              <a:rPr lang="en-US" sz="2800" dirty="0"/>
              <a:t>] </a:t>
            </a:r>
            <a:r>
              <a:rPr lang="en-US" sz="2800" dirty="0">
                <a:sym typeface="Wingdings" panose="05000000000000000000" pitchFamily="2" charset="2"/>
              </a:rPr>
              <a:t> </a:t>
            </a:r>
            <a:r>
              <a:rPr lang="en-US" sz="2800" dirty="0" err="1">
                <a:sym typeface="Wingdings" panose="05000000000000000000" pitchFamily="2" charset="2"/>
              </a:rPr>
              <a:t>i</a:t>
            </a:r>
            <a:r>
              <a:rPr lang="en-US" sz="2800" dirty="0">
                <a:sym typeface="Wingdings" panose="05000000000000000000" pitchFamily="2" charset="2"/>
              </a:rPr>
              <a:t> is called an </a:t>
            </a:r>
            <a:r>
              <a:rPr lang="en-US" sz="2800" b="1" dirty="0">
                <a:sym typeface="Wingdings" panose="05000000000000000000" pitchFamily="2" charset="2"/>
              </a:rPr>
              <a:t>index </a:t>
            </a:r>
            <a:r>
              <a:rPr lang="en-US" sz="2800" dirty="0">
                <a:solidFill>
                  <a:srgbClr val="00B0F0"/>
                </a:solidFill>
                <a:sym typeface="Wingdings" panose="05000000000000000000" pitchFamily="2" charset="2"/>
              </a:rPr>
              <a:t>(important term)</a:t>
            </a:r>
            <a:endParaRPr lang="en-US" sz="2800" dirty="0">
              <a:solidFill>
                <a:srgbClr val="00B0F0"/>
              </a:solidFill>
            </a:endParaRPr>
          </a:p>
          <a:p>
            <a:pPr lvl="1"/>
            <a:r>
              <a:rPr lang="en-US" sz="2800" dirty="0"/>
              <a:t>First element</a:t>
            </a:r>
          </a:p>
          <a:p>
            <a:pPr lvl="2"/>
            <a:r>
              <a:rPr lang="en-US" sz="2400" dirty="0" err="1"/>
              <a:t>myList</a:t>
            </a:r>
            <a:r>
              <a:rPr lang="en-US" sz="2400" dirty="0"/>
              <a:t>[0]</a:t>
            </a:r>
          </a:p>
          <a:p>
            <a:pPr lvl="1"/>
            <a:r>
              <a:rPr lang="en-US" sz="2800" dirty="0"/>
              <a:t>Second element</a:t>
            </a:r>
          </a:p>
          <a:p>
            <a:pPr lvl="2"/>
            <a:r>
              <a:rPr lang="en-US" sz="2400" dirty="0" err="1"/>
              <a:t>myList</a:t>
            </a:r>
            <a:r>
              <a:rPr lang="en-US" sz="2400" dirty="0"/>
              <a:t>[1]</a:t>
            </a:r>
          </a:p>
          <a:p>
            <a:pPr lvl="2"/>
            <a:endParaRPr lang="en-US" sz="2400" dirty="0"/>
          </a:p>
        </p:txBody>
      </p:sp>
      <p:pic>
        <p:nvPicPr>
          <p:cNvPr id="4" name="Picture 3" descr="File:Megalodon scale.svg - Wikimedia Commons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446" y="0"/>
            <a:ext cx="3826554" cy="2705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456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8A100-1612-44A7-A264-F748EF5EE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AA3D8-6155-43AB-9A77-16250DC8E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animals = [“Parrot”, “Cow”, “Horse”]</a:t>
            </a:r>
          </a:p>
          <a:p>
            <a:endParaRPr lang="en-US" dirty="0"/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38A8ED82-9A7C-40C6-BAEB-31F18FB44A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52266"/>
              </p:ext>
            </p:extLst>
          </p:nvPr>
        </p:nvGraphicFramePr>
        <p:xfrm>
          <a:off x="1491353" y="3447059"/>
          <a:ext cx="5221683" cy="19960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9632">
                  <a:extLst>
                    <a:ext uri="{9D8B030D-6E8A-4147-A177-3AD203B41FA5}">
                      <a16:colId xmlns:a16="http://schemas.microsoft.com/office/drawing/2014/main" val="3210330826"/>
                    </a:ext>
                  </a:extLst>
                </a:gridCol>
                <a:gridCol w="1631263">
                  <a:extLst>
                    <a:ext uri="{9D8B030D-6E8A-4147-A177-3AD203B41FA5}">
                      <a16:colId xmlns:a16="http://schemas.microsoft.com/office/drawing/2014/main" val="3892378742"/>
                    </a:ext>
                  </a:extLst>
                </a:gridCol>
                <a:gridCol w="1860788">
                  <a:extLst>
                    <a:ext uri="{9D8B030D-6E8A-4147-A177-3AD203B41FA5}">
                      <a16:colId xmlns:a16="http://schemas.microsoft.com/office/drawing/2014/main" val="2854512192"/>
                    </a:ext>
                  </a:extLst>
                </a:gridCol>
              </a:tblGrid>
              <a:tr h="60093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animals[0]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animals[1]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animals[2]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4773012"/>
                  </a:ext>
                </a:extLst>
              </a:tr>
              <a:tr h="1395131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Parrot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Cow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Horse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05298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6FA58B1-04DF-4A24-87DB-E633F8930216}"/>
              </a:ext>
            </a:extLst>
          </p:cNvPr>
          <p:cNvSpPr txBox="1"/>
          <p:nvPr/>
        </p:nvSpPr>
        <p:spPr>
          <a:xfrm>
            <a:off x="838200" y="6090690"/>
            <a:ext cx="34997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len</a:t>
            </a:r>
            <a:r>
              <a:rPr lang="en-US" sz="2400" b="1" dirty="0"/>
              <a:t>(animals) is equal to 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5409A9-DF3A-408E-A81D-4F3F1960FB03}"/>
              </a:ext>
            </a:extLst>
          </p:cNvPr>
          <p:cNvSpPr txBox="1"/>
          <p:nvPr/>
        </p:nvSpPr>
        <p:spPr>
          <a:xfrm>
            <a:off x="7895792" y="4323095"/>
            <a:ext cx="4296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animals[</a:t>
            </a:r>
            <a:r>
              <a:rPr lang="en-US" sz="3200" b="1" dirty="0" err="1"/>
              <a:t>len</a:t>
            </a:r>
            <a:r>
              <a:rPr lang="en-US" sz="3200" b="1" dirty="0"/>
              <a:t>(animals)-1]</a:t>
            </a:r>
          </a:p>
        </p:txBody>
      </p:sp>
      <p:sp>
        <p:nvSpPr>
          <p:cNvPr id="5" name="Left Arrow 4"/>
          <p:cNvSpPr/>
          <p:nvPr/>
        </p:nvSpPr>
        <p:spPr>
          <a:xfrm>
            <a:off x="6339670" y="4001293"/>
            <a:ext cx="1556122" cy="1161721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4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A9ABCB-8D43-465C-89DC-4141AC957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Looping through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0A201-1B25-4B0D-B790-1310BBF1C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83323"/>
            <a:ext cx="7466814" cy="409363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Iterating </a:t>
            </a:r>
            <a:r>
              <a:rPr lang="en-US" dirty="0"/>
              <a:t>through a list refers to walking through it element by element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</a:t>
            </a:r>
            <a:r>
              <a:rPr lang="en-US" dirty="0">
                <a:solidFill>
                  <a:srgbClr val="00B0F0"/>
                </a:solidFill>
              </a:rPr>
              <a:t> Important term!</a:t>
            </a:r>
          </a:p>
          <a:p>
            <a:pPr marL="0" indent="0">
              <a:buNone/>
            </a:pPr>
            <a:r>
              <a:rPr lang="en-US" dirty="0"/>
              <a:t>Way 1:</a:t>
            </a:r>
          </a:p>
          <a:p>
            <a:r>
              <a:rPr lang="en-US" dirty="0"/>
              <a:t>for item in </a:t>
            </a:r>
            <a:r>
              <a:rPr lang="en-US" dirty="0" err="1"/>
              <a:t>myList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# item is </a:t>
            </a:r>
            <a:r>
              <a:rPr lang="en-US" dirty="0" err="1"/>
              <a:t>myList</a:t>
            </a:r>
            <a:r>
              <a:rPr lang="en-US" dirty="0"/>
              <a:t>[0], then </a:t>
            </a:r>
            <a:r>
              <a:rPr lang="en-US" dirty="0" err="1"/>
              <a:t>myList</a:t>
            </a:r>
            <a:r>
              <a:rPr lang="en-US" dirty="0"/>
              <a:t>[1], then </a:t>
            </a:r>
            <a:r>
              <a:rPr lang="en-US" dirty="0" err="1"/>
              <a:t>myList</a:t>
            </a:r>
            <a:r>
              <a:rPr lang="en-US" dirty="0"/>
              <a:t>[2]…</a:t>
            </a:r>
          </a:p>
          <a:p>
            <a:r>
              <a:rPr lang="en-US" b="1" dirty="0"/>
              <a:t>Use this one if you don’t need the index!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Way 2:</a:t>
            </a:r>
          </a:p>
          <a:p>
            <a:r>
              <a:rPr lang="en-US" dirty="0"/>
              <a:t>for </a:t>
            </a:r>
            <a:r>
              <a:rPr lang="en-US" dirty="0" err="1"/>
              <a:t>i</a:t>
            </a:r>
            <a:r>
              <a:rPr lang="en-US" dirty="0"/>
              <a:t> in range(</a:t>
            </a:r>
            <a:r>
              <a:rPr lang="en-US" dirty="0" err="1"/>
              <a:t>len</a:t>
            </a:r>
            <a:r>
              <a:rPr lang="en-US" dirty="0"/>
              <a:t>(</a:t>
            </a:r>
            <a:r>
              <a:rPr lang="en-US" dirty="0" err="1"/>
              <a:t>myList</a:t>
            </a:r>
            <a:r>
              <a:rPr lang="en-US" dirty="0"/>
              <a:t>)):</a:t>
            </a:r>
          </a:p>
          <a:p>
            <a:pPr lvl="1"/>
            <a:r>
              <a:rPr lang="en-US" dirty="0"/>
              <a:t>item = </a:t>
            </a:r>
            <a:r>
              <a:rPr lang="en-US" dirty="0" err="1"/>
              <a:t>myList</a:t>
            </a:r>
            <a:r>
              <a:rPr lang="en-US" dirty="0"/>
              <a:t>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r>
              <a:rPr lang="en-US" b="1" dirty="0"/>
              <a:t>Use this one if you need the index!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photo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6990" y="-158693"/>
            <a:ext cx="3450210" cy="2587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7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36AE-ED7A-487C-B0D7-BF8855A1C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to a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3600F-F175-4FE8-AD28-D40BA3692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myList</a:t>
            </a:r>
            <a:r>
              <a:rPr lang="en-US" dirty="0"/>
              <a:t> = []</a:t>
            </a:r>
          </a:p>
          <a:p>
            <a:r>
              <a:rPr lang="en-US" dirty="0" err="1"/>
              <a:t>myList.append</a:t>
            </a:r>
            <a:r>
              <a:rPr lang="en-US" dirty="0"/>
              <a:t>(3)</a:t>
            </a:r>
          </a:p>
          <a:p>
            <a:r>
              <a:rPr lang="en-US" dirty="0" err="1"/>
              <a:t>myList.append</a:t>
            </a:r>
            <a:r>
              <a:rPr lang="en-US" dirty="0"/>
              <a:t>(4)</a:t>
            </a:r>
          </a:p>
          <a:p>
            <a:r>
              <a:rPr lang="en-US" dirty="0"/>
              <a:t>Results in [3,4]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Useful when building up a list from scratch</a:t>
            </a:r>
          </a:p>
          <a:p>
            <a:pPr lvl="1"/>
            <a:r>
              <a:rPr lang="en-US" dirty="0"/>
              <a:t>Often done in a loop (demo)</a:t>
            </a:r>
          </a:p>
          <a:p>
            <a:endParaRPr lang="en-US" dirty="0"/>
          </a:p>
        </p:txBody>
      </p:sp>
      <p:pic>
        <p:nvPicPr>
          <p:cNvPr id="4" name="Picture 3" descr="ID and Other Reflections: Micro-Learning as a Workplace Learning Strategy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8454" y="0"/>
            <a:ext cx="3853991" cy="264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091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F8BEA-F84E-4F30-B16F-6D07AD252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Checking if a list contains an item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12F09-CF40-4364-A7FC-C6A031116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One way</a:t>
            </a:r>
          </a:p>
          <a:p>
            <a:pPr lvl="1"/>
            <a:r>
              <a:rPr lang="en-US" dirty="0"/>
              <a:t>Do a for loop, check every item with ==</a:t>
            </a:r>
          </a:p>
          <a:p>
            <a:pPr lvl="2"/>
            <a:r>
              <a:rPr lang="en-US" dirty="0"/>
              <a:t>Kind of annoying given how common this is</a:t>
            </a:r>
          </a:p>
          <a:p>
            <a:pPr lvl="1"/>
            <a:r>
              <a:rPr lang="en-US" dirty="0"/>
              <a:t>Python offers a way to make this nicer</a:t>
            </a:r>
          </a:p>
          <a:p>
            <a:r>
              <a:rPr lang="en-US" dirty="0"/>
              <a:t>In keyword again!</a:t>
            </a:r>
          </a:p>
          <a:p>
            <a:r>
              <a:rPr lang="en-US" dirty="0"/>
              <a:t>If ‘a’ in [‘a’, ’b’, ‘c’]:</a:t>
            </a:r>
          </a:p>
          <a:p>
            <a:pPr lvl="1"/>
            <a:r>
              <a:rPr lang="en-US" dirty="0"/>
              <a:t>#This will happen</a:t>
            </a:r>
          </a:p>
          <a:p>
            <a:r>
              <a:rPr lang="en-US" dirty="0"/>
              <a:t>If ‘d’ in [‘a’, ’b’, ‘c’]:</a:t>
            </a:r>
          </a:p>
          <a:p>
            <a:pPr lvl="1"/>
            <a:r>
              <a:rPr lang="en-US" dirty="0"/>
              <a:t>#This will not happen</a:t>
            </a:r>
          </a:p>
          <a:p>
            <a:r>
              <a:rPr lang="en-US" dirty="0"/>
              <a:t>If ‘d’ in [‘a’, ’bd’, ‘c’]:</a:t>
            </a:r>
          </a:p>
          <a:p>
            <a:pPr lvl="1"/>
            <a:r>
              <a:rPr lang="en-US" dirty="0"/>
              <a:t>#This will also not happen</a:t>
            </a:r>
          </a:p>
          <a:p>
            <a:r>
              <a:rPr lang="en-US" dirty="0"/>
              <a:t>For loop not usually good style for this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&lt;strong&gt;peeking&lt;/strong&gt; through the blinds | Flickr - Photo Sharing!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510" y="0"/>
            <a:ext cx="3470490" cy="231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4759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44531-EEDD-4226-A481-E0111D412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Strings are kind of like lists!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803AC-2725-433D-A769-FAE9225739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14463" cy="484280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Can index them:</a:t>
            </a:r>
          </a:p>
          <a:p>
            <a:pPr lvl="1"/>
            <a:r>
              <a:rPr lang="en-US" dirty="0"/>
              <a:t>s = “hello”</a:t>
            </a:r>
          </a:p>
          <a:p>
            <a:pPr lvl="1"/>
            <a:r>
              <a:rPr lang="en-US" dirty="0"/>
              <a:t>print(s[0])  #prints h</a:t>
            </a:r>
          </a:p>
          <a:p>
            <a:r>
              <a:rPr lang="en-US" dirty="0"/>
              <a:t>Can take their length</a:t>
            </a:r>
          </a:p>
          <a:p>
            <a:pPr lvl="1"/>
            <a:r>
              <a:rPr lang="en-US" dirty="0"/>
              <a:t>s = “hello”</a:t>
            </a:r>
          </a:p>
          <a:p>
            <a:pPr lvl="1"/>
            <a:r>
              <a:rPr lang="en-US" dirty="0"/>
              <a:t>print(</a:t>
            </a:r>
            <a:r>
              <a:rPr lang="en-US" dirty="0" err="1"/>
              <a:t>len</a:t>
            </a:r>
            <a:r>
              <a:rPr lang="en-US" dirty="0"/>
              <a:t>(s))  #prints 5</a:t>
            </a:r>
          </a:p>
          <a:p>
            <a:pPr lvl="2"/>
            <a:r>
              <a:rPr lang="en-US" i="1" dirty="0"/>
              <a:t>Useful for checking for invalid lines (small or 0 length after strip())</a:t>
            </a:r>
          </a:p>
          <a:p>
            <a:r>
              <a:rPr lang="en-US" dirty="0"/>
              <a:t>Can check if something is in them:</a:t>
            </a:r>
          </a:p>
          <a:p>
            <a:pPr lvl="1"/>
            <a:r>
              <a:rPr lang="en-US" dirty="0"/>
              <a:t>If “o” in “hello”:</a:t>
            </a:r>
          </a:p>
          <a:p>
            <a:pPr lvl="2"/>
            <a:r>
              <a:rPr lang="en-US" dirty="0"/>
              <a:t>#this will happen</a:t>
            </a:r>
          </a:p>
          <a:p>
            <a:pPr lvl="1"/>
            <a:r>
              <a:rPr lang="en-US" dirty="0"/>
              <a:t>If “x” in “hello”:</a:t>
            </a:r>
          </a:p>
          <a:p>
            <a:pPr lvl="2"/>
            <a:r>
              <a:rPr lang="en-US" dirty="0"/>
              <a:t>#this will not</a:t>
            </a:r>
          </a:p>
          <a:p>
            <a:r>
              <a:rPr lang="en-US" dirty="0"/>
              <a:t>Cannot append, though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  <p:pic>
        <p:nvPicPr>
          <p:cNvPr id="4" name="Picture 3" descr="Free Stock Photo 2863-&lt;strong&gt;strings&lt;/strong&gt; of lights | freeimageslive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8775" y="230188"/>
            <a:ext cx="1873053" cy="126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338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C439E-30B4-49AA-8299-BC3BC7FFA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Splitting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95F434-B6E8-4C65-BC3F-E60523CD5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Strings by default are a list of characters</a:t>
            </a:r>
          </a:p>
          <a:p>
            <a:r>
              <a:rPr lang="en-US" dirty="0"/>
              <a:t>Sometimes, that isn’t what I’m looking for</a:t>
            </a:r>
          </a:p>
          <a:p>
            <a:pPr lvl="1"/>
            <a:r>
              <a:rPr lang="en-US" dirty="0"/>
              <a:t>Example: “</a:t>
            </a:r>
            <a:r>
              <a:rPr lang="en-US" dirty="0" err="1"/>
              <a:t>james,fred,george</a:t>
            </a:r>
            <a:r>
              <a:rPr lang="en-US" dirty="0"/>
              <a:t>”</a:t>
            </a:r>
          </a:p>
          <a:p>
            <a:r>
              <a:rPr lang="en-US" dirty="0" err="1"/>
              <a:t>myString</a:t>
            </a:r>
            <a:r>
              <a:rPr lang="en-US" dirty="0"/>
              <a:t> = “</a:t>
            </a:r>
            <a:r>
              <a:rPr lang="en-US" dirty="0" err="1"/>
              <a:t>a,b,c</a:t>
            </a:r>
            <a:r>
              <a:rPr lang="en-US" dirty="0"/>
              <a:t>”</a:t>
            </a:r>
          </a:p>
          <a:p>
            <a:r>
              <a:rPr lang="en-US" dirty="0" err="1"/>
              <a:t>myList</a:t>
            </a:r>
            <a:r>
              <a:rPr lang="en-US" dirty="0"/>
              <a:t> = </a:t>
            </a:r>
            <a:r>
              <a:rPr lang="en-US" dirty="0" err="1"/>
              <a:t>myString.split</a:t>
            </a:r>
            <a:r>
              <a:rPr lang="en-US" dirty="0"/>
              <a:t>(“,”)</a:t>
            </a:r>
          </a:p>
          <a:p>
            <a:pPr lvl="1"/>
            <a:r>
              <a:rPr lang="en-US" dirty="0" err="1"/>
              <a:t>myList</a:t>
            </a:r>
            <a:r>
              <a:rPr lang="en-US" dirty="0"/>
              <a:t> is now [“</a:t>
            </a:r>
            <a:r>
              <a:rPr lang="en-US" dirty="0" err="1"/>
              <a:t>a”,”b”,”c</a:t>
            </a:r>
            <a:r>
              <a:rPr lang="en-US" dirty="0"/>
              <a:t>”]</a:t>
            </a:r>
          </a:p>
          <a:p>
            <a:r>
              <a:rPr lang="en-US" dirty="0"/>
              <a:t>Tip: Split() without anything in the </a:t>
            </a:r>
            <a:r>
              <a:rPr lang="en-US" dirty="0" err="1"/>
              <a:t>parens</a:t>
            </a:r>
            <a:r>
              <a:rPr lang="en-US" dirty="0"/>
              <a:t> will split on whitespace</a:t>
            </a:r>
          </a:p>
          <a:p>
            <a:endParaRPr lang="en-US" dirty="0"/>
          </a:p>
        </p:txBody>
      </p:sp>
      <p:pic>
        <p:nvPicPr>
          <p:cNvPr id="4" name="Picture 3" descr="File:Spool of &lt;strong&gt;string&lt;/strong&gt;.jpg - Wikipedi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739" y="701951"/>
            <a:ext cx="1849135" cy="163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88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Style tip with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good to end variable name with an “s” (i.e. pluralized)</a:t>
            </a:r>
            <a:br>
              <a:rPr lang="en-US" dirty="0"/>
            </a:br>
            <a:endParaRPr lang="en-US" dirty="0"/>
          </a:p>
          <a:p>
            <a:r>
              <a:rPr lang="en-US" dirty="0"/>
              <a:t>grades = [76, 83, 92, 86]</a:t>
            </a:r>
          </a:p>
          <a:p>
            <a:r>
              <a:rPr lang="en-US" dirty="0"/>
              <a:t>for grade in grades:</a:t>
            </a:r>
          </a:p>
          <a:p>
            <a:pPr lvl="1"/>
            <a:r>
              <a:rPr lang="en-US" dirty="0"/>
              <a:t>print (“You got:”, grade)</a:t>
            </a:r>
          </a:p>
        </p:txBody>
      </p:sp>
    </p:spTree>
    <p:extLst>
      <p:ext uri="{BB962C8B-B14F-4D97-AF65-F5344CB8AC3E}">
        <p14:creationId xmlns:p14="http://schemas.microsoft.com/office/powerpoint/2010/main" val="4105546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Practice with some of what we talked about today</a:t>
            </a:r>
          </a:p>
          <a:p>
            <a:r>
              <a:rPr lang="en-US" dirty="0"/>
              <a:t>Reading data into a list, checking for errored values</a:t>
            </a:r>
          </a:p>
          <a:p>
            <a:r>
              <a:rPr lang="en-US" dirty="0"/>
              <a:t>Next time: More with lists (slicing, etc.)</a:t>
            </a:r>
          </a:p>
        </p:txBody>
      </p:sp>
    </p:spTree>
    <p:extLst>
      <p:ext uri="{BB962C8B-B14F-4D97-AF65-F5344CB8AC3E}">
        <p14:creationId xmlns:p14="http://schemas.microsoft.com/office/powerpoint/2010/main" val="2922829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2339</TotalTime>
  <Words>723</Words>
  <Application>Microsoft Office PowerPoint</Application>
  <PresentationFormat>Widescreen</PresentationFormat>
  <Paragraphs>110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Wingdings</vt:lpstr>
      <vt:lpstr>Office Theme</vt:lpstr>
      <vt:lpstr>DATA/CS 172: Python for Data Analysis</vt:lpstr>
      <vt:lpstr>Reminder</vt:lpstr>
      <vt:lpstr>Agenda</vt:lpstr>
      <vt:lpstr>Storing data</vt:lpstr>
      <vt:lpstr>List</vt:lpstr>
      <vt:lpstr>List basics</vt:lpstr>
      <vt:lpstr>Example</vt:lpstr>
      <vt:lpstr>Looping through a list</vt:lpstr>
      <vt:lpstr>Adding to a list</vt:lpstr>
      <vt:lpstr>Checking if a list contains an item</vt:lpstr>
      <vt:lpstr>Strings are kind of like lists!</vt:lpstr>
      <vt:lpstr>Splitting strings</vt:lpstr>
      <vt:lpstr>Style tip with lists</vt:lpstr>
      <vt:lpstr>Lab 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CS172: Python for Data Analysis</dc:title>
  <dc:creator>Travis</dc:creator>
  <cp:lastModifiedBy>Travis Mandel</cp:lastModifiedBy>
  <cp:revision>66</cp:revision>
  <dcterms:created xsi:type="dcterms:W3CDTF">2018-09-05T09:38:38Z</dcterms:created>
  <dcterms:modified xsi:type="dcterms:W3CDTF">2024-09-16T19:50:54Z</dcterms:modified>
</cp:coreProperties>
</file>