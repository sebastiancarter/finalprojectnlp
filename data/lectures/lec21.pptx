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21" r:id="rId3"/>
    <p:sldId id="257" r:id="rId4"/>
    <p:sldId id="267" r:id="rId5"/>
    <p:sldId id="319" r:id="rId6"/>
    <p:sldId id="312" r:id="rId7"/>
    <p:sldId id="315" r:id="rId8"/>
    <p:sldId id="316" r:id="rId9"/>
    <p:sldId id="306" r:id="rId10"/>
    <p:sldId id="318" r:id="rId11"/>
    <p:sldId id="313" r:id="rId12"/>
    <p:sldId id="314" r:id="rId13"/>
    <p:sldId id="320" r:id="rId14"/>
    <p:sldId id="317" r:id="rId15"/>
    <p:sldId id="29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5204" autoAdjust="0"/>
  </p:normalViewPr>
  <p:slideViewPr>
    <p:cSldViewPr snapToGrid="0">
      <p:cViewPr varScale="1">
        <p:scale>
          <a:sx n="66" d="100"/>
          <a:sy n="66" d="100"/>
        </p:scale>
        <p:origin x="7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4EF4E-EB93-44C3-A141-FC4330C6D7B6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E85AB-DFED-4B8C-AE02-49FF73A58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0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6E85AB-DFED-4B8C-AE02-49FF73A586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92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34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6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55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10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5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2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1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1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4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5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CE987-FBFA-40E2-9FBA-1C59C5AC0221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86A7E-B6C1-476B-AEB5-2A51F7AB15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94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DLE_(Python)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jupyter.org/try-jupyter/lab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uentos-cuanticos.com/2014/12/07/jupiter-la-relevancia-o-irrelevancia-de-un-dio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fr.wikipedia.org/wiki/IPytho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vermind.it/tutorial-come-realizzare-una-tabella-con-photoshop-parte-2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ustintarte.com/2014/01/5-helpful-strategies-for-self-reflection.html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azharreflections.wordpress.com/category/coursera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ommons.wikimedia.org/wiki/File:Polish_Wikinews_header_image.png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11/6/2024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5044771" y="4260715"/>
            <a:ext cx="2102457" cy="218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8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713D-7C99-425F-AD54-050806DF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0205D-4CA2-4E07-A6B8-9346EF278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Stay on top of labs</a:t>
            </a:r>
          </a:p>
          <a:p>
            <a:r>
              <a:rPr lang="en-US" dirty="0"/>
              <a:t>Make progress on Program 2</a:t>
            </a:r>
          </a:p>
          <a:p>
            <a:r>
              <a:rPr lang="en-US" dirty="0"/>
              <a:t>Office hours today 12:30-1:30pm</a:t>
            </a:r>
          </a:p>
          <a:p>
            <a:r>
              <a:rPr lang="en-US" dirty="0"/>
              <a:t>Teaching Demo 5-6pm  (including discussion of </a:t>
            </a:r>
            <a:r>
              <a:rPr lang="en-US" dirty="0" err="1"/>
              <a:t>numpy</a:t>
            </a:r>
            <a:r>
              <a:rPr lang="en-US" dirty="0"/>
              <a:t> arrays!)</a:t>
            </a:r>
          </a:p>
          <a:p>
            <a:pPr lvl="1"/>
            <a:r>
              <a:rPr lang="en-US" dirty="0"/>
              <a:t>Will send Zoom link on Discord</a:t>
            </a:r>
          </a:p>
          <a:p>
            <a:r>
              <a:rPr lang="en-US" dirty="0"/>
              <a:t>Test next Wednesday</a:t>
            </a:r>
          </a:p>
          <a:p>
            <a:pPr lvl="1"/>
            <a:r>
              <a:rPr lang="en-US" dirty="0"/>
              <a:t>Review Friday</a:t>
            </a:r>
          </a:p>
          <a:p>
            <a:pPr lvl="1"/>
            <a:r>
              <a:rPr lang="en-US" dirty="0"/>
              <a:t>(Monday is a holiday)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653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19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BF5F-8622-44D9-B5C6-6ACD23BD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far, we’ve been editing our code using 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972D5-23B3-43CF-B141-3C75F96FF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7355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example, IDLE</a:t>
            </a:r>
          </a:p>
          <a:p>
            <a:r>
              <a:rPr lang="en-US" dirty="0"/>
              <a:t>Makes some things nice</a:t>
            </a:r>
          </a:p>
          <a:p>
            <a:pPr lvl="1"/>
            <a:r>
              <a:rPr lang="en-US" dirty="0"/>
              <a:t>Easy to run code, simple, error indications</a:t>
            </a:r>
          </a:p>
          <a:p>
            <a:r>
              <a:rPr lang="en-US" dirty="0"/>
              <a:t>But showing graphs, etc. is a bit of a pain</a:t>
            </a:r>
          </a:p>
          <a:p>
            <a:pPr lvl="1"/>
            <a:endParaRPr lang="en-US" dirty="0"/>
          </a:p>
          <a:p>
            <a:r>
              <a:rPr lang="en-US" dirty="0"/>
              <a:t>Some of the data science community has gravitated towards an alternate solution</a:t>
            </a:r>
          </a:p>
          <a:p>
            <a:pPr lvl="1"/>
            <a:r>
              <a:rPr lang="en-US" dirty="0"/>
              <a:t>One that makes Python code easier to create, share, and run</a:t>
            </a:r>
          </a:p>
          <a:p>
            <a:pPr lvl="2"/>
            <a:r>
              <a:rPr lang="en-US" dirty="0"/>
              <a:t>More accessible to non-programmers</a:t>
            </a:r>
          </a:p>
          <a:p>
            <a:r>
              <a:rPr lang="en-US" dirty="0" err="1"/>
              <a:t>Jupyter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The key element of </a:t>
            </a:r>
            <a:r>
              <a:rPr lang="en-US" dirty="0" err="1"/>
              <a:t>Jupyter</a:t>
            </a:r>
            <a:r>
              <a:rPr lang="en-US" dirty="0"/>
              <a:t> is called the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7CEE0-1C32-4841-9974-75D00061F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29894" y="1690688"/>
            <a:ext cx="4042281" cy="4159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4721C2-85D6-470F-8311-E3C1267F216A}"/>
              </a:ext>
            </a:extLst>
          </p:cNvPr>
          <p:cNvSpPr txBox="1"/>
          <p:nvPr/>
        </p:nvSpPr>
        <p:spPr>
          <a:xfrm>
            <a:off x="8752115" y="6516356"/>
            <a:ext cx="40200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en.wikipedia.org/wiki/IDLE_(Python)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80127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57163"/>
            <a:ext cx="10515600" cy="1325563"/>
          </a:xfrm>
        </p:spPr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: Many ways to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00" y="965200"/>
            <a:ext cx="7721600" cy="60705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Way 1:  Install locally (not recommended)</a:t>
            </a:r>
          </a:p>
          <a:p>
            <a:pPr lvl="1"/>
            <a:r>
              <a:rPr lang="en-US" dirty="0"/>
              <a:t>pip install </a:t>
            </a:r>
            <a:r>
              <a:rPr lang="en-US" dirty="0" err="1"/>
              <a:t>jupyter</a:t>
            </a:r>
            <a:endParaRPr lang="en-US" dirty="0"/>
          </a:p>
          <a:p>
            <a:pPr lvl="1"/>
            <a:r>
              <a:rPr lang="en-US" dirty="0"/>
              <a:t>Open command line, type “</a:t>
            </a:r>
            <a:r>
              <a:rPr lang="en-US" dirty="0" err="1"/>
              <a:t>jupyter</a:t>
            </a:r>
            <a:r>
              <a:rPr lang="en-US" dirty="0"/>
              <a:t> notebook”</a:t>
            </a:r>
          </a:p>
          <a:p>
            <a:pPr lvl="2"/>
            <a:r>
              <a:rPr lang="en-US" dirty="0"/>
              <a:t>If it doesn’t work, run similar to how you run pip</a:t>
            </a:r>
          </a:p>
          <a:p>
            <a:pPr lvl="1"/>
            <a:r>
              <a:rPr lang="en-US" dirty="0"/>
              <a:t>Opens up in a browser</a:t>
            </a:r>
          </a:p>
          <a:p>
            <a:pPr lvl="1"/>
            <a:r>
              <a:rPr lang="en-US" dirty="0"/>
              <a:t>Click New</a:t>
            </a:r>
            <a:r>
              <a:rPr lang="en-US" dirty="0">
                <a:sym typeface="Wingdings" panose="05000000000000000000" pitchFamily="2" charset="2"/>
              </a:rPr>
              <a:t> Notebook  Python 3</a:t>
            </a:r>
          </a:p>
          <a:p>
            <a:r>
              <a:rPr lang="en-US" dirty="0"/>
              <a:t>Way 2: </a:t>
            </a:r>
            <a:r>
              <a:rPr lang="en-US" dirty="0" err="1"/>
              <a:t>JupyterLite</a:t>
            </a:r>
            <a:endParaRPr lang="en-US" dirty="0"/>
          </a:p>
          <a:p>
            <a:pPr lvl="1"/>
            <a:r>
              <a:rPr lang="en-US" b="1" dirty="0"/>
              <a:t>The easiest way - recommended!</a:t>
            </a:r>
          </a:p>
          <a:p>
            <a:pPr lvl="1"/>
            <a:r>
              <a:rPr lang="en-US" dirty="0"/>
              <a:t>NEW – started being an option in 2022</a:t>
            </a:r>
          </a:p>
          <a:p>
            <a:pPr lvl="1"/>
            <a:r>
              <a:rPr lang="en-US" dirty="0"/>
              <a:t>Runs entirely in the browser – nothing to install!</a:t>
            </a:r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2"/>
              </a:rPr>
              <a:t>https://jupyter.org/try-jupyter/lab/</a:t>
            </a:r>
            <a:endParaRPr lang="en-US" dirty="0"/>
          </a:p>
          <a:p>
            <a:pPr lvl="2"/>
            <a:r>
              <a:rPr lang="en-US" dirty="0"/>
              <a:t>Click on Python (</a:t>
            </a:r>
            <a:r>
              <a:rPr lang="en-US" dirty="0" err="1"/>
              <a:t>pyodide</a:t>
            </a:r>
            <a:r>
              <a:rPr lang="en-US" dirty="0"/>
              <a:t>) under “Notebook”</a:t>
            </a:r>
          </a:p>
          <a:p>
            <a:r>
              <a:rPr lang="en-US" dirty="0"/>
              <a:t>Way 3: Use Google </a:t>
            </a:r>
            <a:r>
              <a:rPr lang="en-US" dirty="0" err="1"/>
              <a:t>Colaboratory</a:t>
            </a:r>
            <a:endParaRPr lang="en-US" dirty="0"/>
          </a:p>
          <a:p>
            <a:pPr lvl="1"/>
            <a:r>
              <a:rPr lang="en-US" dirty="0"/>
              <a:t>Go to Google Drive</a:t>
            </a:r>
          </a:p>
          <a:p>
            <a:pPr lvl="1"/>
            <a:r>
              <a:rPr lang="en-US" dirty="0"/>
              <a:t>Click </a:t>
            </a:r>
            <a:r>
              <a:rPr lang="en-US" dirty="0" err="1"/>
              <a:t>New</a:t>
            </a:r>
            <a:r>
              <a:rPr lang="en-US" dirty="0" err="1">
                <a:sym typeface="Wingdings" panose="05000000000000000000" pitchFamily="2" charset="2"/>
              </a:rPr>
              <a:t>More</a:t>
            </a:r>
            <a:r>
              <a:rPr lang="en-US" dirty="0">
                <a:sym typeface="Wingdings" panose="05000000000000000000" pitchFamily="2" charset="2"/>
              </a:rPr>
              <a:t> Google </a:t>
            </a:r>
            <a:r>
              <a:rPr lang="en-US" dirty="0" err="1">
                <a:sym typeface="Wingdings" panose="05000000000000000000" pitchFamily="2" charset="2"/>
              </a:rPr>
              <a:t>Colaboratory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For UH, need to enable external apps on your account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For personal account, need to install the app in Drive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Notebook will run </a:t>
            </a:r>
          </a:p>
          <a:p>
            <a:r>
              <a:rPr lang="en-US" dirty="0">
                <a:sym typeface="Wingdings" panose="05000000000000000000" pitchFamily="2" charset="2"/>
              </a:rPr>
              <a:t>In either case, double click title to change filename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D6BE0E-5016-450A-95D3-DC1BBADE0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681754" y="0"/>
            <a:ext cx="2495006" cy="249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7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Stands for interactive Python </a:t>
            </a:r>
          </a:p>
          <a:p>
            <a:r>
              <a:rPr lang="en-US" dirty="0"/>
              <a:t>Write some Python code</a:t>
            </a:r>
          </a:p>
          <a:p>
            <a:pPr lvl="1"/>
            <a:r>
              <a:rPr lang="en-US" dirty="0"/>
              <a:t>Press shift-enter (or click                       or              </a:t>
            </a:r>
            <a:r>
              <a:rPr lang="en-US" dirty="0" err="1"/>
              <a:t>or</a:t>
            </a:r>
            <a:r>
              <a:rPr lang="en-US" dirty="0"/>
              <a:t>         ) to run it.</a:t>
            </a:r>
          </a:p>
          <a:p>
            <a:endParaRPr lang="en-US" dirty="0"/>
          </a:p>
          <a:p>
            <a:r>
              <a:rPr lang="en-US" dirty="0"/>
              <a:t>But wait, we saw interactive mode in Python the second day of class!</a:t>
            </a:r>
          </a:p>
          <a:p>
            <a:pPr lvl="1"/>
            <a:r>
              <a:rPr lang="en-US" dirty="0"/>
              <a:t>This seems super similar</a:t>
            </a:r>
          </a:p>
          <a:p>
            <a:pPr lvl="1"/>
            <a:r>
              <a:rPr lang="en-US" dirty="0"/>
              <a:t>Has some fun additional features…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216F6-DDA9-4029-A38F-DF933C6ED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679" y="2709199"/>
            <a:ext cx="1133475" cy="581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629F9E-C2D0-4B23-9642-BD9E0588D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05602" y="823459"/>
            <a:ext cx="2405198" cy="10021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698" y="2632109"/>
            <a:ext cx="714375" cy="657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8EFD47-A8AD-4ADD-AF31-38D26D02C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1542" y="2784484"/>
            <a:ext cx="409632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08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IPython</a:t>
            </a:r>
            <a:r>
              <a:rPr lang="en-US" dirty="0"/>
              <a:t> feature: Tab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5458"/>
            <a:ext cx="10515600" cy="4351338"/>
          </a:xfrm>
        </p:spPr>
        <p:txBody>
          <a:bodyPr/>
          <a:lstStyle/>
          <a:p>
            <a:r>
              <a:rPr lang="en-US" dirty="0"/>
              <a:t>Type part of a variable name, then hit tab – it will autocomplete</a:t>
            </a:r>
          </a:p>
          <a:p>
            <a:pPr lvl="1"/>
            <a:r>
              <a:rPr lang="en-US" dirty="0"/>
              <a:t>Or type variable name then . and &lt;tab&gt;, to see what you can do with it (append to a list for instance)</a:t>
            </a:r>
          </a:p>
          <a:p>
            <a:pPr lvl="2"/>
            <a:r>
              <a:rPr lang="en-US" dirty="0"/>
              <a:t>For this last one, must have run code where it was initialized first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D67F39-8EB8-4155-A83A-9FFBA3A5A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39047" y="4171225"/>
            <a:ext cx="2140675" cy="214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IPython</a:t>
            </a:r>
            <a:r>
              <a:rPr lang="en-US" dirty="0"/>
              <a:t> Feature: Introspection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Hit ?&lt;variable name&gt; to see information about the variable</a:t>
            </a:r>
          </a:p>
          <a:p>
            <a:pPr lvl="1"/>
            <a:r>
              <a:rPr lang="en-US" dirty="0"/>
              <a:t>What type it is</a:t>
            </a:r>
          </a:p>
          <a:p>
            <a:pPr lvl="1"/>
            <a:r>
              <a:rPr lang="en-US" dirty="0"/>
              <a:t>The values</a:t>
            </a:r>
          </a:p>
          <a:p>
            <a:pPr lvl="1"/>
            <a:r>
              <a:rPr lang="en-US" dirty="0"/>
              <a:t>The length</a:t>
            </a:r>
          </a:p>
          <a:p>
            <a:pPr lvl="1"/>
            <a:r>
              <a:rPr lang="en-US" dirty="0"/>
              <a:t>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13AA58-D745-48F4-A083-C12C0E838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80894" y="2901723"/>
            <a:ext cx="36671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7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6685" y="92983"/>
            <a:ext cx="10515600" cy="1325563"/>
          </a:xfrm>
        </p:spPr>
        <p:txBody>
          <a:bodyPr/>
          <a:lstStyle/>
          <a:p>
            <a:r>
              <a:rPr lang="en-US" dirty="0"/>
              <a:t>Downloading/Saving notebooks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171" y="1284514"/>
            <a:ext cx="10798629" cy="4892449"/>
          </a:xfrm>
        </p:spPr>
        <p:txBody>
          <a:bodyPr>
            <a:normAutofit/>
          </a:bodyPr>
          <a:lstStyle/>
          <a:p>
            <a:r>
              <a:rPr lang="en-US" dirty="0" err="1">
                <a:sym typeface="Wingdings" panose="05000000000000000000" pitchFamily="2" charset="2"/>
              </a:rPr>
              <a:t>JupyterLite</a:t>
            </a:r>
            <a:r>
              <a:rPr lang="en-US" dirty="0">
                <a:sym typeface="Wingdings" panose="05000000000000000000" pitchFamily="2" charset="2"/>
              </a:rPr>
              <a:t>: Right Click File  Download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Jupyter</a:t>
            </a:r>
            <a:r>
              <a:rPr lang="en-US" dirty="0">
                <a:sym typeface="Wingdings" panose="05000000000000000000" pitchFamily="2" charset="2"/>
              </a:rPr>
              <a:t>: File Save and Checkpoint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Colaboratory</a:t>
            </a:r>
            <a:r>
              <a:rPr lang="en-US" dirty="0">
                <a:sym typeface="Wingdings" panose="05000000000000000000" pitchFamily="2" charset="2"/>
              </a:rPr>
              <a:t>: File  Download </a:t>
            </a:r>
            <a:r>
              <a:rPr lang="en-US" dirty="0" err="1">
                <a:sym typeface="Wingdings" panose="05000000000000000000" pitchFamily="2" charset="2"/>
              </a:rPr>
              <a:t>ipynb</a:t>
            </a:r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Creates a .</a:t>
            </a:r>
            <a:r>
              <a:rPr lang="en-US" dirty="0" err="1">
                <a:sym typeface="Wingdings" panose="05000000000000000000" pitchFamily="2" charset="2"/>
              </a:rPr>
              <a:t>ipynb</a:t>
            </a:r>
            <a:r>
              <a:rPr lang="en-US" dirty="0">
                <a:sym typeface="Wingdings" panose="05000000000000000000" pitchFamily="2" charset="2"/>
              </a:rPr>
              <a:t> file In the directory you ran the command from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This is a self-contained file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Also contains the output from the latest run – helpful if you want someone else to see what output you got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78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feature: Running snippets of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if I want to change something above?</a:t>
            </a:r>
          </a:p>
          <a:p>
            <a:pPr lvl="1"/>
            <a:r>
              <a:rPr lang="en-US" dirty="0"/>
              <a:t>Need to re-run that piece of code</a:t>
            </a:r>
          </a:p>
          <a:p>
            <a:pPr lvl="1"/>
            <a:r>
              <a:rPr lang="en-US" dirty="0" err="1"/>
              <a:t>Jupyter</a:t>
            </a:r>
            <a:r>
              <a:rPr lang="en-US" dirty="0"/>
              <a:t> “remembers” what has been done in each previously-run block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Jupyter</a:t>
            </a:r>
            <a:r>
              <a:rPr lang="en-US" dirty="0"/>
              <a:t> allows you to run code blocks in any order</a:t>
            </a:r>
          </a:p>
          <a:p>
            <a:pPr lvl="1"/>
            <a:r>
              <a:rPr lang="en-US" dirty="0"/>
              <a:t>Warning: Can mess stuff up if run pieces of code out of order</a:t>
            </a:r>
          </a:p>
          <a:p>
            <a:pPr lvl="2"/>
            <a:r>
              <a:rPr lang="en-US" dirty="0"/>
              <a:t>Can be annoying/confusing</a:t>
            </a:r>
          </a:p>
          <a:p>
            <a:r>
              <a:rPr lang="en-US" dirty="0"/>
              <a:t>Can use up and down arrows to re-order blocks.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20DC9B-2CD1-4035-9300-1B5E25D1BBD9}"/>
              </a:ext>
            </a:extLst>
          </p:cNvPr>
          <p:cNvSpPr txBox="1"/>
          <p:nvPr/>
        </p:nvSpPr>
        <p:spPr>
          <a:xfrm>
            <a:off x="730785" y="3210060"/>
            <a:ext cx="92530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Can press                 or           </a:t>
            </a:r>
            <a:r>
              <a:rPr lang="en-US" sz="2800" dirty="0" err="1"/>
              <a:t>or</a:t>
            </a:r>
            <a:r>
              <a:rPr lang="en-US" sz="2800" dirty="0"/>
              <a:t>             to run just single snippet,</a:t>
            </a:r>
          </a:p>
          <a:p>
            <a:r>
              <a:rPr lang="en-US" sz="2800" dirty="0"/>
              <a:t> or          </a:t>
            </a:r>
            <a:r>
              <a:rPr lang="en-US" sz="2800" dirty="0" err="1"/>
              <a:t>or</a:t>
            </a:r>
            <a:r>
              <a:rPr lang="en-US" sz="2800" dirty="0"/>
              <a:t>     				to run all blocks</a:t>
            </a:r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BF2D7C-E271-4166-AEF3-AA3BBEFFB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298" y="3200206"/>
            <a:ext cx="1133475" cy="581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676341-8588-4B33-8DA4-345C8A6E1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58" y="3691731"/>
            <a:ext cx="638175" cy="619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526" y="3193888"/>
            <a:ext cx="714375" cy="6572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0971" y="3718070"/>
            <a:ext cx="3339415" cy="745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DB4FA6-E31B-404E-9530-BB5942C1BE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754" y="3339257"/>
            <a:ext cx="409632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4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Feature: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Doing graphs in </a:t>
            </a:r>
            <a:r>
              <a:rPr lang="en-US" dirty="0" err="1"/>
              <a:t>matplotlib</a:t>
            </a:r>
            <a:r>
              <a:rPr lang="en-US" dirty="0"/>
              <a:t> is a bit of a pain…</a:t>
            </a:r>
          </a:p>
          <a:p>
            <a:r>
              <a:rPr lang="en-US" dirty="0"/>
              <a:t>Have to do </a:t>
            </a:r>
            <a:r>
              <a:rPr lang="en-US" dirty="0" err="1"/>
              <a:t>plt.show</a:t>
            </a:r>
            <a:r>
              <a:rPr lang="en-US" dirty="0"/>
              <a:t>() which halts execution</a:t>
            </a:r>
          </a:p>
          <a:p>
            <a:pPr lvl="1"/>
            <a:r>
              <a:rPr lang="en-US" dirty="0"/>
              <a:t>Or </a:t>
            </a:r>
            <a:r>
              <a:rPr lang="en-US" dirty="0" err="1"/>
              <a:t>plt.savefig</a:t>
            </a:r>
            <a:r>
              <a:rPr lang="en-US" dirty="0"/>
              <a:t>() which saves a figure, then have to open it up etc.</a:t>
            </a:r>
          </a:p>
          <a:p>
            <a:r>
              <a:rPr lang="en-US" dirty="0" err="1"/>
              <a:t>Jupyter</a:t>
            </a:r>
            <a:r>
              <a:rPr lang="en-US" dirty="0"/>
              <a:t> allows us to combine graphs with code!</a:t>
            </a:r>
          </a:p>
          <a:p>
            <a:pPr lvl="1"/>
            <a:r>
              <a:rPr lang="en-US" dirty="0"/>
              <a:t>Can show graphs on screen right next to the section of code that generates it</a:t>
            </a:r>
          </a:p>
          <a:p>
            <a:pPr lvl="1"/>
            <a:r>
              <a:rPr lang="en-US" dirty="0"/>
              <a:t>No need to do </a:t>
            </a:r>
            <a:r>
              <a:rPr lang="en-US" dirty="0" err="1"/>
              <a:t>plt.show</a:t>
            </a:r>
            <a:r>
              <a:rPr lang="en-US" dirty="0"/>
              <a:t>() – </a:t>
            </a:r>
            <a:r>
              <a:rPr lang="en-US" dirty="0" err="1"/>
              <a:t>Jupyter</a:t>
            </a:r>
            <a:r>
              <a:rPr lang="en-US" dirty="0"/>
              <a:t> will auto-display results from </a:t>
            </a:r>
            <a:r>
              <a:rPr lang="en-US" dirty="0" err="1"/>
              <a:t>plt.plot</a:t>
            </a:r>
            <a:r>
              <a:rPr lang="en-US" dirty="0"/>
              <a:t>() etc.</a:t>
            </a:r>
          </a:p>
          <a:p>
            <a:pPr lvl="2"/>
            <a:r>
              <a:rPr lang="en-US" dirty="0"/>
              <a:t>Used to need “%matplotlib inline” for this, but no longer needed</a:t>
            </a:r>
          </a:p>
          <a:p>
            <a:pPr lvl="2"/>
            <a:r>
              <a:rPr lang="en-US" dirty="0"/>
              <a:t>Note: May take a bit longer to run (especially the first time) - * shown while processing</a:t>
            </a:r>
          </a:p>
          <a:p>
            <a:pPr lvl="2"/>
            <a:r>
              <a:rPr lang="en-US" dirty="0" err="1"/>
              <a:t>plt.show</a:t>
            </a:r>
            <a:r>
              <a:rPr lang="en-US" dirty="0"/>
              <a:t>() will remove the annoying “Line2D” thing though</a:t>
            </a:r>
          </a:p>
          <a:p>
            <a:pPr lvl="3"/>
            <a:r>
              <a:rPr lang="en-US" dirty="0"/>
              <a:t>But does not stop the code from continuing!</a:t>
            </a:r>
          </a:p>
          <a:p>
            <a:pPr lvl="1"/>
            <a:r>
              <a:rPr lang="en-US" dirty="0"/>
              <a:t>One of the biggest reasons </a:t>
            </a:r>
            <a:r>
              <a:rPr lang="en-US" dirty="0" err="1"/>
              <a:t>Jupyter</a:t>
            </a:r>
            <a:r>
              <a:rPr lang="en-US" dirty="0"/>
              <a:t> is popular for data science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9FD5C-0DC0-4E40-A479-9EE7B8156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049295" y="91647"/>
            <a:ext cx="3609825" cy="261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8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feature: Interspersing Headings, text, and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5479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Select “Markdown”, </a:t>
            </a:r>
          </a:p>
          <a:p>
            <a:pPr marL="457200" lvl="1" indent="0">
              <a:buNone/>
            </a:pPr>
            <a:r>
              <a:rPr lang="en-US" dirty="0"/>
              <a:t>“raw markdown,” </a:t>
            </a:r>
          </a:p>
          <a:p>
            <a:pPr marL="0" indent="0">
              <a:buNone/>
            </a:pPr>
            <a:r>
              <a:rPr lang="en-US" dirty="0"/>
              <a:t>	or “Text”  then:</a:t>
            </a:r>
          </a:p>
          <a:p>
            <a:pPr lvl="1"/>
            <a:r>
              <a:rPr lang="en-US" dirty="0"/>
              <a:t># Top level Heading</a:t>
            </a:r>
          </a:p>
          <a:p>
            <a:pPr lvl="1"/>
            <a:r>
              <a:rPr lang="en-US" dirty="0"/>
              <a:t>## Second level heading</a:t>
            </a:r>
          </a:p>
          <a:p>
            <a:endParaRPr lang="en-US" dirty="0"/>
          </a:p>
          <a:p>
            <a:r>
              <a:rPr lang="en-US" dirty="0"/>
              <a:t>Text</a:t>
            </a:r>
          </a:p>
          <a:p>
            <a:pPr lvl="1"/>
            <a:r>
              <a:rPr lang="en-US" dirty="0"/>
              <a:t>Select raw markdown to write freeform text</a:t>
            </a:r>
          </a:p>
          <a:p>
            <a:pPr lvl="2"/>
            <a:r>
              <a:rPr lang="en-US" dirty="0"/>
              <a:t>Often a replacement for block comments – describes what we are doing &amp; why</a:t>
            </a:r>
          </a:p>
          <a:p>
            <a:pPr lvl="1"/>
            <a:r>
              <a:rPr lang="en-US" dirty="0"/>
              <a:t>Run to finalize, double-click to edit</a:t>
            </a:r>
          </a:p>
          <a:p>
            <a:pPr lvl="1"/>
            <a:r>
              <a:rPr lang="en-US" dirty="0"/>
              <a:t>Can include LaTeX equations</a:t>
            </a:r>
          </a:p>
          <a:p>
            <a:pPr lvl="2"/>
            <a:r>
              <a:rPr lang="en-US" dirty="0"/>
              <a:t>$x^2$</a:t>
            </a:r>
          </a:p>
          <a:p>
            <a:pPr lvl="2"/>
            <a:r>
              <a:rPr lang="en-US" dirty="0"/>
              <a:t>$\sqrt{x}$</a:t>
            </a:r>
          </a:p>
          <a:p>
            <a:pPr lvl="2"/>
            <a:r>
              <a:rPr lang="en-US" dirty="0"/>
              <a:t>$\frac{x_0}{x_1}$</a:t>
            </a:r>
          </a:p>
          <a:p>
            <a:pPr lvl="2"/>
            <a:r>
              <a:rPr lang="en-US" dirty="0"/>
              <a:t>Don’t expect you to learn Latex in this course…</a:t>
            </a:r>
          </a:p>
          <a:p>
            <a:pPr lvl="3"/>
            <a:r>
              <a:rPr lang="en-US" dirty="0"/>
              <a:t>But at some point you really should.. Makes formatting long scientific documents much easier</a:t>
            </a:r>
          </a:p>
          <a:p>
            <a:r>
              <a:rPr lang="en-US" dirty="0"/>
              <a:t>Can even  include HTML tags and links (&lt;a </a:t>
            </a:r>
            <a:r>
              <a:rPr lang="en-US" dirty="0" err="1"/>
              <a:t>href</a:t>
            </a:r>
            <a:r>
              <a:rPr lang="en-US" dirty="0"/>
              <a:t>=“”&gt;&lt;/a&gt;)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12B23-7BC7-45D5-A12A-CC028D726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326517" y="1027906"/>
            <a:ext cx="7084423" cy="22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4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7747000" cy="4667251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JupyterLite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Drag and drop to data folder (left hand side)</a:t>
            </a:r>
          </a:p>
          <a:p>
            <a:pPr lvl="1"/>
            <a:r>
              <a:rPr lang="en-US" dirty="0"/>
              <a:t>Then can open as normal</a:t>
            </a:r>
          </a:p>
          <a:p>
            <a:pPr lvl="1"/>
            <a:r>
              <a:rPr lang="en-US" dirty="0"/>
              <a:t>May have trouble with certain Firefox installs (works fine in Chrome)</a:t>
            </a:r>
          </a:p>
          <a:p>
            <a:pPr lvl="1"/>
            <a:r>
              <a:rPr lang="en-US" dirty="0"/>
              <a:t>Uses browser storage to save files (NOT good for larger files – there is a limit of 50MB)</a:t>
            </a:r>
          </a:p>
          <a:p>
            <a:r>
              <a:rPr lang="en-US" dirty="0" err="1"/>
              <a:t>Jupyter</a:t>
            </a:r>
            <a:r>
              <a:rPr lang="en-US" dirty="0"/>
              <a:t> notebook:</a:t>
            </a:r>
          </a:p>
          <a:p>
            <a:pPr lvl="1"/>
            <a:r>
              <a:rPr lang="en-US" dirty="0"/>
              <a:t>Will look for data in the same folder that you ran the “</a:t>
            </a:r>
            <a:r>
              <a:rPr lang="en-US" dirty="0" err="1"/>
              <a:t>jupyter</a:t>
            </a:r>
            <a:r>
              <a:rPr lang="en-US" dirty="0"/>
              <a:t> notebook” command from</a:t>
            </a:r>
          </a:p>
          <a:p>
            <a:r>
              <a:rPr lang="en-US" dirty="0" err="1"/>
              <a:t>Colaboratory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This is more difficult, unfortunately</a:t>
            </a:r>
          </a:p>
          <a:p>
            <a:pPr lvl="1"/>
            <a:r>
              <a:rPr lang="en-US" dirty="0"/>
              <a:t>Similar to </a:t>
            </a:r>
            <a:r>
              <a:rPr lang="en-US" dirty="0" err="1"/>
              <a:t>JupyterLite</a:t>
            </a:r>
            <a:r>
              <a:rPr lang="en-US" dirty="0"/>
              <a:t>, but data deleted frequently </a:t>
            </a:r>
          </a:p>
          <a:p>
            <a:pPr lvl="1"/>
            <a:r>
              <a:rPr lang="en-US" dirty="0"/>
              <a:t>This is due to the fact that </a:t>
            </a:r>
            <a:r>
              <a:rPr lang="en-US" dirty="0" err="1"/>
              <a:t>Colaboratory</a:t>
            </a:r>
            <a:r>
              <a:rPr lang="en-US" dirty="0"/>
              <a:t> is run on Google’s servers</a:t>
            </a:r>
          </a:p>
          <a:p>
            <a:pPr lvl="1"/>
            <a:r>
              <a:rPr lang="en-US" dirty="0"/>
              <a:t>Google Drive is another option, but requires </a:t>
            </a:r>
          </a:p>
          <a:p>
            <a:pPr marL="457200" lvl="1" indent="0">
              <a:buNone/>
            </a:pPr>
            <a:r>
              <a:rPr lang="en-US" dirty="0"/>
              <a:t>	other code + permissions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C689C7-B426-43A8-BAA5-86A9CB69F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0" y="-162426"/>
            <a:ext cx="5485299" cy="282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51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572" y="-146549"/>
            <a:ext cx="10515600" cy="1325563"/>
          </a:xfrm>
        </p:spPr>
        <p:txBody>
          <a:bodyPr/>
          <a:lstStyle/>
          <a:p>
            <a:r>
              <a:rPr lang="en-US" dirty="0"/>
              <a:t>When it’s all put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818" y="845911"/>
            <a:ext cx="10515600" cy="4351338"/>
          </a:xfrm>
        </p:spPr>
        <p:txBody>
          <a:bodyPr/>
          <a:lstStyle/>
          <a:p>
            <a:r>
              <a:rPr lang="en-US" dirty="0"/>
              <a:t>It’s effectively an interactive report!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232F0B-0B3D-4C3F-A1A0-76DA2CA17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899" y="1365964"/>
            <a:ext cx="7750979" cy="567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0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70B6-1CFB-48EB-BC74-8140EDCF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1A6F-187E-4ED1-A0A1-544A7FAB7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a simple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lvl="1"/>
            <a:r>
              <a:rPr lang="en-US" dirty="0"/>
              <a:t>Can use any method but I think </a:t>
            </a:r>
            <a:r>
              <a:rPr lang="en-US" dirty="0" err="1"/>
              <a:t>JupyterLite</a:t>
            </a:r>
            <a:r>
              <a:rPr lang="en-US" dirty="0"/>
              <a:t> is the easiest!</a:t>
            </a:r>
          </a:p>
          <a:p>
            <a:r>
              <a:rPr lang="en-US" dirty="0"/>
              <a:t>Next up: Review and Test 2</a:t>
            </a:r>
          </a:p>
        </p:txBody>
      </p:sp>
    </p:spTree>
    <p:extLst>
      <p:ext uri="{BB962C8B-B14F-4D97-AF65-F5344CB8AC3E}">
        <p14:creationId xmlns:p14="http://schemas.microsoft.com/office/powerpoint/2010/main" val="290561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14156</TotalTime>
  <Words>1027</Words>
  <Application>Microsoft Office PowerPoint</Application>
  <PresentationFormat>Widescreen</PresentationFormat>
  <Paragraphs>138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DATA/CS 172: Python for Data Analysis</vt:lpstr>
      <vt:lpstr>Reminders</vt:lpstr>
      <vt:lpstr>Today</vt:lpstr>
      <vt:lpstr>So far, we’ve been editing our code using IDEs</vt:lpstr>
      <vt:lpstr>Jupyter: Many ways to access</vt:lpstr>
      <vt:lpstr>IPython</vt:lpstr>
      <vt:lpstr>IPython feature: Tab completion</vt:lpstr>
      <vt:lpstr>IPython Feature: Introspection</vt:lpstr>
      <vt:lpstr>Downloading/Saving notebooks</vt:lpstr>
      <vt:lpstr>Jupyter feature: Running snippets of code</vt:lpstr>
      <vt:lpstr>Jupyter Feature: Graphs</vt:lpstr>
      <vt:lpstr>Jupyter feature: Interspersing Headings, text, and equations</vt:lpstr>
      <vt:lpstr>Loading data</vt:lpstr>
      <vt:lpstr>When it’s all put together</vt:lpstr>
      <vt:lpstr>Lab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CS150: Intro to computer Science I</dc:title>
  <dc:creator>Travis Mandel</dc:creator>
  <cp:lastModifiedBy>Travis Mandel</cp:lastModifiedBy>
  <cp:revision>340</cp:revision>
  <dcterms:created xsi:type="dcterms:W3CDTF">2017-08-18T20:15:43Z</dcterms:created>
  <dcterms:modified xsi:type="dcterms:W3CDTF">2024-11-06T22:34:10Z</dcterms:modified>
</cp:coreProperties>
</file>