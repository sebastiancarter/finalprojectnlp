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58" r:id="rId4"/>
    <p:sldId id="305" r:id="rId5"/>
    <p:sldId id="261" r:id="rId6"/>
    <p:sldId id="259" r:id="rId7"/>
    <p:sldId id="260" r:id="rId8"/>
    <p:sldId id="262" r:id="rId9"/>
    <p:sldId id="263" r:id="rId10"/>
    <p:sldId id="264" r:id="rId11"/>
    <p:sldId id="266" r:id="rId12"/>
    <p:sldId id="267" r:id="rId13"/>
    <p:sldId id="269" r:id="rId14"/>
    <p:sldId id="306" r:id="rId15"/>
    <p:sldId id="268" r:id="rId1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580" autoAdjust="0"/>
  </p:normalViewPr>
  <p:slideViewPr>
    <p:cSldViewPr snapToGrid="0">
      <p:cViewPr varScale="1">
        <p:scale>
          <a:sx n="133" d="100"/>
          <a:sy n="133" d="100"/>
        </p:scale>
        <p:origin x="162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9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98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9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2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5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5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52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5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3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6CD73-1AB1-426C-A3A3-68606F7142A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68E9A-9817-4568-B528-22DF4883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3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7/08/how-data-analytics-affecting-our-everyday-lives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407236" cy="1977828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86000"/>
            <a:ext cx="9144000" cy="1655762"/>
          </a:xfrm>
        </p:spPr>
        <p:txBody>
          <a:bodyPr/>
          <a:lstStyle/>
          <a:p>
            <a:r>
              <a:rPr lang="en-US" dirty="0"/>
              <a:t>Data Files in Python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8/30/2024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816150" y="3565834"/>
            <a:ext cx="2724117" cy="28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46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Monday is a holiday</a:t>
            </a:r>
          </a:p>
          <a:p>
            <a:pPr lvl="1"/>
            <a:r>
              <a:rPr lang="en-US" dirty="0"/>
              <a:t>No class</a:t>
            </a:r>
          </a:p>
          <a:p>
            <a:r>
              <a:rPr lang="en-US" dirty="0"/>
              <a:t>Today is the deadline for applying to the AI research assistant position</a:t>
            </a:r>
          </a:p>
          <a:p>
            <a:pPr lvl="1"/>
            <a:r>
              <a:rPr lang="en-US" dirty="0"/>
              <a:t>Send me an email with transcript, a paragraph about why you’re interested, a paragraph about your experience, and what modality you would prefer</a:t>
            </a:r>
          </a:p>
        </p:txBody>
      </p:sp>
    </p:spTree>
    <p:extLst>
      <p:ext uri="{BB962C8B-B14F-4D97-AF65-F5344CB8AC3E}">
        <p14:creationId xmlns:p14="http://schemas.microsoft.com/office/powerpoint/2010/main" val="165175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 wrap-up</a:t>
            </a:r>
          </a:p>
          <a:p>
            <a:r>
              <a:rPr lang="en-US" dirty="0"/>
              <a:t>Basics of loading data into Python</a:t>
            </a:r>
          </a:p>
          <a:p>
            <a:r>
              <a:rPr lang="en-US" dirty="0"/>
              <a:t>Basics of writing out processed data with Python</a:t>
            </a:r>
          </a:p>
        </p:txBody>
      </p:sp>
    </p:spTree>
    <p:extLst>
      <p:ext uri="{BB962C8B-B14F-4D97-AF65-F5344CB8AC3E}">
        <p14:creationId xmlns:p14="http://schemas.microsoft.com/office/powerpoint/2010/main" val="14650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Multi-line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time we learned comments start with #</a:t>
            </a:r>
          </a:p>
          <a:p>
            <a:r>
              <a:rPr lang="en-US" dirty="0"/>
              <a:t>Advanced: can (kind of) do multi-line comments with three quotes ‘’’</a:t>
            </a:r>
          </a:p>
          <a:p>
            <a:pPr lvl="1"/>
            <a:r>
              <a:rPr lang="en-US" dirty="0"/>
              <a:t>Demo</a:t>
            </a:r>
          </a:p>
        </p:txBody>
      </p:sp>
      <p:pic>
        <p:nvPicPr>
          <p:cNvPr id="4" name="Picture 3" descr="Ficheiro:&lt;strong&gt;Comments&lt;/strong&gt; alt font awesome.svg – Wikipédia, a enciclopédia livr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23" y="0"/>
            <a:ext cx="2003738" cy="20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1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Supposed to be a class on </a:t>
            </a:r>
            <a:r>
              <a:rPr lang="en-US" b="1" dirty="0"/>
              <a:t>Data Analysis </a:t>
            </a:r>
            <a:r>
              <a:rPr lang="en-US" dirty="0"/>
              <a:t>with Python…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not touched any data yet!</a:t>
            </a:r>
          </a:p>
          <a:p>
            <a:r>
              <a:rPr lang="en-US" dirty="0"/>
              <a:t>LOTS more to learn about Python</a:t>
            </a:r>
          </a:p>
          <a:p>
            <a:pPr lvl="1"/>
            <a:r>
              <a:rPr lang="en-US" dirty="0"/>
              <a:t>Don’t worry, we’ll get to this</a:t>
            </a:r>
          </a:p>
          <a:p>
            <a:r>
              <a:rPr lang="en-US" dirty="0"/>
              <a:t>But since this is a data science class, we need to get started with data right away!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F0B71-E6D5-4B93-949C-C76A71CDA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89400" y="3750469"/>
            <a:ext cx="5524500" cy="31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9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Hard coding</a:t>
            </a:r>
          </a:p>
          <a:p>
            <a:pPr lvl="1"/>
            <a:r>
              <a:rPr lang="en-US" dirty="0"/>
              <a:t>Usually, not good!</a:t>
            </a:r>
          </a:p>
          <a:p>
            <a:r>
              <a:rPr lang="en-US" dirty="0"/>
              <a:t>User typing it in by hand </a:t>
            </a:r>
          </a:p>
          <a:p>
            <a:pPr lvl="1"/>
            <a:r>
              <a:rPr lang="en-US" dirty="0"/>
              <a:t>Example: print(“What’s the current rainfall reading?”)</a:t>
            </a:r>
          </a:p>
          <a:p>
            <a:pPr lvl="1"/>
            <a:r>
              <a:rPr lang="en-US" dirty="0"/>
              <a:t>Not very common:</a:t>
            </a:r>
          </a:p>
          <a:p>
            <a:pPr lvl="2"/>
            <a:r>
              <a:rPr lang="en-US" dirty="0"/>
              <a:t>Doesn’t scale to a lot of data</a:t>
            </a:r>
          </a:p>
          <a:p>
            <a:pPr lvl="2"/>
            <a:r>
              <a:rPr lang="en-US" dirty="0"/>
              <a:t>If they type interactively, difficult to reproduce </a:t>
            </a:r>
          </a:p>
          <a:p>
            <a:r>
              <a:rPr lang="en-US" dirty="0"/>
              <a:t>Data files</a:t>
            </a:r>
          </a:p>
          <a:p>
            <a:r>
              <a:rPr lang="en-US" dirty="0"/>
              <a:t>Web APIs</a:t>
            </a:r>
          </a:p>
          <a:p>
            <a:r>
              <a:rPr lang="en-US" dirty="0"/>
              <a:t>Databases</a:t>
            </a:r>
          </a:p>
        </p:txBody>
      </p:sp>
      <p:pic>
        <p:nvPicPr>
          <p:cNvPr id="4" name="Picture 3" descr="Why are search icons represented by a magnifying glass? - User Experience Stack Exchan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375" y="283931"/>
            <a:ext cx="2559627" cy="295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4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Files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Stored somewhere on disk</a:t>
            </a:r>
          </a:p>
          <a:p>
            <a:r>
              <a:rPr lang="en-US" dirty="0"/>
              <a:t>Could be in any format  - .txt, .</a:t>
            </a:r>
            <a:r>
              <a:rPr lang="en-US" dirty="0" err="1"/>
              <a:t>xlsx</a:t>
            </a:r>
            <a:r>
              <a:rPr lang="en-US" dirty="0"/>
              <a:t>, .csv, .</a:t>
            </a:r>
            <a:r>
              <a:rPr lang="en-US" dirty="0" err="1"/>
              <a:t>json</a:t>
            </a:r>
            <a:r>
              <a:rPr lang="en-US" dirty="0"/>
              <a:t>, etc.</a:t>
            </a:r>
          </a:p>
          <a:p>
            <a:r>
              <a:rPr lang="en-US" dirty="0"/>
              <a:t>We’ll talk about more advanced formats later- for now just assume text (.txt)</a:t>
            </a:r>
          </a:p>
          <a:p>
            <a:r>
              <a:rPr lang="en-US" dirty="0"/>
              <a:t>Two important things</a:t>
            </a:r>
          </a:p>
          <a:p>
            <a:pPr lvl="1"/>
            <a:r>
              <a:rPr lang="en-US" b="1" dirty="0"/>
              <a:t>Reading</a:t>
            </a:r>
            <a:r>
              <a:rPr lang="en-US" dirty="0"/>
              <a:t>: Get all the text out of the file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pPr lvl="1"/>
            <a:r>
              <a:rPr lang="en-US" b="1" dirty="0"/>
              <a:t>Writing</a:t>
            </a:r>
            <a:r>
              <a:rPr lang="en-US" dirty="0"/>
              <a:t>: Put new stuff in the file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pPr lvl="2"/>
            <a:r>
              <a:rPr lang="en-US" dirty="0"/>
              <a:t>Why could writing be important in data science?</a:t>
            </a:r>
          </a:p>
          <a:p>
            <a:pPr lvl="2"/>
            <a:r>
              <a:rPr lang="en-US" dirty="0"/>
              <a:t>For example, processing data before handing it off to someone else</a:t>
            </a:r>
          </a:p>
          <a:p>
            <a:pPr lvl="3"/>
            <a:r>
              <a:rPr lang="en-US" dirty="0"/>
              <a:t>Original File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Python Script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Processed 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6688"/>
          <a:stretch/>
        </p:blipFill>
        <p:spPr>
          <a:xfrm>
            <a:off x="9067912" y="66502"/>
            <a:ext cx="3017928" cy="253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2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working with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Open the file</a:t>
            </a:r>
          </a:p>
          <a:p>
            <a:r>
              <a:rPr lang="en-US" dirty="0"/>
              <a:t>Step 2: Read (or write) the contents of the file</a:t>
            </a:r>
          </a:p>
          <a:p>
            <a:r>
              <a:rPr lang="en-US" dirty="0"/>
              <a:t>Step 3: Close the file</a:t>
            </a:r>
          </a:p>
        </p:txBody>
      </p:sp>
    </p:spTree>
    <p:extLst>
      <p:ext uri="{BB962C8B-B14F-4D97-AF65-F5344CB8AC3E}">
        <p14:creationId xmlns:p14="http://schemas.microsoft.com/office/powerpoint/2010/main" val="260743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Open the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myfile</a:t>
            </a:r>
            <a:r>
              <a:rPr lang="en-US" dirty="0"/>
              <a:t> = open(“example.txt”, &lt;mode&gt;)</a:t>
            </a:r>
          </a:p>
          <a:p>
            <a:pPr marL="0" indent="0">
              <a:buNone/>
            </a:pPr>
            <a:r>
              <a:rPr lang="en-US" dirty="0"/>
              <a:t>What is &lt;mode&gt;?</a:t>
            </a:r>
          </a:p>
          <a:p>
            <a:pPr marL="0" indent="0">
              <a:buNone/>
            </a:pPr>
            <a:r>
              <a:rPr lang="en-US" dirty="0"/>
              <a:t>	“r” - read</a:t>
            </a:r>
          </a:p>
          <a:p>
            <a:pPr marL="0" indent="0">
              <a:buNone/>
            </a:pPr>
            <a:r>
              <a:rPr lang="en-US" dirty="0"/>
              <a:t>	“w” – write, and if not there, create</a:t>
            </a:r>
          </a:p>
          <a:p>
            <a:pPr marL="0" indent="0">
              <a:buNone/>
            </a:pPr>
            <a:r>
              <a:rPr lang="en-US" dirty="0"/>
              <a:t>	w </a:t>
            </a:r>
            <a:r>
              <a:rPr lang="en-US" b="1" dirty="0"/>
              <a:t>overwrites anything there already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“x” – similar to “w”, but give error if file already exists</a:t>
            </a:r>
          </a:p>
          <a:p>
            <a:pPr marL="0" indent="0">
              <a:buNone/>
            </a:pPr>
            <a:r>
              <a:rPr lang="en-US" dirty="0"/>
              <a:t>	“a” – append output to end of file (useful for logs)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Remember these!</a:t>
            </a:r>
          </a:p>
        </p:txBody>
      </p:sp>
      <p:pic>
        <p:nvPicPr>
          <p:cNvPr id="4" name="Picture 3" descr="nieuw begin | Anneke schrijf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298" y="143854"/>
            <a:ext cx="3492846" cy="261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Reading/writing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22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Read the file</a:t>
            </a:r>
          </a:p>
          <a:p>
            <a:pPr lvl="1"/>
            <a:r>
              <a:rPr lang="en-US" dirty="0"/>
              <a:t>contents = </a:t>
            </a:r>
            <a:r>
              <a:rPr lang="en-US" dirty="0" err="1"/>
              <a:t>myfile.read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Reads </a:t>
            </a:r>
            <a:r>
              <a:rPr lang="en-US" b="1" dirty="0"/>
              <a:t>the whole file </a:t>
            </a:r>
            <a:r>
              <a:rPr lang="en-US" dirty="0"/>
              <a:t>into the contents variable</a:t>
            </a:r>
          </a:p>
          <a:p>
            <a:pPr lvl="2"/>
            <a:r>
              <a:rPr lang="en-US" dirty="0"/>
              <a:t>Probably not what we want with big files… we will soon learn better ways to read files!</a:t>
            </a:r>
          </a:p>
          <a:p>
            <a:r>
              <a:rPr lang="en-US" dirty="0"/>
              <a:t>Or…Write to the file</a:t>
            </a:r>
          </a:p>
          <a:p>
            <a:pPr lvl="1"/>
            <a:r>
              <a:rPr lang="en-US" dirty="0"/>
              <a:t>Seems similar to printing</a:t>
            </a:r>
          </a:p>
          <a:p>
            <a:pPr lvl="1"/>
            <a:r>
              <a:rPr lang="en-US" dirty="0"/>
              <a:t>print(“Hello file”, file=</a:t>
            </a:r>
            <a:r>
              <a:rPr lang="en-US" dirty="0" err="1"/>
              <a:t>myfile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file= should always be the last thing in the print</a:t>
            </a:r>
          </a:p>
          <a:p>
            <a:pPr lvl="1"/>
            <a:r>
              <a:rPr lang="en-US" dirty="0"/>
              <a:t>There’s an old way called “write” but it is not usually a good idea</a:t>
            </a:r>
          </a:p>
          <a:p>
            <a:r>
              <a:rPr lang="en-US" dirty="0"/>
              <a:t>Remember: The file has to be in the right mode for what you want to do!</a:t>
            </a:r>
          </a:p>
          <a:p>
            <a:pPr lvl="1"/>
            <a:r>
              <a:rPr lang="en-US" dirty="0"/>
              <a:t>Doesn’t usually make sense to read and write at the same time</a:t>
            </a:r>
          </a:p>
        </p:txBody>
      </p:sp>
      <p:pic>
        <p:nvPicPr>
          <p:cNvPr id="4" name="Picture 3" descr="Mistress of Well-Intentioned Indecision: April 20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469" y="142702"/>
            <a:ext cx="4039985" cy="20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9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close the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myFile.close</a:t>
            </a:r>
            <a:r>
              <a:rPr lang="en-US" dirty="0"/>
              <a:t>()</a:t>
            </a:r>
          </a:p>
          <a:p>
            <a:r>
              <a:rPr lang="en-US" dirty="0"/>
              <a:t>Very important: If file left open it can prevent others from accessing it!</a:t>
            </a:r>
          </a:p>
          <a:p>
            <a:pPr lvl="1"/>
            <a:r>
              <a:rPr lang="en-US" dirty="0"/>
              <a:t>So (in general) </a:t>
            </a:r>
            <a:r>
              <a:rPr lang="en-US" b="1" dirty="0"/>
              <a:t>files should be closed as soon as possible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Please &lt;strong&gt;Close&lt;/strong&gt; &lt;strong&gt;The Door&lt;/strong&gt; | Flickr - Photo Sharing!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018" y="0"/>
            <a:ext cx="2382982" cy="178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7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8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Forgetting to close is a nasty problem</a:t>
            </a:r>
          </a:p>
          <a:p>
            <a:r>
              <a:rPr lang="en-US" dirty="0"/>
              <a:t>Some people prefer to use “with” style so they don’t forget</a:t>
            </a:r>
          </a:p>
          <a:p>
            <a:pPr marL="0" indent="0">
              <a:buNone/>
            </a:pPr>
            <a:r>
              <a:rPr lang="en-US" dirty="0"/>
              <a:t>with open(…) as f:</a:t>
            </a:r>
          </a:p>
          <a:p>
            <a:pPr marL="457200" lvl="1" indent="0">
              <a:buNone/>
            </a:pPr>
            <a:r>
              <a:rPr lang="en-US" dirty="0"/>
              <a:t>contents = </a:t>
            </a:r>
            <a:r>
              <a:rPr lang="en-US" dirty="0" err="1"/>
              <a:t>f.read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No need for close because can’t use f outside the indented lines!</a:t>
            </a:r>
          </a:p>
          <a:p>
            <a:r>
              <a:rPr lang="en-US" dirty="0"/>
              <a:t>The indent is important!</a:t>
            </a:r>
          </a:p>
          <a:p>
            <a:r>
              <a:rPr lang="en-US" dirty="0"/>
              <a:t>Doesn’t work in every situation, but can be pretty handy</a:t>
            </a:r>
          </a:p>
        </p:txBody>
      </p:sp>
      <p:pic>
        <p:nvPicPr>
          <p:cNvPr id="4" name="Picture 3" descr="File:Ic format &lt;strong&gt;indent&lt;/strong&gt; increase 48px.sv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498" y="-290946"/>
            <a:ext cx="2901142" cy="290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4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0ABC-A840-86C5-F9BD-55E9148A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159E-961A-C3C0-7032-C58B4B5D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want to read a file multiple times?</a:t>
            </a:r>
          </a:p>
          <a:p>
            <a:pPr lvl="1"/>
            <a:r>
              <a:rPr lang="en-US" dirty="0"/>
              <a:t>Why would you want to do this?  Sometimes it’s more efficient way to write code</a:t>
            </a:r>
          </a:p>
          <a:p>
            <a:pPr lvl="1"/>
            <a:r>
              <a:rPr lang="en-US" dirty="0"/>
              <a:t>But this is a bit tricky….</a:t>
            </a:r>
          </a:p>
          <a:p>
            <a:r>
              <a:rPr lang="en-US" dirty="0"/>
              <a:t>Idea1:</a:t>
            </a:r>
          </a:p>
          <a:p>
            <a:r>
              <a:rPr lang="en-US" dirty="0"/>
              <a:t>f = open()</a:t>
            </a:r>
          </a:p>
          <a:p>
            <a:r>
              <a:rPr lang="en-US" dirty="0"/>
              <a:t>contents = </a:t>
            </a:r>
            <a:r>
              <a:rPr lang="en-US" dirty="0" err="1"/>
              <a:t>f.read</a:t>
            </a:r>
            <a:r>
              <a:rPr lang="en-US" dirty="0"/>
              <a:t>()</a:t>
            </a:r>
          </a:p>
          <a:p>
            <a:r>
              <a:rPr lang="en-US" dirty="0"/>
              <a:t>contents2 = </a:t>
            </a:r>
            <a:r>
              <a:rPr lang="en-US" dirty="0" err="1"/>
              <a:t>f.read</a:t>
            </a:r>
            <a:r>
              <a:rPr lang="en-US" dirty="0"/>
              <a:t>()</a:t>
            </a:r>
          </a:p>
          <a:p>
            <a:r>
              <a:rPr lang="en-US" dirty="0"/>
              <a:t>Doesn’t work!  See demo for solution</a:t>
            </a:r>
          </a:p>
        </p:txBody>
      </p:sp>
    </p:spTree>
    <p:extLst>
      <p:ext uri="{BB962C8B-B14F-4D97-AF65-F5344CB8AC3E}">
        <p14:creationId xmlns:p14="http://schemas.microsoft.com/office/powerpoint/2010/main" val="386067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 out!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3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710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DATA/CS 172: Python for Data Analysis</vt:lpstr>
      <vt:lpstr>Reminder</vt:lpstr>
      <vt:lpstr>Today</vt:lpstr>
      <vt:lpstr>Multi-line comments</vt:lpstr>
      <vt:lpstr>Supposed to be a class on Data Analysis with Python…</vt:lpstr>
      <vt:lpstr>Where does data come from?</vt:lpstr>
      <vt:lpstr>Data Files </vt:lpstr>
      <vt:lpstr>Steps to working with a file</vt:lpstr>
      <vt:lpstr>Step 1: Open the file</vt:lpstr>
      <vt:lpstr>Step 2: Reading/writing</vt:lpstr>
      <vt:lpstr>Step 3: close the file</vt:lpstr>
      <vt:lpstr>Demo</vt:lpstr>
      <vt:lpstr>Another way</vt:lpstr>
      <vt:lpstr>Important note</vt:lpstr>
      <vt:lpstr>Lab 2 out!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 Mandel</dc:creator>
  <cp:lastModifiedBy>Travis Mandel</cp:lastModifiedBy>
  <cp:revision>46</cp:revision>
  <cp:lastPrinted>2018-08-29T19:34:02Z</cp:lastPrinted>
  <dcterms:created xsi:type="dcterms:W3CDTF">2018-08-18T19:28:00Z</dcterms:created>
  <dcterms:modified xsi:type="dcterms:W3CDTF">2024-08-30T18:51:02Z</dcterms:modified>
</cp:coreProperties>
</file>