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314" r:id="rId5"/>
    <p:sldId id="315" r:id="rId6"/>
    <p:sldId id="316" r:id="rId7"/>
    <p:sldId id="317" r:id="rId8"/>
    <p:sldId id="318" r:id="rId9"/>
    <p:sldId id="321" r:id="rId10"/>
    <p:sldId id="319" r:id="rId11"/>
    <p:sldId id="320" r:id="rId12"/>
    <p:sldId id="322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tickyjesus.com/tag/holy-spirit/page/3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fillet/329850668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theconversation.com/bankers-will-lie-at-the-toss-of-a-coin-but-only-when-at-work-says-new-study-3446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d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penclipart.org/detail/13226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ulette#Outside_bets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overhand6.jp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tinuous_uniform_distributi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atisfyingretirement.blogspot.com/2016/07/why-retirement-may-be-bad-for-you_22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d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Randomness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10/14/2024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Reminder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11 due today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Randomness</a:t>
            </a:r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3FBA-7D2D-433D-9615-EE541733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now our scripts are deterministic…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E6D8-C17E-408C-B799-493FE96F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same data, do the same thing</a:t>
            </a:r>
          </a:p>
          <a:p>
            <a:r>
              <a:rPr lang="en-US" dirty="0"/>
              <a:t>Often what we want, but not always….</a:t>
            </a:r>
          </a:p>
          <a:p>
            <a:pPr lvl="1"/>
            <a:r>
              <a:rPr lang="en-US" dirty="0"/>
              <a:t>Want to test the system with synthetic data?</a:t>
            </a:r>
          </a:p>
          <a:p>
            <a:pPr lvl="2"/>
            <a:r>
              <a:rPr lang="en-US" dirty="0"/>
              <a:t>Need randomness!</a:t>
            </a:r>
          </a:p>
          <a:p>
            <a:pPr lvl="1"/>
            <a:r>
              <a:rPr lang="en-US" dirty="0"/>
              <a:t>Want to simulate a natural phenomenon?</a:t>
            </a:r>
          </a:p>
          <a:p>
            <a:pPr lvl="2"/>
            <a:r>
              <a:rPr lang="en-US" dirty="0"/>
              <a:t>Need randomness!</a:t>
            </a:r>
          </a:p>
          <a:p>
            <a:pPr lvl="1"/>
            <a:r>
              <a:rPr lang="en-US" dirty="0"/>
              <a:t>Want security and privacy?</a:t>
            </a:r>
          </a:p>
          <a:p>
            <a:pPr lvl="2"/>
            <a:r>
              <a:rPr lang="en-US" dirty="0"/>
              <a:t>Need randomness?</a:t>
            </a:r>
          </a:p>
          <a:p>
            <a:pPr lvl="1"/>
            <a:r>
              <a:rPr lang="en-US" dirty="0"/>
              <a:t>Want advanced analysis/ machine learning?</a:t>
            </a:r>
          </a:p>
          <a:p>
            <a:pPr lvl="2"/>
            <a:r>
              <a:rPr lang="en-US" dirty="0"/>
              <a:t>Need randomness!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3723F-2E23-460F-A3F7-0D28B0B1BD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88824" y="2308412"/>
            <a:ext cx="228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9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772E-4E9D-45DD-B69B-F5F81BFB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0DC42-FA89-4E22-A481-095F287C0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concept of randomness is incredibly important to data science</a:t>
            </a:r>
          </a:p>
          <a:p>
            <a:r>
              <a:rPr lang="en-US" dirty="0"/>
              <a:t>Without the concept of randomness, statistics wouldn’t exist!</a:t>
            </a:r>
          </a:p>
          <a:p>
            <a:endParaRPr lang="en-US" dirty="0"/>
          </a:p>
          <a:p>
            <a:r>
              <a:rPr lang="en-US" dirty="0"/>
              <a:t>What is randomness?</a:t>
            </a:r>
          </a:p>
          <a:p>
            <a:pPr lvl="1"/>
            <a:r>
              <a:rPr lang="en-US" dirty="0"/>
              <a:t>Informally: Different stuff happens each time</a:t>
            </a:r>
          </a:p>
          <a:p>
            <a:pPr lvl="1"/>
            <a:r>
              <a:rPr lang="en-US" dirty="0"/>
              <a:t>Slightly more formal: A set of </a:t>
            </a:r>
            <a:r>
              <a:rPr lang="en-US" b="1" dirty="0"/>
              <a:t>outcomes</a:t>
            </a:r>
            <a:r>
              <a:rPr lang="en-US" dirty="0"/>
              <a:t>, each assigned a specific </a:t>
            </a:r>
            <a:r>
              <a:rPr lang="en-US" b="1" dirty="0"/>
              <a:t>probability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4160C3-EE98-47F1-970E-6C5FFAE18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63083" y="4802426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6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F84C-2265-4A07-860A-CCFBF701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8F03C-1588-4A63-9701-A3769BCE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Two Outcomes – Heads and Tails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Probability of each outcome:</a:t>
            </a:r>
          </a:p>
          <a:p>
            <a:pPr marL="0" indent="0">
              <a:buNone/>
            </a:pPr>
            <a:r>
              <a:rPr lang="en-US" dirty="0"/>
              <a:t>Heads = 50% of the time = 0.5 probability</a:t>
            </a:r>
          </a:p>
          <a:p>
            <a:pPr marL="0" indent="0">
              <a:buNone/>
            </a:pPr>
            <a:r>
              <a:rPr lang="en-US" dirty="0"/>
              <a:t>Tails = 50% of the time = 0.5 probability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Probabilities </a:t>
            </a:r>
            <a:r>
              <a:rPr lang="en-US" b="1" dirty="0"/>
              <a:t>must sum to 1 </a:t>
            </a:r>
            <a:r>
              <a:rPr lang="en-US" dirty="0"/>
              <a:t>(100%)!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E715-D371-4C0C-B8F3-C63F44E9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53933" y="552778"/>
            <a:ext cx="4438067" cy="3348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51F96-B2A8-43C4-978E-A6050ECF4DF3}"/>
              </a:ext>
            </a:extLst>
          </p:cNvPr>
          <p:cNvSpPr txBox="1"/>
          <p:nvPr/>
        </p:nvSpPr>
        <p:spPr>
          <a:xfrm>
            <a:off x="7753933" y="3531947"/>
            <a:ext cx="44380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heconversation.com/bankers-will-lie-at-the-toss-of-a-coin-but-only-when-at-work-says-new-study-34463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d/3.0/"/>
              </a:rPr>
              <a:t>CC BY-ND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8029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0C41-3440-466F-9974-9428661C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FB1E-41E5-43ED-BF89-471F2540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Six outcomes 1,2,3,4,5,6</a:t>
            </a:r>
          </a:p>
          <a:p>
            <a:r>
              <a:rPr lang="en-US" dirty="0"/>
              <a:t>Each outcome has probability 0.16666666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484300-ED22-4FC7-BB07-E8B4BB40D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122111"/>
            <a:ext cx="6603990" cy="513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1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F93B-08C3-47D1-BD87-9AF58DF1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randomly-chosen int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A41F-3309-47FB-B60A-5E0942E5E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65929"/>
            <a:ext cx="10515600" cy="3111034"/>
          </a:xfrm>
        </p:spPr>
        <p:txBody>
          <a:bodyPr/>
          <a:lstStyle/>
          <a:p>
            <a:r>
              <a:rPr lang="en-US" dirty="0"/>
              <a:t>import random </a:t>
            </a:r>
            <a:r>
              <a:rPr lang="en-US" dirty="0">
                <a:sym typeface="Wingdings" panose="05000000000000000000" pitchFamily="2" charset="2"/>
              </a:rPr>
              <a:t> Goes at the top of your code</a:t>
            </a:r>
            <a:endParaRPr lang="en-US" dirty="0"/>
          </a:p>
          <a:p>
            <a:r>
              <a:rPr lang="en-US" dirty="0" err="1"/>
              <a:t>random.randrange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Gives a number between a (inclusive) and b (exclusive)</a:t>
            </a:r>
          </a:p>
          <a:p>
            <a:pPr lvl="1"/>
            <a:r>
              <a:rPr lang="en-US" dirty="0"/>
              <a:t>Assumes all numbers have the same probability</a:t>
            </a:r>
          </a:p>
          <a:p>
            <a:pPr lvl="1"/>
            <a:r>
              <a:rPr lang="en-US" dirty="0"/>
              <a:t>Note: Much better style than </a:t>
            </a:r>
            <a:r>
              <a:rPr lang="en-US" dirty="0" err="1"/>
              <a:t>randint</a:t>
            </a:r>
            <a:endParaRPr lang="en-US" dirty="0"/>
          </a:p>
          <a:p>
            <a:pPr lvl="1"/>
            <a:r>
              <a:rPr lang="en-US" dirty="0"/>
              <a:t>Demo -dice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8329A-2095-4668-8B9F-5E6FC30C7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45071" y="1447890"/>
            <a:ext cx="3657600" cy="2429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172E22-4353-49E5-B24B-594FF519711D}"/>
              </a:ext>
            </a:extLst>
          </p:cNvPr>
          <p:cNvSpPr txBox="1"/>
          <p:nvPr/>
        </p:nvSpPr>
        <p:spPr>
          <a:xfrm>
            <a:off x="8745071" y="3877146"/>
            <a:ext cx="3657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en.wikipedia.org/wiki/Roulette#Outside_bet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0167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FD82-3710-4AF3-A61D-CEA603F4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“Pick an random element from a list”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D35B2-9F84-42FC-9FD5-7D66E7D12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common task</a:t>
            </a:r>
          </a:p>
          <a:p>
            <a:r>
              <a:rPr lang="en-US" dirty="0"/>
              <a:t>Could do </a:t>
            </a:r>
            <a:r>
              <a:rPr lang="en-US" dirty="0" err="1"/>
              <a:t>rand.randrange</a:t>
            </a:r>
            <a:r>
              <a:rPr lang="en-US" dirty="0"/>
              <a:t>(0,len(</a:t>
            </a:r>
            <a:r>
              <a:rPr lang="en-US" dirty="0" err="1"/>
              <a:t>myList</a:t>
            </a:r>
            <a:r>
              <a:rPr lang="en-US" dirty="0"/>
              <a:t>)) as use that as the index</a:t>
            </a:r>
          </a:p>
          <a:p>
            <a:r>
              <a:rPr lang="en-US" dirty="0"/>
              <a:t>This is so common Python makes it easy</a:t>
            </a:r>
          </a:p>
          <a:p>
            <a:pPr lvl="1"/>
            <a:r>
              <a:rPr lang="en-US" dirty="0" err="1"/>
              <a:t>random.choice</a:t>
            </a:r>
            <a:r>
              <a:rPr lang="en-US" dirty="0"/>
              <a:t>(</a:t>
            </a:r>
            <a:r>
              <a:rPr lang="en-US" dirty="0" err="1"/>
              <a:t>myList</a:t>
            </a:r>
            <a:r>
              <a:rPr lang="en-US" dirty="0"/>
              <a:t>)</a:t>
            </a:r>
          </a:p>
          <a:p>
            <a:r>
              <a:rPr lang="en-US" dirty="0"/>
              <a:t>Another fun one:</a:t>
            </a:r>
          </a:p>
          <a:p>
            <a:pPr lvl="1"/>
            <a:r>
              <a:rPr lang="en-US" dirty="0" err="1"/>
              <a:t>random.shuffle</a:t>
            </a:r>
            <a:r>
              <a:rPr lang="en-US" dirty="0"/>
              <a:t>(</a:t>
            </a:r>
            <a:r>
              <a:rPr lang="en-US" dirty="0" err="1"/>
              <a:t>myList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Note: does not return anything, shuffles the </a:t>
            </a:r>
          </a:p>
          <a:p>
            <a:pPr marL="457200" lvl="1" indent="0">
              <a:buNone/>
            </a:pPr>
            <a:r>
              <a:rPr lang="en-US" dirty="0"/>
              <a:t>	passed-in list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AB4AB-C430-439D-B6EF-E3F001122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90309" y="2918012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A213-1643-4639-9FCC-B326DC09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floats?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6914E-F117-4175-A18C-E41FEB5CB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random.random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Probably #1 most used random function</a:t>
            </a:r>
          </a:p>
          <a:p>
            <a:pPr lvl="1"/>
            <a:r>
              <a:rPr lang="en-US" dirty="0"/>
              <a:t>Returns random float between 0 and 1</a:t>
            </a:r>
          </a:p>
          <a:p>
            <a:r>
              <a:rPr lang="en-US" dirty="0"/>
              <a:t>Conceptually a bit more difficult to understand</a:t>
            </a:r>
          </a:p>
          <a:p>
            <a:pPr lvl="1"/>
            <a:r>
              <a:rPr lang="en-US" dirty="0"/>
              <a:t>Infinite set of outcomes</a:t>
            </a:r>
          </a:p>
          <a:p>
            <a:r>
              <a:rPr lang="en-US" dirty="0"/>
              <a:t>Called a </a:t>
            </a:r>
            <a:r>
              <a:rPr lang="en-US" b="1" dirty="0"/>
              <a:t>uniform distribution,  </a:t>
            </a:r>
            <a:r>
              <a:rPr lang="en-US" dirty="0"/>
              <a:t>- no region is weighted higher than any other</a:t>
            </a:r>
          </a:p>
          <a:p>
            <a:endParaRPr lang="en-US" dirty="0"/>
          </a:p>
          <a:p>
            <a:r>
              <a:rPr lang="en-US" dirty="0" err="1"/>
              <a:t>random.uniform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– more general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03F17-E6BF-42FA-91E6-E373B3834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62363" y="365125"/>
            <a:ext cx="3488071" cy="2491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0EF2C-DE34-4C03-839A-66D332362F35}"/>
              </a:ext>
            </a:extLst>
          </p:cNvPr>
          <p:cNvSpPr txBox="1"/>
          <p:nvPr/>
        </p:nvSpPr>
        <p:spPr>
          <a:xfrm>
            <a:off x="8162363" y="3007813"/>
            <a:ext cx="3488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en.wikipedia.org/wiki/Continuous_uniform_distribution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6000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A222-34B9-4B69-BA91-02E10ACC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“Do something with 0.8124 probability”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B890B-FA2E-452E-B314-50ED1A0B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Hmm… there isn’t a function in random that will do this directly!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r>
              <a:rPr lang="en-US" dirty="0"/>
              <a:t>Any ideas?</a:t>
            </a:r>
          </a:p>
          <a:p>
            <a:r>
              <a:rPr lang="en-US" dirty="0"/>
              <a:t>Use </a:t>
            </a:r>
            <a:r>
              <a:rPr lang="en-US" dirty="0" err="1"/>
              <a:t>random.random</a:t>
            </a:r>
            <a:r>
              <a:rPr lang="en-US" dirty="0"/>
              <a:t>()!</a:t>
            </a:r>
          </a:p>
          <a:p>
            <a:r>
              <a:rPr lang="en-US" dirty="0"/>
              <a:t>If </a:t>
            </a:r>
            <a:r>
              <a:rPr lang="en-US" dirty="0" err="1"/>
              <a:t>random.random</a:t>
            </a:r>
            <a:r>
              <a:rPr lang="en-US" dirty="0"/>
              <a:t>() &lt; 0.8124:</a:t>
            </a:r>
          </a:p>
          <a:p>
            <a:pPr lvl="1"/>
            <a:r>
              <a:rPr lang="en-US" dirty="0"/>
              <a:t>Do something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A3A93-45B4-46B9-8477-F1546A648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4602" y="2752725"/>
            <a:ext cx="4324350" cy="2266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56E7B-367F-4183-8528-9394B01EB730}"/>
              </a:ext>
            </a:extLst>
          </p:cNvPr>
          <p:cNvSpPr txBox="1"/>
          <p:nvPr/>
        </p:nvSpPr>
        <p:spPr>
          <a:xfrm>
            <a:off x="6784602" y="5019675"/>
            <a:ext cx="43243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satisfyingretirement.blogspot.com/2016/07/why-retirement-may-be-bad-for-you_22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d/3.0/"/>
              </a:rPr>
              <a:t>CC BY-ND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267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CEBC-9AC0-4114-B44B-90B80874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A007-1AB2-4B67-84D2-5C91F53B3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60726" cy="4351338"/>
          </a:xfrm>
        </p:spPr>
        <p:txBody>
          <a:bodyPr/>
          <a:lstStyle/>
          <a:p>
            <a:r>
              <a:rPr lang="en-US" dirty="0"/>
              <a:t>Not truly random – computers are inherently deterministic!</a:t>
            </a:r>
          </a:p>
          <a:p>
            <a:r>
              <a:rPr lang="en-US" dirty="0"/>
              <a:t>Called pseudorandom – to get a “random” number, takes an initial number (called a </a:t>
            </a:r>
            <a:r>
              <a:rPr lang="en-US" b="1" dirty="0"/>
              <a:t>seed</a:t>
            </a:r>
            <a:r>
              <a:rPr lang="en-US" dirty="0"/>
              <a:t>), then does a bunch of complex computations on it</a:t>
            </a:r>
          </a:p>
          <a:p>
            <a:pPr lvl="1"/>
            <a:r>
              <a:rPr lang="en-US" dirty="0"/>
              <a:t>Seed is usually </a:t>
            </a:r>
            <a:r>
              <a:rPr lang="en-US" dirty="0" err="1"/>
              <a:t>clocktime</a:t>
            </a:r>
            <a:r>
              <a:rPr lang="en-US" dirty="0"/>
              <a:t> (different every time)</a:t>
            </a:r>
          </a:p>
          <a:p>
            <a:r>
              <a:rPr lang="en-US" dirty="0"/>
              <a:t>For testing/reproducibility, sometimes want the same every time</a:t>
            </a:r>
          </a:p>
          <a:p>
            <a:pPr lvl="1"/>
            <a:r>
              <a:rPr lang="en-US" dirty="0"/>
              <a:t>Can use </a:t>
            </a:r>
            <a:r>
              <a:rPr lang="en-US" dirty="0" err="1"/>
              <a:t>random.seed</a:t>
            </a:r>
            <a:r>
              <a:rPr lang="en-US" dirty="0"/>
              <a:t>(number)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389" y="4448864"/>
            <a:ext cx="2758156" cy="2068617"/>
          </a:xfrm>
          <a:prstGeom prst="rect">
            <a:avLst/>
          </a:prstGeom>
        </p:spPr>
      </p:pic>
      <p:pic>
        <p:nvPicPr>
          <p:cNvPr id="5" name="Picture 4" descr="New &lt;strong&gt;Seed&lt;/strong&gt; Projects | Communities and Culture Network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" y="4575810"/>
            <a:ext cx="1451610" cy="22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4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randomness AND </a:t>
            </a:r>
            <a:r>
              <a:rPr lang="en-US" dirty="0" err="1"/>
              <a:t>dicts</a:t>
            </a:r>
            <a:r>
              <a:rPr lang="en-US" dirty="0"/>
              <a:t> of lists</a:t>
            </a:r>
          </a:p>
        </p:txBody>
      </p:sp>
    </p:spTree>
    <p:extLst>
      <p:ext uri="{BB962C8B-B14F-4D97-AF65-F5344CB8AC3E}">
        <p14:creationId xmlns:p14="http://schemas.microsoft.com/office/powerpoint/2010/main" val="351143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520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Reminder</vt:lpstr>
      <vt:lpstr>Agenda</vt:lpstr>
      <vt:lpstr>Right now our scripts are deterministic… </vt:lpstr>
      <vt:lpstr>Randomness</vt:lpstr>
      <vt:lpstr>Coin Example</vt:lpstr>
      <vt:lpstr>Dice example</vt:lpstr>
      <vt:lpstr>Getting a randomly-chosen int in Python</vt:lpstr>
      <vt:lpstr>“Pick an random element from a list”</vt:lpstr>
      <vt:lpstr>How about floats?</vt:lpstr>
      <vt:lpstr>“Do something with 0.8124 probability”</vt:lpstr>
      <vt:lpstr>Final note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88</cp:revision>
  <dcterms:created xsi:type="dcterms:W3CDTF">2018-09-05T09:38:38Z</dcterms:created>
  <dcterms:modified xsi:type="dcterms:W3CDTF">2024-10-14T20:59:29Z</dcterms:modified>
</cp:coreProperties>
</file>