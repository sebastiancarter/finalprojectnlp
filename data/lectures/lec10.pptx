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6" r:id="rId4"/>
    <p:sldId id="257" r:id="rId5"/>
    <p:sldId id="267" r:id="rId6"/>
    <p:sldId id="258" r:id="rId7"/>
    <p:sldId id="259" r:id="rId8"/>
    <p:sldId id="260" r:id="rId9"/>
    <p:sldId id="261" r:id="rId10"/>
    <p:sldId id="262" r:id="rId11"/>
    <p:sldId id="263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5A023-946F-43A8-AD93-F3785D9ECA18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6FF7-2B19-4FD6-A4FF-A73BFB9D7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016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5A023-946F-43A8-AD93-F3785D9ECA18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6FF7-2B19-4FD6-A4FF-A73BFB9D7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715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5A023-946F-43A8-AD93-F3785D9ECA18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6FF7-2B19-4FD6-A4FF-A73BFB9D7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061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5A023-946F-43A8-AD93-F3785D9ECA18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6FF7-2B19-4FD6-A4FF-A73BFB9D7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607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5A023-946F-43A8-AD93-F3785D9ECA18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6FF7-2B19-4FD6-A4FF-A73BFB9D7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836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5A023-946F-43A8-AD93-F3785D9ECA18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6FF7-2B19-4FD6-A4FF-A73BFB9D7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695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5A023-946F-43A8-AD93-F3785D9ECA18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6FF7-2B19-4FD6-A4FF-A73BFB9D7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900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5A023-946F-43A8-AD93-F3785D9ECA18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6FF7-2B19-4FD6-A4FF-A73BFB9D7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261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5A023-946F-43A8-AD93-F3785D9ECA18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6FF7-2B19-4FD6-A4FF-A73BFB9D7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11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5A023-946F-43A8-AD93-F3785D9ECA18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6FF7-2B19-4FD6-A4FF-A73BFB9D7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899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5A023-946F-43A8-AD93-F3785D9ECA18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6FF7-2B19-4FD6-A4FF-A73BFB9D7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62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B5A023-946F-43A8-AD93-F3785D9ECA18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D6FF7-2B19-4FD6-A4FF-A73BFB9D7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786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pianetablunews.wordpress.com/2014/09/22/la-morte-di-un-buco-nero-e-una-cosa-strana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nd/3.0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simple-drawing.blogspot.com/2010/09/nothing-everything.html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1549" y="-414607"/>
            <a:ext cx="9144000" cy="2387600"/>
          </a:xfrm>
        </p:spPr>
        <p:txBody>
          <a:bodyPr/>
          <a:lstStyle/>
          <a:p>
            <a:r>
              <a:rPr lang="en-US" dirty="0"/>
              <a:t>DATA/CS 172: Python for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357" y="2191527"/>
            <a:ext cx="9144000" cy="1655762"/>
          </a:xfrm>
        </p:spPr>
        <p:txBody>
          <a:bodyPr/>
          <a:lstStyle/>
          <a:p>
            <a:r>
              <a:rPr lang="en-US" dirty="0"/>
              <a:t>None</a:t>
            </a:r>
          </a:p>
          <a:p>
            <a:r>
              <a:rPr lang="en-US" dirty="0"/>
              <a:t>Prof. Travis Mandel</a:t>
            </a:r>
          </a:p>
          <a:p>
            <a:r>
              <a:rPr lang="en-US" dirty="0"/>
              <a:t>9/25/2024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ACFC64-277D-4C52-9BBC-9E770BC4122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60" b="8455"/>
          <a:stretch/>
        </p:blipFill>
        <p:spPr>
          <a:xfrm>
            <a:off x="4646814" y="3801644"/>
            <a:ext cx="2599501" cy="2706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707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Lab 7 final deadline today</a:t>
            </a:r>
          </a:p>
          <a:p>
            <a:r>
              <a:rPr lang="en-US" dirty="0"/>
              <a:t>Lab 8 due Friday</a:t>
            </a:r>
          </a:p>
        </p:txBody>
      </p:sp>
    </p:spTree>
    <p:extLst>
      <p:ext uri="{BB962C8B-B14F-4D97-AF65-F5344CB8AC3E}">
        <p14:creationId xmlns:p14="http://schemas.microsoft.com/office/powerpoint/2010/main" val="2580643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None</a:t>
            </a:r>
          </a:p>
        </p:txBody>
      </p:sp>
    </p:spTree>
    <p:extLst>
      <p:ext uri="{BB962C8B-B14F-4D97-AF65-F5344CB8AC3E}">
        <p14:creationId xmlns:p14="http://schemas.microsoft.com/office/powerpoint/2010/main" val="3344816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571268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None is a special value in Python</a:t>
            </a:r>
          </a:p>
          <a:p>
            <a:r>
              <a:rPr lang="en-US" dirty="0"/>
              <a:t>Any variable can be assigned None</a:t>
            </a:r>
          </a:p>
          <a:p>
            <a:r>
              <a:rPr lang="en-US" dirty="0"/>
              <a:t>You will get a </a:t>
            </a:r>
            <a:r>
              <a:rPr lang="en-US" dirty="0" err="1"/>
              <a:t>NoneType</a:t>
            </a:r>
            <a:r>
              <a:rPr lang="en-US" dirty="0"/>
              <a:t> exception if you try to do pretty much anything with None</a:t>
            </a:r>
          </a:p>
          <a:p>
            <a:pPr lvl="1"/>
            <a:r>
              <a:rPr lang="en-US" dirty="0"/>
              <a:t>Add, divide, iterate, etc.</a:t>
            </a:r>
          </a:p>
          <a:p>
            <a:pPr lvl="1"/>
            <a:endParaRPr lang="en-US" dirty="0"/>
          </a:p>
          <a:p>
            <a:r>
              <a:rPr lang="en-US" dirty="0"/>
              <a:t>To check if a variable is None, use:</a:t>
            </a:r>
          </a:p>
          <a:p>
            <a:pPr lvl="1"/>
            <a:r>
              <a:rPr lang="en-US" dirty="0"/>
              <a:t>if x is None:</a:t>
            </a:r>
          </a:p>
          <a:p>
            <a:r>
              <a:rPr lang="en-US" dirty="0"/>
              <a:t>NOT GOOD TO USE:</a:t>
            </a:r>
          </a:p>
          <a:p>
            <a:pPr lvl="1"/>
            <a:r>
              <a:rPr lang="en-US" dirty="0"/>
              <a:t>if x == None:</a:t>
            </a:r>
          </a:p>
          <a:p>
            <a:r>
              <a:rPr lang="en-US" dirty="0"/>
              <a:t>Also fine to write “if x is not None:”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D7718A-6AED-4833-9A1E-568271CC37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001000" y="-124673"/>
            <a:ext cx="4096028" cy="30695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67B859-4481-40EA-9A9D-26FC23EDF852}"/>
              </a:ext>
            </a:extLst>
          </p:cNvPr>
          <p:cNvSpPr txBox="1"/>
          <p:nvPr/>
        </p:nvSpPr>
        <p:spPr>
          <a:xfrm>
            <a:off x="8001000" y="3089741"/>
            <a:ext cx="40960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://pianetablunews.wordpress.com/2014/09/22/la-morte-di-un-buco-nero-e-una-cosa-strana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nc-nd/3.0/"/>
              </a:rPr>
              <a:t>CC BY-NC-ND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605015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None and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One example of where None can be very useful is writing functions</a:t>
            </a:r>
          </a:p>
          <a:p>
            <a:r>
              <a:rPr lang="en-US" dirty="0"/>
              <a:t>For example, let’s say you are writing a function that computes the average of a list</a:t>
            </a:r>
          </a:p>
          <a:p>
            <a:r>
              <a:rPr lang="en-US" dirty="0"/>
              <a:t>If it is passed [6, 7]… </a:t>
            </a:r>
          </a:p>
          <a:p>
            <a:pPr lvl="1"/>
            <a:r>
              <a:rPr lang="en-US" dirty="0"/>
              <a:t>… it should return  6.5</a:t>
            </a:r>
          </a:p>
          <a:p>
            <a:r>
              <a:rPr lang="en-US" dirty="0"/>
              <a:t>If it is passed [6]</a:t>
            </a:r>
          </a:p>
          <a:p>
            <a:pPr lvl="1"/>
            <a:r>
              <a:rPr lang="en-US" dirty="0"/>
              <a:t>… it should return 6</a:t>
            </a:r>
          </a:p>
          <a:p>
            <a:r>
              <a:rPr lang="en-US" dirty="0"/>
              <a:t>And if it is passed []?</a:t>
            </a:r>
          </a:p>
          <a:p>
            <a:pPr lvl="1"/>
            <a:r>
              <a:rPr lang="en-US" dirty="0"/>
              <a:t>It should return None!</a:t>
            </a:r>
          </a:p>
          <a:p>
            <a:r>
              <a:rPr lang="en-US" dirty="0"/>
              <a:t>None automatically comes back from functions with no return statement at all (not good style to rely on this - usually a bug/error!)</a:t>
            </a:r>
          </a:p>
        </p:txBody>
      </p:sp>
      <p:pic>
        <p:nvPicPr>
          <p:cNvPr id="4" name="Picture 3" descr="&lt;strong&gt;Black&lt;/strong&gt; &lt;strong&gt;hole&lt;/strong&gt; - The Infosphere, the Futurama Wiki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0306" y="43657"/>
            <a:ext cx="2143125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594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None is one of the </a:t>
            </a:r>
            <a:r>
              <a:rPr lang="en-US" b="1" dirty="0"/>
              <a:t>most important </a:t>
            </a:r>
            <a:r>
              <a:rPr lang="en-US" dirty="0"/>
              <a:t>elements of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 it’s particularly hard to grasp the importance for</a:t>
            </a:r>
          </a:p>
          <a:p>
            <a:pPr marL="0" indent="0">
              <a:buNone/>
            </a:pPr>
            <a:r>
              <a:rPr lang="en-US" dirty="0"/>
              <a:t>people familiar with C++</a:t>
            </a:r>
          </a:p>
          <a:p>
            <a:endParaRPr lang="en-US" dirty="0"/>
          </a:p>
          <a:p>
            <a:r>
              <a:rPr lang="en-US" dirty="0"/>
              <a:t>To see why, let’s say we want to write a function to get the max element of a list </a:t>
            </a:r>
            <a:r>
              <a:rPr lang="en-US" b="1" dirty="0"/>
              <a:t>from scratch </a:t>
            </a:r>
            <a:r>
              <a:rPr lang="en-US" dirty="0"/>
              <a:t>(without using any built-in max functions)… </a:t>
            </a:r>
          </a:p>
          <a:p>
            <a:pPr lvl="1"/>
            <a:r>
              <a:rPr lang="en-US" dirty="0"/>
              <a:t>Taking (</a:t>
            </a:r>
            <a:r>
              <a:rPr lang="en-US" dirty="0" err="1"/>
              <a:t>arg</a:t>
            </a:r>
            <a:r>
              <a:rPr lang="en-US" dirty="0"/>
              <a:t>)max is really important in many AI/data science applications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7339AA-49B5-4F8E-B36D-EF4A677EAA0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843832" y="885358"/>
            <a:ext cx="3348168" cy="188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412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2492"/>
            <a:ext cx="10515600" cy="1325563"/>
          </a:xfrm>
        </p:spPr>
        <p:txBody>
          <a:bodyPr/>
          <a:lstStyle/>
          <a:p>
            <a:r>
              <a:rPr lang="en-US" dirty="0"/>
              <a:t>Taking max: without None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b="1" dirty="0" err="1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maxV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pPr marL="0" indent="0">
              <a:buNone/>
            </a:pP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value in values:</a:t>
            </a:r>
          </a:p>
          <a:p>
            <a:pPr marL="0" indent="0">
              <a:buNone/>
            </a:pP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if value &gt; </a:t>
            </a:r>
            <a:r>
              <a:rPr lang="en-US" altLang="en-US" b="1" dirty="0" err="1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maxV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en-US" b="1" dirty="0" err="1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maxV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value</a:t>
            </a:r>
          </a:p>
          <a:p>
            <a:pPr marL="0" indent="0">
              <a:buNone/>
            </a:pPr>
            <a:endParaRPr lang="en-US" altLang="en-US" b="1" dirty="0">
              <a:solidFill>
                <a:srgbClr val="638DA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altLang="en-US" b="1" dirty="0" err="1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maxV</a:t>
            </a:r>
            <a:endParaRPr lang="en-US" altLang="en-US" b="1" dirty="0">
              <a:solidFill>
                <a:srgbClr val="638DA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6501" y="1281103"/>
            <a:ext cx="426591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800" b="1" dirty="0" err="1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2800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800" b="1" dirty="0" err="1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getMax</a:t>
            </a:r>
            <a:r>
              <a:rPr lang="en-US" altLang="en-US" sz="2800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(values):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9061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2368"/>
            <a:ext cx="10515600" cy="1325563"/>
          </a:xfrm>
        </p:spPr>
        <p:txBody>
          <a:bodyPr/>
          <a:lstStyle/>
          <a:p>
            <a:r>
              <a:rPr lang="en-US" dirty="0"/>
              <a:t>Taking max: without None #2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b="1" dirty="0" err="1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maxV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pPr marL="0" indent="0">
              <a:buNone/>
            </a:pP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value in values:</a:t>
            </a:r>
          </a:p>
          <a:p>
            <a:pPr marL="0" indent="0">
              <a:buNone/>
            </a:pP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if </a:t>
            </a:r>
            <a:r>
              <a:rPr lang="en-US" altLang="en-US" b="1" dirty="0" err="1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maxV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0 or value &gt; </a:t>
            </a:r>
            <a:r>
              <a:rPr lang="en-US" altLang="en-US" b="1" dirty="0" err="1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maxV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en-US" b="1" dirty="0" err="1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maxV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value</a:t>
            </a:r>
          </a:p>
          <a:p>
            <a:pPr marL="0" indent="0">
              <a:buNone/>
            </a:pPr>
            <a:endParaRPr lang="en-US" altLang="en-US" b="1" dirty="0">
              <a:solidFill>
                <a:srgbClr val="638DA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altLang="en-US" b="1" dirty="0" err="1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maxV</a:t>
            </a:r>
            <a:endParaRPr lang="en-US" altLang="en-US" b="1" dirty="0">
              <a:solidFill>
                <a:srgbClr val="638DA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366682" y="5495365"/>
            <a:ext cx="63649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-10,-5,0,-20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501" y="1281103"/>
            <a:ext cx="426591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800" b="1" dirty="0" err="1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2800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800" b="1" dirty="0" err="1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getMax</a:t>
            </a:r>
            <a:r>
              <a:rPr lang="en-US" altLang="en-US" sz="2800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(values):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67938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Taking max: The CS150/C++ 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17313"/>
            <a:ext cx="10515600" cy="3353203"/>
          </a:xfrm>
        </p:spPr>
        <p:txBody>
          <a:bodyPr/>
          <a:lstStyle/>
          <a:p>
            <a:pPr marL="0" indent="0">
              <a:buNone/>
            </a:pPr>
            <a:r>
              <a:rPr lang="en-US" altLang="en-US" b="1" dirty="0" err="1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maxIndex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pPr marL="0" indent="0">
              <a:buNone/>
            </a:pP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altLang="en-US" b="1" dirty="0" err="1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range(</a:t>
            </a:r>
            <a:r>
              <a:rPr lang="en-US" altLang="en-US" b="1" dirty="0" err="1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(values)):</a:t>
            </a:r>
          </a:p>
          <a:p>
            <a:pPr marL="0" indent="0">
              <a:buNone/>
            </a:pP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if values[</a:t>
            </a:r>
            <a:r>
              <a:rPr lang="en-US" altLang="en-US" b="1" dirty="0" err="1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&gt; values[</a:t>
            </a:r>
            <a:r>
              <a:rPr lang="en-US" altLang="en-US" b="1" dirty="0" err="1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maxIndex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]:</a:t>
            </a:r>
          </a:p>
          <a:p>
            <a:pPr marL="0" indent="0">
              <a:buNone/>
            </a:pP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en-US" b="1" dirty="0" err="1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maxIndex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b="1" dirty="0" err="1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altLang="en-US" b="1" dirty="0">
              <a:solidFill>
                <a:srgbClr val="638DA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en-US" b="1" dirty="0">
              <a:solidFill>
                <a:srgbClr val="638DA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values[</a:t>
            </a:r>
            <a:r>
              <a:rPr lang="en-US" altLang="en-US" b="1" dirty="0" err="1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maxIndex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24878" y="5123657"/>
            <a:ext cx="819891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Works okay  in most cases…</a:t>
            </a:r>
          </a:p>
          <a:p>
            <a:r>
              <a:rPr lang="en-US" sz="3200" dirty="0"/>
              <a:t>Where will it break?</a:t>
            </a:r>
          </a:p>
          <a:p>
            <a:r>
              <a:rPr lang="en-US" sz="3200" dirty="0"/>
              <a:t>	The max() function has the same problem!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501" y="1281103"/>
            <a:ext cx="426591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800" b="1" dirty="0" err="1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2800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800" b="1" dirty="0" err="1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getMax</a:t>
            </a:r>
            <a:r>
              <a:rPr lang="en-US" altLang="en-US" sz="2800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(values):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59112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44460"/>
            <a:ext cx="10515600" cy="1325563"/>
          </a:xfrm>
        </p:spPr>
        <p:txBody>
          <a:bodyPr/>
          <a:lstStyle/>
          <a:p>
            <a:r>
              <a:rPr lang="en-US" dirty="0"/>
              <a:t>Taking max with None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b="1" dirty="0" err="1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maxV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None</a:t>
            </a:r>
          </a:p>
          <a:p>
            <a:pPr marL="0" indent="0">
              <a:buNone/>
            </a:pP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value in values:</a:t>
            </a:r>
          </a:p>
          <a:p>
            <a:pPr marL="0" indent="0">
              <a:buNone/>
            </a:pP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if </a:t>
            </a:r>
            <a:r>
              <a:rPr lang="en-US" altLang="en-US" b="1" dirty="0" err="1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maxV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is None or value &gt; </a:t>
            </a:r>
            <a:r>
              <a:rPr lang="en-US" altLang="en-US" b="1" dirty="0" err="1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maxV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en-US" b="1" dirty="0" err="1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maxV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value</a:t>
            </a:r>
          </a:p>
          <a:p>
            <a:pPr marL="0" indent="0">
              <a:buNone/>
            </a:pPr>
            <a:endParaRPr lang="en-US" altLang="en-US" b="1" dirty="0">
              <a:solidFill>
                <a:srgbClr val="638DA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altLang="en-US" b="1" dirty="0" err="1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maxV</a:t>
            </a:r>
            <a:endParaRPr lang="en-US" altLang="en-US" b="1" dirty="0">
              <a:solidFill>
                <a:srgbClr val="638DA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6501" y="1281103"/>
            <a:ext cx="426591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800" b="1" dirty="0" err="1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2800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800" b="1" dirty="0" err="1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getMax</a:t>
            </a:r>
            <a:r>
              <a:rPr lang="en-US" altLang="en-US" sz="2800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(values):</a:t>
            </a:r>
          </a:p>
          <a:p>
            <a:endParaRPr 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024255" y="5029200"/>
            <a:ext cx="32167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Finally, a good solution!</a:t>
            </a:r>
          </a:p>
        </p:txBody>
      </p:sp>
    </p:spTree>
    <p:extLst>
      <p:ext uri="{BB962C8B-B14F-4D97-AF65-F5344CB8AC3E}">
        <p14:creationId xmlns:p14="http://schemas.microsoft.com/office/powerpoint/2010/main" val="3879983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a max &amp; </a:t>
            </a:r>
            <a:r>
              <a:rPr lang="en-US" dirty="0" err="1"/>
              <a:t>argmax</a:t>
            </a:r>
            <a:r>
              <a:rPr lang="en-US" dirty="0"/>
              <a:t> with None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501" y="1281103"/>
            <a:ext cx="619913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800" b="1" dirty="0" err="1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altLang="en-US" sz="2800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800" b="1" dirty="0" err="1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getMaxAndArgMax</a:t>
            </a:r>
            <a:r>
              <a:rPr lang="en-US" altLang="en-US" sz="2800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(values):</a:t>
            </a:r>
          </a:p>
          <a:p>
            <a:endParaRPr lang="en-US" sz="2800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b="1" dirty="0" err="1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maxV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None</a:t>
            </a:r>
          </a:p>
          <a:p>
            <a:pPr marL="0" indent="0">
              <a:buNone/>
            </a:pPr>
            <a:r>
              <a:rPr lang="en-US" altLang="en-US" b="1" dirty="0" err="1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argMax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None</a:t>
            </a:r>
          </a:p>
          <a:p>
            <a:pPr marL="0" indent="0">
              <a:buNone/>
            </a:pP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i in range(</a:t>
            </a:r>
            <a:r>
              <a:rPr lang="en-US" altLang="en-US" b="1" dirty="0" err="1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(values)):</a:t>
            </a:r>
          </a:p>
          <a:p>
            <a:pPr marL="457200" lvl="1" indent="0">
              <a:buNone/>
            </a:pP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value = values[</a:t>
            </a:r>
            <a:r>
              <a:rPr lang="en-US" altLang="en-US" b="1" dirty="0" err="1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b="1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en-US" altLang="en-US" b="1" dirty="0">
              <a:solidFill>
                <a:srgbClr val="638DA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if </a:t>
            </a:r>
            <a:r>
              <a:rPr lang="en-US" altLang="en-US" b="1" dirty="0" err="1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maxV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is None or value &gt; </a:t>
            </a:r>
            <a:r>
              <a:rPr lang="en-US" altLang="en-US" b="1" dirty="0" err="1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maxV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457200" lvl="1" indent="0">
              <a:buNone/>
            </a:pP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en-US" b="1" dirty="0" err="1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maxV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value</a:t>
            </a:r>
          </a:p>
          <a:p>
            <a:pPr marL="457200" lvl="1" indent="0">
              <a:buNone/>
            </a:pP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en-US" b="1" dirty="0" err="1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argMax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b="1" dirty="0" err="1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altLang="en-US" b="1" dirty="0">
              <a:solidFill>
                <a:srgbClr val="638DA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en-US" b="1" dirty="0">
              <a:solidFill>
                <a:srgbClr val="638DA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(</a:t>
            </a:r>
            <a:r>
              <a:rPr lang="en-US" altLang="en-US" b="1" dirty="0" err="1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maxV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b="1" dirty="0" err="1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argMax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072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Practice with None and functions</a:t>
            </a:r>
          </a:p>
        </p:txBody>
      </p:sp>
    </p:spTree>
    <p:extLst>
      <p:ext uri="{BB962C8B-B14F-4D97-AF65-F5344CB8AC3E}">
        <p14:creationId xmlns:p14="http://schemas.microsoft.com/office/powerpoint/2010/main" val="3136909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536</TotalTime>
  <Words>527</Words>
  <Application>Microsoft Office PowerPoint</Application>
  <PresentationFormat>Widescreen</PresentationFormat>
  <Paragraphs>87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Courier New</vt:lpstr>
      <vt:lpstr>Office Theme</vt:lpstr>
      <vt:lpstr>DATA/CS 172: Python for Data Analysis</vt:lpstr>
      <vt:lpstr>Reminders</vt:lpstr>
      <vt:lpstr>Agenda</vt:lpstr>
      <vt:lpstr>None</vt:lpstr>
      <vt:lpstr>None and functions</vt:lpstr>
      <vt:lpstr>None is one of the most important elements of Python</vt:lpstr>
      <vt:lpstr>Taking max: without None #1</vt:lpstr>
      <vt:lpstr>Taking max: without None #2</vt:lpstr>
      <vt:lpstr>Taking max: The CS150/C++ way</vt:lpstr>
      <vt:lpstr>Taking max with None</vt:lpstr>
      <vt:lpstr>Implementing a max &amp; argmax with None</vt:lpstr>
      <vt:lpstr>Lab out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Travis Mandel</dc:creator>
  <cp:lastModifiedBy>Travis Mandel</cp:lastModifiedBy>
  <cp:revision>24</cp:revision>
  <dcterms:created xsi:type="dcterms:W3CDTF">2019-09-21T00:32:49Z</dcterms:created>
  <dcterms:modified xsi:type="dcterms:W3CDTF">2024-09-25T20:57:31Z</dcterms:modified>
</cp:coreProperties>
</file>