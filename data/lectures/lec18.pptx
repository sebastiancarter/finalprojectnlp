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311" r:id="rId3"/>
    <p:sldId id="305" r:id="rId4"/>
    <p:sldId id="306" r:id="rId5"/>
    <p:sldId id="308" r:id="rId6"/>
    <p:sldId id="307" r:id="rId7"/>
    <p:sldId id="285" r:id="rId8"/>
    <p:sldId id="294" r:id="rId9"/>
    <p:sldId id="286" r:id="rId10"/>
    <p:sldId id="293" r:id="rId11"/>
    <p:sldId id="292" r:id="rId12"/>
    <p:sldId id="310" r:id="rId13"/>
    <p:sldId id="30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Intro to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10/30/2024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0A79-E6D0-48AC-BC3A-A1B5F275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Reminders/Announcements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F6973-2FA3-4543-A711-E4B11BB2F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15 final deadline today</a:t>
            </a:r>
          </a:p>
          <a:p>
            <a:r>
              <a:rPr lang="en-US" dirty="0"/>
              <a:t>Lab 16 due today</a:t>
            </a:r>
          </a:p>
        </p:txBody>
      </p:sp>
    </p:spTree>
    <p:extLst>
      <p:ext uri="{BB962C8B-B14F-4D97-AF65-F5344CB8AC3E}">
        <p14:creationId xmlns:p14="http://schemas.microsoft.com/office/powerpoint/2010/main" val="12455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</a:t>
            </a:r>
            <a:r>
              <a:rPr lang="en-US" dirty="0" err="1"/>
              <a:t>numpy</a:t>
            </a:r>
            <a:r>
              <a:rPr lang="en-US" dirty="0"/>
              <a:t> arrays?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already know how to do a list in Python…</a:t>
            </a:r>
          </a:p>
          <a:p>
            <a:r>
              <a:rPr lang="en-US" dirty="0"/>
              <a:t>Many Python programs use a similar concept, called a </a:t>
            </a:r>
            <a:r>
              <a:rPr lang="en-US" dirty="0" err="1"/>
              <a:t>numpy</a:t>
            </a:r>
            <a:r>
              <a:rPr lang="en-US" dirty="0"/>
              <a:t> array…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How do we get a list of numbers from 0 to 99 in Python?</a:t>
            </a:r>
          </a:p>
          <a:p>
            <a:pPr lvl="3"/>
            <a:r>
              <a:rPr lang="en-US" dirty="0"/>
              <a:t>list(range(100))</a:t>
            </a:r>
          </a:p>
          <a:p>
            <a:pPr lvl="2"/>
            <a:r>
              <a:rPr lang="en-US" dirty="0"/>
              <a:t>How do we get a </a:t>
            </a:r>
            <a:r>
              <a:rPr lang="en-US" dirty="0" err="1"/>
              <a:t>numpy</a:t>
            </a:r>
            <a:r>
              <a:rPr lang="en-US" dirty="0"/>
              <a:t> array of numbers from 0 to 99 in Python?</a:t>
            </a:r>
          </a:p>
          <a:p>
            <a:pPr lvl="3"/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pPr lvl="3"/>
            <a:r>
              <a:rPr lang="en-US" dirty="0" err="1"/>
              <a:t>np.arange</a:t>
            </a:r>
            <a:r>
              <a:rPr lang="en-US" dirty="0"/>
              <a:t>(100)</a:t>
            </a:r>
          </a:p>
          <a:p>
            <a:pPr lvl="3"/>
            <a:r>
              <a:rPr lang="en-US" dirty="0"/>
              <a:t>Should have this installed as it is installed with matplotlib</a:t>
            </a:r>
          </a:p>
          <a:p>
            <a:r>
              <a:rPr lang="en-US" dirty="0"/>
              <a:t>One big difference: cannot append!</a:t>
            </a:r>
          </a:p>
          <a:p>
            <a:pPr lvl="1"/>
            <a:r>
              <a:rPr lang="en-US" dirty="0"/>
              <a:t>Once a </a:t>
            </a:r>
            <a:r>
              <a:rPr lang="en-US" dirty="0" err="1"/>
              <a:t>numpy</a:t>
            </a:r>
            <a:r>
              <a:rPr lang="en-US" dirty="0"/>
              <a:t> array is created its length does not change</a:t>
            </a:r>
          </a:p>
        </p:txBody>
      </p:sp>
      <p:pic>
        <p:nvPicPr>
          <p:cNvPr id="4" name="Picture 3" descr="&lt;strong&gt;NumPy&lt;/strong&gt; — Википедия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3583" y="228484"/>
            <a:ext cx="4264762" cy="146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8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Ok, but why??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Reason 1: Many scientific computing libraries take </a:t>
            </a:r>
            <a:r>
              <a:rPr lang="en-US" dirty="0" err="1"/>
              <a:t>numpy</a:t>
            </a:r>
            <a:r>
              <a:rPr lang="en-US" dirty="0"/>
              <a:t> arrays as input, and/or produce them as output</a:t>
            </a:r>
          </a:p>
          <a:p>
            <a:pPr lvl="1"/>
            <a:r>
              <a:rPr lang="en-US" dirty="0"/>
              <a:t>Machine learning libraries too!</a:t>
            </a:r>
          </a:p>
          <a:p>
            <a:pPr lvl="1"/>
            <a:endParaRPr lang="en-US" dirty="0"/>
          </a:p>
        </p:txBody>
      </p:sp>
      <p:pic>
        <p:nvPicPr>
          <p:cNvPr id="4" name="Picture 3" descr="Original file ‎ (SVG file, nominally 87 × 87 pixels, file size: 41 KB)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078" y="3533078"/>
            <a:ext cx="3324922" cy="332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1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 2: Convenience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Don’t need for loops to do simple (vector) operations</a:t>
            </a:r>
          </a:p>
          <a:p>
            <a:r>
              <a:rPr lang="en-US" dirty="0"/>
              <a:t>E.g. want to multiply every element of a list by 10</a:t>
            </a:r>
          </a:p>
          <a:p>
            <a:pPr lvl="1"/>
            <a:r>
              <a:rPr lang="en-US" dirty="0"/>
              <a:t>Demo</a:t>
            </a:r>
          </a:p>
          <a:p>
            <a:r>
              <a:rPr lang="en-US" dirty="0"/>
              <a:t>Useful built-in functions</a:t>
            </a:r>
          </a:p>
          <a:p>
            <a:pPr lvl="1"/>
            <a:r>
              <a:rPr lang="en-US" dirty="0" err="1"/>
              <a:t>arr.sum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Takes the sum of the array elements</a:t>
            </a:r>
          </a:p>
          <a:p>
            <a:pPr lvl="1"/>
            <a:r>
              <a:rPr lang="en-US" dirty="0" err="1"/>
              <a:t>arr.mean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Takes the mean of the array elements</a:t>
            </a:r>
          </a:p>
          <a:p>
            <a:pPr lvl="1"/>
            <a:r>
              <a:rPr lang="en-US" dirty="0" err="1"/>
              <a:t>arr.std</a:t>
            </a:r>
            <a:r>
              <a:rPr lang="en-US" dirty="0"/>
              <a:t>()</a:t>
            </a:r>
          </a:p>
          <a:p>
            <a:pPr lvl="2"/>
            <a:r>
              <a:rPr lang="en-US" dirty="0"/>
              <a:t>Takes the standard deviation of the array elements</a:t>
            </a:r>
          </a:p>
          <a:p>
            <a:endParaRPr lang="en-US" dirty="0"/>
          </a:p>
        </p:txBody>
      </p:sp>
      <p:pic>
        <p:nvPicPr>
          <p:cNvPr id="4" name="Picture 3" descr="File:Easy button.JPG - Wikimedia Common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351" y="4111860"/>
            <a:ext cx="2068784" cy="196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70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 3: Speed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is actually a wrapper around a C implementation</a:t>
            </a:r>
          </a:p>
          <a:p>
            <a:pPr lvl="1"/>
            <a:r>
              <a:rPr lang="en-US" dirty="0"/>
              <a:t>C code is much faster because it does not have to do all the complicated checking, works directly on memory, etc.</a:t>
            </a:r>
          </a:p>
        </p:txBody>
      </p:sp>
      <p:pic>
        <p:nvPicPr>
          <p:cNvPr id="4" name="Picture 3" descr="&lt;strong&gt;Flash&lt;/strong&gt; Runs Through Arrow to a Possible Spin Off Serie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356" y="3510776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52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</a:t>
            </a:r>
            <a:r>
              <a:rPr lang="en-US" dirty="0" err="1"/>
              <a:t>numpy</a:t>
            </a:r>
            <a:r>
              <a:rPr lang="en-US" dirty="0"/>
              <a:t> array from existing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the only way we can create is with </a:t>
            </a:r>
            <a:r>
              <a:rPr lang="en-US" dirty="0" err="1"/>
              <a:t>np.arange</a:t>
            </a:r>
            <a:r>
              <a:rPr lang="en-US" dirty="0"/>
              <a:t>()</a:t>
            </a:r>
          </a:p>
          <a:p>
            <a:r>
              <a:rPr lang="en-US" dirty="0"/>
              <a:t>We know python lists are extremely similar to </a:t>
            </a:r>
            <a:r>
              <a:rPr lang="en-US" dirty="0" err="1"/>
              <a:t>numpy</a:t>
            </a:r>
            <a:r>
              <a:rPr lang="en-US" dirty="0"/>
              <a:t> arrays</a:t>
            </a:r>
          </a:p>
          <a:p>
            <a:r>
              <a:rPr lang="en-US" dirty="0"/>
              <a:t>What if you want to  convert a list to a </a:t>
            </a:r>
            <a:r>
              <a:rPr lang="en-US" dirty="0" err="1"/>
              <a:t>numpy</a:t>
            </a:r>
            <a:r>
              <a:rPr lang="en-US" dirty="0"/>
              <a:t> array?</a:t>
            </a:r>
          </a:p>
          <a:p>
            <a:pPr lvl="1"/>
            <a:r>
              <a:rPr lang="en-US" dirty="0" err="1"/>
              <a:t>np.array</a:t>
            </a:r>
            <a:r>
              <a:rPr lang="en-US" dirty="0"/>
              <a:t>([3,5,7]) </a:t>
            </a:r>
            <a:r>
              <a:rPr lang="en-US" dirty="0">
                <a:sym typeface="Wingdings" panose="05000000000000000000" pitchFamily="2" charset="2"/>
              </a:rPr>
              <a:t> [3 5 7]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 descr="HDMI to VGA &lt;strong&gt;Converter&lt;/strong&gt;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188" y="3683725"/>
            <a:ext cx="4382312" cy="2936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8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do most things you would on a normal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Index</a:t>
            </a:r>
          </a:p>
          <a:p>
            <a:pPr lvl="1"/>
            <a:r>
              <a:rPr lang="en-US" dirty="0" err="1"/>
              <a:t>myArr</a:t>
            </a:r>
            <a:r>
              <a:rPr lang="en-US" dirty="0"/>
              <a:t>[0] #gets first element</a:t>
            </a:r>
          </a:p>
          <a:p>
            <a:r>
              <a:rPr lang="en-US" dirty="0"/>
              <a:t>Take the length</a:t>
            </a:r>
          </a:p>
          <a:p>
            <a:pPr lvl="1"/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myArr</a:t>
            </a:r>
            <a:r>
              <a:rPr lang="en-US" dirty="0"/>
              <a:t>)  # gets number of elements</a:t>
            </a:r>
          </a:p>
          <a:p>
            <a:r>
              <a:rPr lang="en-US" dirty="0"/>
              <a:t>New: Can do “all-at-once” operations</a:t>
            </a:r>
          </a:p>
          <a:p>
            <a:pPr lvl="1"/>
            <a:r>
              <a:rPr lang="en-US" dirty="0" err="1"/>
              <a:t>myArr</a:t>
            </a:r>
            <a:r>
              <a:rPr lang="en-US" dirty="0"/>
              <a:t> + 5 #Adds 5 to EVERY element</a:t>
            </a:r>
          </a:p>
          <a:p>
            <a:r>
              <a:rPr lang="en-US" dirty="0"/>
              <a:t>But </a:t>
            </a:r>
            <a:r>
              <a:rPr lang="en-US" b="1" dirty="0"/>
              <a:t>cannot</a:t>
            </a:r>
            <a:r>
              <a:rPr lang="en-US" dirty="0"/>
              <a:t> append!</a:t>
            </a:r>
          </a:p>
          <a:p>
            <a:pPr lvl="1"/>
            <a:r>
              <a:rPr lang="en-US" dirty="0" err="1"/>
              <a:t>myArr.append</a:t>
            </a:r>
            <a:r>
              <a:rPr lang="en-US" dirty="0"/>
              <a:t>(3) # causes an error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03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an all-zero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np.zeros</a:t>
            </a:r>
            <a:r>
              <a:rPr lang="en-US" dirty="0"/>
              <a:t>(</a:t>
            </a:r>
            <a:r>
              <a:rPr lang="en-US" dirty="0" err="1"/>
              <a:t>aLength</a:t>
            </a:r>
            <a:r>
              <a:rPr lang="en-US" dirty="0"/>
              <a:t>)</a:t>
            </a:r>
          </a:p>
          <a:p>
            <a:endParaRPr lang="en-US" dirty="0"/>
          </a:p>
          <a:p>
            <a:pPr lvl="1"/>
            <a:r>
              <a:rPr lang="en-US" dirty="0"/>
              <a:t>[0. 0. 0. 0. ….]</a:t>
            </a:r>
          </a:p>
        </p:txBody>
      </p:sp>
      <p:pic>
        <p:nvPicPr>
          <p:cNvPr id="4" name="Picture 3" descr="Number &lt;strong&gt;Zero&lt;/strong&gt; pictures, free use image, 2000-98-1 by FreeFoto.com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84"/>
          <a:stretch/>
        </p:blipFill>
        <p:spPr>
          <a:xfrm>
            <a:off x="8399416" y="726554"/>
            <a:ext cx="3544389" cy="206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5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two </a:t>
            </a:r>
            <a:r>
              <a:rPr lang="en-US" dirty="0" err="1"/>
              <a:t>numpy</a:t>
            </a:r>
            <a:r>
              <a:rPr lang="en-US" dirty="0"/>
              <a:t> arrays…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two </a:t>
            </a:r>
            <a:r>
              <a:rPr lang="en-US" dirty="0" err="1"/>
              <a:t>numpy</a:t>
            </a:r>
            <a:r>
              <a:rPr lang="en-US" dirty="0"/>
              <a:t> arrays joined by arithmetic operator +,*, etc.</a:t>
            </a:r>
          </a:p>
          <a:p>
            <a:pPr lvl="1"/>
            <a:r>
              <a:rPr lang="en-US" dirty="0"/>
              <a:t>Operation proceeds element-wise</a:t>
            </a:r>
          </a:p>
          <a:p>
            <a:r>
              <a:rPr lang="en-US" dirty="0"/>
              <a:t>Each element matched with other element, then operation applied</a:t>
            </a:r>
          </a:p>
          <a:p>
            <a:pPr lvl="1"/>
            <a:r>
              <a:rPr lang="en-US" dirty="0"/>
              <a:t>Will cause errors if different lengths</a:t>
            </a:r>
          </a:p>
          <a:p>
            <a:r>
              <a:rPr lang="en-US" dirty="0"/>
              <a:t>[0 1 2 3 4] + [1 2 1 2 1] = [1 3 3 5 5]</a:t>
            </a:r>
          </a:p>
        </p:txBody>
      </p:sp>
      <p:pic>
        <p:nvPicPr>
          <p:cNvPr id="5" name="Picture 4" descr="File:YKK &lt;strong&gt;Zipper&lt;/strong&gt; on Jeans close up.jpg - Wikimedia Common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948" y="4114800"/>
            <a:ext cx="2981607" cy="26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2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Element-wise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do standard operations (+,*, -, etc. ) on an array and a number, it applies that to ALL elements</a:t>
            </a:r>
          </a:p>
          <a:p>
            <a:endParaRPr lang="en-US" dirty="0"/>
          </a:p>
          <a:p>
            <a:r>
              <a:rPr lang="en-US" dirty="0"/>
              <a:t>[0 1 2 3 4] * 2 = [0 2 4 6 8]</a:t>
            </a:r>
          </a:p>
          <a:p>
            <a:r>
              <a:rPr lang="en-US" dirty="0"/>
              <a:t>[0 1 2 3 4] -1 = [-1 0 1 2 3]</a:t>
            </a:r>
          </a:p>
          <a:p>
            <a:r>
              <a:rPr lang="en-US" dirty="0"/>
              <a:t>Works on +=, -=, etc. too!</a:t>
            </a:r>
          </a:p>
          <a:p>
            <a:r>
              <a:rPr lang="en-US" dirty="0"/>
              <a:t>This is fast </a:t>
            </a:r>
          </a:p>
          <a:p>
            <a:pPr lvl="1"/>
            <a:r>
              <a:rPr lang="en-US" dirty="0"/>
              <a:t>Demo</a:t>
            </a:r>
          </a:p>
          <a:p>
            <a:endParaRPr lang="en-US" dirty="0"/>
          </a:p>
        </p:txBody>
      </p:sp>
      <p:pic>
        <p:nvPicPr>
          <p:cNvPr id="4" name="Picture 3" descr="Sealey &lt;strong&gt;Forklift&lt;/strong&gt; | Some new products arriving at the warehous… | Flickr - Photo Sharing!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86"/>
          <a:stretch/>
        </p:blipFill>
        <p:spPr>
          <a:xfrm>
            <a:off x="8011543" y="3024156"/>
            <a:ext cx="3967095" cy="383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1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Common problem: When reading data from a file, it comes in as the wrong type</a:t>
            </a:r>
          </a:p>
          <a:p>
            <a:pPr lvl="1"/>
            <a:r>
              <a:rPr lang="en-US" dirty="0"/>
              <a:t>Example: comes in as strings instead of </a:t>
            </a:r>
            <a:r>
              <a:rPr lang="en-US" dirty="0" err="1"/>
              <a:t>ints</a:t>
            </a:r>
            <a:endParaRPr lang="en-US" dirty="0"/>
          </a:p>
          <a:p>
            <a:r>
              <a:rPr lang="en-US" dirty="0"/>
              <a:t>Currently, if we have a list of strings, we need a for loop to convert it to a list of </a:t>
            </a:r>
            <a:r>
              <a:rPr lang="en-US" dirty="0" err="1"/>
              <a:t>ints</a:t>
            </a:r>
            <a:endParaRPr lang="en-US" dirty="0"/>
          </a:p>
          <a:p>
            <a:pPr lvl="1"/>
            <a:r>
              <a:rPr lang="en-US" dirty="0"/>
              <a:t>Seems kind of overkill</a:t>
            </a:r>
          </a:p>
          <a:p>
            <a:r>
              <a:rPr lang="en-US" dirty="0" err="1"/>
              <a:t>Numpy</a:t>
            </a:r>
            <a:r>
              <a:rPr lang="en-US" dirty="0"/>
              <a:t> makes this very easy</a:t>
            </a:r>
          </a:p>
          <a:p>
            <a:pPr lvl="1"/>
            <a:r>
              <a:rPr lang="en-US" dirty="0" err="1"/>
              <a:t>stringList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([“1”, “5”, “3”]</a:t>
            </a:r>
          </a:p>
          <a:p>
            <a:pPr lvl="1"/>
            <a:r>
              <a:rPr lang="en-US" dirty="0" err="1"/>
              <a:t>intList</a:t>
            </a:r>
            <a:r>
              <a:rPr lang="en-US" dirty="0"/>
              <a:t> = </a:t>
            </a:r>
            <a:r>
              <a:rPr lang="en-US" dirty="0" err="1"/>
              <a:t>stringList.astype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 </a:t>
            </a:r>
            <a:r>
              <a:rPr lang="en-US" dirty="0">
                <a:sym typeface="Wingdings" panose="05000000000000000000" pitchFamily="2" charset="2"/>
              </a:rPr>
              <a:t> Now an array of </a:t>
            </a:r>
            <a:r>
              <a:rPr lang="en-US" dirty="0" err="1">
                <a:sym typeface="Wingdings" panose="05000000000000000000" pitchFamily="2" charset="2"/>
              </a:rPr>
              <a:t>ints</a:t>
            </a:r>
            <a:r>
              <a:rPr lang="en-US" dirty="0">
                <a:sym typeface="Wingdings" panose="05000000000000000000" pitchFamily="2" charset="2"/>
              </a:rPr>
              <a:t>!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Also works for other types (e.g. float)</a:t>
            </a:r>
          </a:p>
          <a:p>
            <a:r>
              <a:rPr lang="en-US" dirty="0" err="1"/>
              <a:t>Arr.dtype</a:t>
            </a:r>
            <a:r>
              <a:rPr lang="en-US" dirty="0"/>
              <a:t> shows the type of an array</a:t>
            </a:r>
          </a:p>
          <a:p>
            <a:pPr lvl="1"/>
            <a:r>
              <a:rPr lang="en-US" dirty="0"/>
              <a:t>More specific than Python types</a:t>
            </a:r>
          </a:p>
          <a:p>
            <a:pPr lvl="2"/>
            <a:r>
              <a:rPr lang="en-US" dirty="0"/>
              <a:t>Float64 can represent more values/digits than float32</a:t>
            </a:r>
          </a:p>
          <a:p>
            <a:pPr lvl="2"/>
            <a:r>
              <a:rPr lang="en-US" dirty="0"/>
              <a:t>Uint8 can represent less values compared to int64</a:t>
            </a:r>
          </a:p>
          <a:p>
            <a:pPr lvl="3"/>
            <a:r>
              <a:rPr lang="en-US" dirty="0"/>
              <a:t>Only 0-255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35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A5F9-D91A-42C3-B9FC-37D7D1983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lab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6A7FF-492E-4547-A859-4563AF3E9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 started in </a:t>
            </a:r>
            <a:r>
              <a:rPr lang="en-US" dirty="0" err="1"/>
              <a:t>numpy</a:t>
            </a:r>
            <a:endParaRPr lang="en-US" dirty="0"/>
          </a:p>
          <a:p>
            <a:r>
              <a:rPr lang="en-US" dirty="0"/>
              <a:t>More complicated one later</a:t>
            </a:r>
          </a:p>
        </p:txBody>
      </p:sp>
    </p:spTree>
    <p:extLst>
      <p:ext uri="{BB962C8B-B14F-4D97-AF65-F5344CB8AC3E}">
        <p14:creationId xmlns:p14="http://schemas.microsoft.com/office/powerpoint/2010/main" val="1318996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3242</TotalTime>
  <Words>683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DATA/CS 172: Python for Data Analysis</vt:lpstr>
      <vt:lpstr>Reminders/Announcements</vt:lpstr>
      <vt:lpstr>What are numpy arrays?</vt:lpstr>
      <vt:lpstr>Ok, but why??</vt:lpstr>
      <vt:lpstr>Reason 2: Convenience</vt:lpstr>
      <vt:lpstr>Reason 3: Speed</vt:lpstr>
      <vt:lpstr>Creating numpy array from existing list</vt:lpstr>
      <vt:lpstr>Can do most things you would on a normal list</vt:lpstr>
      <vt:lpstr>Creating an all-zero array</vt:lpstr>
      <vt:lpstr>Working with two numpy arrays…</vt:lpstr>
      <vt:lpstr>Element-wise operations</vt:lpstr>
      <vt:lpstr>Changing types</vt:lpstr>
      <vt:lpstr>Simple lab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</dc:creator>
  <cp:lastModifiedBy>Travis Mandel</cp:lastModifiedBy>
  <cp:revision>114</cp:revision>
  <dcterms:created xsi:type="dcterms:W3CDTF">2018-09-05T09:38:38Z</dcterms:created>
  <dcterms:modified xsi:type="dcterms:W3CDTF">2024-10-30T21:23:14Z</dcterms:modified>
</cp:coreProperties>
</file>