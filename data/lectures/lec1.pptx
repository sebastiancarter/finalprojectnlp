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339" r:id="rId4"/>
    <p:sldId id="338" r:id="rId5"/>
    <p:sldId id="321" r:id="rId6"/>
    <p:sldId id="292" r:id="rId7"/>
    <p:sldId id="306" r:id="rId8"/>
    <p:sldId id="293" r:id="rId9"/>
    <p:sldId id="320" r:id="rId10"/>
    <p:sldId id="295" r:id="rId11"/>
    <p:sldId id="300" r:id="rId12"/>
    <p:sldId id="301" r:id="rId13"/>
    <p:sldId id="307" r:id="rId14"/>
    <p:sldId id="299" r:id="rId15"/>
    <p:sldId id="302" r:id="rId16"/>
    <p:sldId id="304" r:id="rId17"/>
    <p:sldId id="305" r:id="rId18"/>
    <p:sldId id="303" r:id="rId19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5204" autoAdjust="0"/>
  </p:normalViewPr>
  <p:slideViewPr>
    <p:cSldViewPr snapToGrid="0">
      <p:cViewPr varScale="1">
        <p:scale>
          <a:sx n="138" d="100"/>
          <a:sy n="138" d="100"/>
        </p:scale>
        <p:origin x="9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CB4EF4E-EB93-44C3-A141-FC4330C6D7B6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86E85AB-DFED-4B8C-AE02-49FF73A58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C07DEBD2-CF81-4BC8-A560-DEB8267EFA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8E405BC5-FA49-4830-A612-DB8653037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3C62BB36-F26E-4613-BCD2-8139581173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0F223D16-6D18-4155-97F2-799E377E0ABD}" type="slidenum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/>
              <a:t>4</a:t>
            </a:fld>
            <a:endParaRPr lang="en-US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6E85AB-DFED-4B8C-AE02-49FF73A586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30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3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5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5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2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1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1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5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CE987-FBFA-40E2-9FBA-1C59C5AC0221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9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Getting Started with Python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8/28/2024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8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Admin Wrap up</a:t>
            </a:r>
          </a:p>
          <a:p>
            <a:r>
              <a:rPr lang="en-US" dirty="0"/>
              <a:t>Getting started with Python</a:t>
            </a:r>
          </a:p>
          <a:p>
            <a:r>
              <a:rPr lang="en-US" dirty="0"/>
              <a:t>Variables &amp; Values</a:t>
            </a:r>
          </a:p>
          <a:p>
            <a:r>
              <a:rPr lang="en-US" dirty="0"/>
              <a:t>Printing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1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DD9C4-6224-46E8-AF74-2425F4864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about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7EA68-E68C-4D51-846A-32C4AD046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posted after class</a:t>
            </a:r>
          </a:p>
          <a:p>
            <a:r>
              <a:rPr lang="en-US" dirty="0"/>
              <a:t>Intended as memory-joggers, not comprehensive notes!</a:t>
            </a:r>
          </a:p>
          <a:p>
            <a:pPr lvl="1"/>
            <a:r>
              <a:rPr lang="en-US" dirty="0"/>
              <a:t>Good idea to take your own notes as well to aid comprehension and to help study</a:t>
            </a:r>
          </a:p>
        </p:txBody>
      </p:sp>
    </p:spTree>
    <p:extLst>
      <p:ext uri="{BB962C8B-B14F-4D97-AF65-F5344CB8AC3E}">
        <p14:creationId xmlns:p14="http://schemas.microsoft.com/office/powerpoint/2010/main" val="154865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7F1D099-2E63-4517-B145-088ACF1FE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468" y="166431"/>
            <a:ext cx="7886700" cy="993775"/>
          </a:xfrm>
        </p:spPr>
        <p:txBody>
          <a:bodyPr/>
          <a:lstStyle/>
          <a:p>
            <a:r>
              <a:rPr lang="en-US" altLang="en-US" sz="3000" dirty="0"/>
              <a:t>Cheating/Academic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8AD36-944A-4403-8B22-9618C2894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065" y="1090484"/>
            <a:ext cx="9336190" cy="467703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1400" dirty="0"/>
              <a:t>Copying another student’s solution?</a:t>
            </a:r>
          </a:p>
          <a:p>
            <a:pPr lvl="1">
              <a:defRPr/>
            </a:pPr>
            <a:r>
              <a:rPr lang="en-US" sz="1200" b="1" dirty="0">
                <a:solidFill>
                  <a:srgbClr val="C00000"/>
                </a:solidFill>
              </a:rPr>
              <a:t>Cheating</a:t>
            </a:r>
          </a:p>
          <a:p>
            <a:pPr>
              <a:defRPr/>
            </a:pPr>
            <a:r>
              <a:rPr lang="en-US" sz="1400" dirty="0"/>
              <a:t>Googling for a solution to the assignment?</a:t>
            </a:r>
          </a:p>
          <a:p>
            <a:pPr lvl="1">
              <a:defRPr/>
            </a:pPr>
            <a:r>
              <a:rPr lang="en-US" sz="1200" b="1" dirty="0">
                <a:solidFill>
                  <a:srgbClr val="C00000"/>
                </a:solidFill>
              </a:rPr>
              <a:t>Cheating</a:t>
            </a:r>
          </a:p>
          <a:p>
            <a:pPr>
              <a:defRPr/>
            </a:pPr>
            <a:r>
              <a:rPr lang="en-US" sz="1400" dirty="0"/>
              <a:t>Googling how to print out a number?</a:t>
            </a:r>
          </a:p>
          <a:p>
            <a:pPr lvl="1">
              <a:defRPr/>
            </a:pPr>
            <a:r>
              <a:rPr lang="en-US" sz="1200" b="1" dirty="0">
                <a:solidFill>
                  <a:srgbClr val="00B050"/>
                </a:solidFill>
              </a:rPr>
              <a:t>Not cheating – short, simple, just a memory issue</a:t>
            </a:r>
          </a:p>
          <a:p>
            <a:pPr>
              <a:defRPr/>
            </a:pPr>
            <a:r>
              <a:rPr lang="en-US" sz="1400" dirty="0"/>
              <a:t>Asking AI to write a chunk of code for you?</a:t>
            </a:r>
          </a:p>
          <a:p>
            <a:pPr lvl="1">
              <a:defRPr/>
            </a:pPr>
            <a:r>
              <a:rPr lang="en-US" sz="1200" b="1" dirty="0">
                <a:solidFill>
                  <a:srgbClr val="C00000"/>
                </a:solidFill>
              </a:rPr>
              <a:t>Cheating – need to learn how to code on your own before using these tools (also functionality, style, ethical issues)</a:t>
            </a:r>
            <a:endParaRPr lang="en-US" sz="1100" dirty="0"/>
          </a:p>
          <a:p>
            <a:pPr>
              <a:defRPr/>
            </a:pPr>
            <a:r>
              <a:rPr lang="en-US" sz="1400" dirty="0"/>
              <a:t>Copying an example from the book?</a:t>
            </a:r>
          </a:p>
          <a:p>
            <a:pPr lvl="1">
              <a:defRPr/>
            </a:pPr>
            <a:r>
              <a:rPr lang="en-US" sz="1200" b="1" dirty="0">
                <a:solidFill>
                  <a:srgbClr val="00B050"/>
                </a:solidFill>
              </a:rPr>
              <a:t>Not cheating</a:t>
            </a:r>
          </a:p>
          <a:p>
            <a:pPr>
              <a:defRPr/>
            </a:pPr>
            <a:r>
              <a:rPr lang="en-US" sz="1400" dirty="0"/>
              <a:t>Showing/Sending someone else your solution, telling them to use it as a reference only?</a:t>
            </a:r>
          </a:p>
          <a:p>
            <a:pPr lvl="1">
              <a:defRPr/>
            </a:pPr>
            <a:r>
              <a:rPr lang="en-US" sz="1200" b="1" dirty="0">
                <a:solidFill>
                  <a:srgbClr val="C00000"/>
                </a:solidFill>
              </a:rPr>
              <a:t>Cheating</a:t>
            </a:r>
          </a:p>
          <a:p>
            <a:pPr>
              <a:defRPr/>
            </a:pPr>
            <a:r>
              <a:rPr lang="en-US" sz="1400" dirty="0"/>
              <a:t>Talking at a high level with another student about a general approach to solving the problem?</a:t>
            </a:r>
          </a:p>
          <a:p>
            <a:pPr lvl="1">
              <a:defRPr/>
            </a:pPr>
            <a:r>
              <a:rPr lang="en-US" sz="1200" b="1" dirty="0">
                <a:solidFill>
                  <a:srgbClr val="00B050"/>
                </a:solidFill>
              </a:rPr>
              <a:t>Not cheating</a:t>
            </a:r>
          </a:p>
          <a:p>
            <a:pPr>
              <a:defRPr/>
            </a:pPr>
            <a:r>
              <a:rPr lang="en-US" sz="1400" dirty="0"/>
              <a:t>Having a friend who a really good programmer write the code for you on a whiteboard, while you type it in?</a:t>
            </a:r>
          </a:p>
          <a:p>
            <a:pPr lvl="1">
              <a:defRPr/>
            </a:pPr>
            <a:r>
              <a:rPr lang="en-US" sz="1200" b="1" dirty="0">
                <a:solidFill>
                  <a:srgbClr val="C00000"/>
                </a:solidFill>
              </a:rPr>
              <a:t>Cheating</a:t>
            </a:r>
          </a:p>
          <a:p>
            <a:pPr>
              <a:defRPr/>
            </a:pPr>
            <a:r>
              <a:rPr lang="en-US" sz="1400" dirty="0"/>
              <a:t>Giving another student who is stuck a couple high-level hints?</a:t>
            </a:r>
          </a:p>
          <a:p>
            <a:pPr lvl="1">
              <a:defRPr/>
            </a:pPr>
            <a:r>
              <a:rPr lang="en-US" sz="1200" b="1" dirty="0">
                <a:solidFill>
                  <a:srgbClr val="00B050"/>
                </a:solidFill>
              </a:rPr>
              <a:t>Not cheating</a:t>
            </a:r>
          </a:p>
          <a:p>
            <a:pPr>
              <a:defRPr/>
            </a:pPr>
            <a:r>
              <a:rPr lang="en-US" sz="1400" dirty="0"/>
              <a:t>Working together with another student – talking through numerous details of how to write the assignment?</a:t>
            </a:r>
          </a:p>
          <a:p>
            <a:pPr lvl="1">
              <a:defRPr/>
            </a:pPr>
            <a:r>
              <a:rPr lang="en-US" sz="1200" b="1" dirty="0">
                <a:solidFill>
                  <a:srgbClr val="C00000"/>
                </a:solidFill>
              </a:rPr>
              <a:t>Cheating – Programs are meant to be YOUR INDEPENDENT WORK</a:t>
            </a:r>
          </a:p>
          <a:p>
            <a:pPr>
              <a:defRPr/>
            </a:pPr>
            <a:endParaRPr lang="en-US" sz="16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Getting started with Python</a:t>
            </a:r>
          </a:p>
        </p:txBody>
      </p:sp>
    </p:spTree>
    <p:extLst>
      <p:ext uri="{BB962C8B-B14F-4D97-AF65-F5344CB8AC3E}">
        <p14:creationId xmlns:p14="http://schemas.microsoft.com/office/powerpoint/2010/main" val="192255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up IDLE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654" y="1925581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IDLE stands for Integrated Development and Learning Environment.</a:t>
            </a:r>
          </a:p>
          <a:p>
            <a:r>
              <a:rPr lang="en-US" dirty="0"/>
              <a:t>Basically a fancy text editor</a:t>
            </a:r>
          </a:p>
          <a:p>
            <a:pPr lvl="1"/>
            <a:r>
              <a:rPr lang="en-US" dirty="0"/>
              <a:t>Colors highlight useful parts </a:t>
            </a:r>
          </a:p>
          <a:p>
            <a:pPr lvl="1"/>
            <a:r>
              <a:rPr lang="en-US" dirty="0"/>
              <a:t>Won’t get in your way</a:t>
            </a:r>
          </a:p>
          <a:p>
            <a:r>
              <a:rPr lang="en-US" dirty="0"/>
              <a:t>If you hate IDLE, could use other environments like Notepad++, </a:t>
            </a:r>
            <a:r>
              <a:rPr lang="en-US" dirty="0" err="1"/>
              <a:t>Pycharm</a:t>
            </a:r>
            <a:r>
              <a:rPr lang="en-US" dirty="0"/>
              <a:t>, </a:t>
            </a:r>
            <a:r>
              <a:rPr lang="en-US" dirty="0" err="1"/>
              <a:t>Xcode</a:t>
            </a:r>
            <a:r>
              <a:rPr lang="en-US" dirty="0"/>
              <a:t>, vim, emacs, etc.</a:t>
            </a:r>
          </a:p>
          <a:p>
            <a:pPr lvl="1"/>
            <a:r>
              <a:rPr lang="en-US" dirty="0"/>
              <a:t>Mostly need a way to edit the text</a:t>
            </a:r>
          </a:p>
          <a:p>
            <a:pPr lvl="1"/>
            <a:r>
              <a:rPr lang="en-US" dirty="0"/>
              <a:t>I think </a:t>
            </a:r>
            <a:r>
              <a:rPr lang="en-US" dirty="0" err="1"/>
              <a:t>Pycharm</a:t>
            </a:r>
            <a:r>
              <a:rPr lang="en-US" dirty="0"/>
              <a:t> is very nice once you get to large projects with many different scripts</a:t>
            </a:r>
          </a:p>
          <a:p>
            <a:pPr lvl="2"/>
            <a:r>
              <a:rPr lang="en-US" dirty="0"/>
              <a:t>Not usually the case in this class</a:t>
            </a:r>
          </a:p>
          <a:p>
            <a:pPr lvl="1"/>
            <a:r>
              <a:rPr lang="en-US" dirty="0"/>
              <a:t>Can’t give specific help on the features of these all of these programs</a:t>
            </a:r>
          </a:p>
          <a:p>
            <a:pPr lvl="1"/>
            <a:r>
              <a:rPr lang="en-US" dirty="0"/>
              <a:t>For now, follow along in IDLE</a:t>
            </a:r>
          </a:p>
        </p:txBody>
      </p:sp>
      <p:pic>
        <p:nvPicPr>
          <p:cNvPr id="4" name="Picture 3" descr="&lt;strong&gt;Idle&lt;/strong&gt; Time by kechap on deviantAR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579" y="0"/>
            <a:ext cx="1484176" cy="197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6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you start IDLE…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330" y="1690688"/>
            <a:ext cx="5511670" cy="48021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It’s running python in </a:t>
            </a:r>
            <a:r>
              <a:rPr lang="en-US" b="1" dirty="0"/>
              <a:t>interactive mode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/>
          </a:p>
          <a:p>
            <a:r>
              <a:rPr lang="en-US" dirty="0"/>
              <a:t>As soon as you type a command and hit “enter”, the command is run and the output is shown</a:t>
            </a:r>
          </a:p>
          <a:p>
            <a:r>
              <a:rPr lang="en-US" dirty="0"/>
              <a:t>But, you are typing real Python </a:t>
            </a:r>
            <a:r>
              <a:rPr lang="en-US" b="1" dirty="0"/>
              <a:t>code</a:t>
            </a:r>
            <a:r>
              <a:rPr lang="en-US" dirty="0"/>
              <a:t>!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/>
          </a:p>
          <a:p>
            <a:pPr lvl="1"/>
            <a:r>
              <a:rPr lang="en-US" dirty="0"/>
              <a:t>Aka text that Python can interpret and run</a:t>
            </a:r>
          </a:p>
          <a:p>
            <a:endParaRPr lang="en-US" dirty="0"/>
          </a:p>
          <a:p>
            <a:r>
              <a:rPr lang="en-US" dirty="0"/>
              <a:t>Note for C++ programmers:  This wouldn’t really be possible in C++, because C++ is a compiled language where code must be compiled before it is run.</a:t>
            </a:r>
          </a:p>
          <a:p>
            <a:pPr lvl="1"/>
            <a:r>
              <a:rPr lang="en-US" dirty="0"/>
              <a:t>Python is designed as an interpreted language, which adds flexibility at the cost of speed.</a:t>
            </a:r>
          </a:p>
          <a:p>
            <a:endParaRPr lang="en-US" dirty="0"/>
          </a:p>
        </p:txBody>
      </p:sp>
      <p:pic>
        <p:nvPicPr>
          <p:cNvPr id="5" name="Picture 4" descr="Green Snake Terror - Morelia viridis | Madang - Ples Bilong Mi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17" y="5742"/>
            <a:ext cx="3086383" cy="23147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A3B567-B14A-484E-AA78-526E6814B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472" y="3335003"/>
            <a:ext cx="6331527" cy="252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2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833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“hello world”</a:t>
            </a:r>
          </a:p>
          <a:p>
            <a:r>
              <a:rPr lang="en-US" dirty="0"/>
              <a:t>5 * 3</a:t>
            </a:r>
          </a:p>
          <a:p>
            <a:r>
              <a:rPr lang="en-US" dirty="0"/>
              <a:t>a = 6</a:t>
            </a:r>
          </a:p>
          <a:p>
            <a:r>
              <a:rPr lang="en-US" dirty="0"/>
              <a:t>a * 2</a:t>
            </a:r>
          </a:p>
          <a:p>
            <a:r>
              <a:rPr lang="en-US" dirty="0"/>
              <a:t>result = a * 2</a:t>
            </a:r>
          </a:p>
          <a:p>
            <a:r>
              <a:rPr lang="en-US" dirty="0"/>
              <a:t>result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77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these weird names called (a, b, </a:t>
            </a:r>
            <a:r>
              <a:rPr lang="en-US" dirty="0" err="1"/>
              <a:t>etc</a:t>
            </a:r>
            <a:r>
              <a:rPr lang="en-US" dirty="0"/>
              <a:t>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guesses?</a:t>
            </a:r>
          </a:p>
          <a:p>
            <a:pPr lvl="1"/>
            <a:r>
              <a:rPr lang="en-US" dirty="0"/>
              <a:t>Hint: Very similar to x, y, etc. in math</a:t>
            </a:r>
          </a:p>
          <a:p>
            <a:pPr lvl="1"/>
            <a:r>
              <a:rPr lang="en-US" dirty="0"/>
              <a:t>Right! </a:t>
            </a:r>
            <a:r>
              <a:rPr lang="en-US" b="1" dirty="0"/>
              <a:t>Variables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</a:p>
          <a:p>
            <a:r>
              <a:rPr lang="en-US" dirty="0"/>
              <a:t>What do we call those things that we put in variables?</a:t>
            </a:r>
          </a:p>
          <a:p>
            <a:pPr lvl="1"/>
            <a:r>
              <a:rPr lang="en-US" b="1" dirty="0"/>
              <a:t>Values</a:t>
            </a:r>
            <a:r>
              <a:rPr lang="en-US" dirty="0"/>
              <a:t> (same as math)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/>
          </a:p>
          <a:p>
            <a:r>
              <a:rPr lang="en-US" dirty="0"/>
              <a:t>When we write a=6, that puts the value 6 in the variable a</a:t>
            </a:r>
          </a:p>
          <a:p>
            <a:pPr lvl="1"/>
            <a:r>
              <a:rPr lang="en-US" dirty="0"/>
              <a:t>Called </a:t>
            </a:r>
            <a:r>
              <a:rPr lang="en-US" b="1" dirty="0"/>
              <a:t>assign</a:t>
            </a:r>
            <a:r>
              <a:rPr lang="en-US" dirty="0"/>
              <a:t>ing…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/>
          </a:p>
          <a:p>
            <a:pPr lvl="1"/>
            <a:r>
              <a:rPr lang="en-US" dirty="0"/>
              <a:t>Variables can be assigned multiple times (demo)</a:t>
            </a:r>
          </a:p>
          <a:p>
            <a:pPr lvl="2"/>
            <a:r>
              <a:rPr lang="en-US" dirty="0"/>
              <a:t>Overwrite each other</a:t>
            </a:r>
          </a:p>
          <a:p>
            <a:pPr lvl="2"/>
            <a:r>
              <a:rPr lang="en-US" dirty="0"/>
              <a:t>First time is called </a:t>
            </a:r>
            <a:r>
              <a:rPr lang="en-US" b="1" dirty="0"/>
              <a:t>defining </a:t>
            </a:r>
            <a:r>
              <a:rPr lang="en-US" dirty="0"/>
              <a:t>or </a:t>
            </a:r>
            <a:r>
              <a:rPr lang="en-US" b="1" dirty="0"/>
              <a:t>initializing </a:t>
            </a:r>
            <a:r>
              <a:rPr lang="en-US" dirty="0"/>
              <a:t>the variable</a:t>
            </a:r>
            <a:r>
              <a:rPr lang="en-US" b="1" dirty="0"/>
              <a:t>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terms!</a:t>
            </a:r>
            <a:endParaRPr lang="en-US" dirty="0"/>
          </a:p>
          <a:p>
            <a:pPr lvl="2"/>
            <a:endParaRPr lang="en-US" b="1" dirty="0"/>
          </a:p>
          <a:p>
            <a:pPr lvl="1"/>
            <a:endParaRPr lang="en-US" dirty="0"/>
          </a:p>
        </p:txBody>
      </p:sp>
      <p:pic>
        <p:nvPicPr>
          <p:cNvPr id="4" name="Picture 3" descr="&lt;strong&gt;Blackboard&lt;/strong&gt; | Já que não achei uma boa imagem de um Quadro ne… | Flickr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31" y="1176804"/>
            <a:ext cx="3805386" cy="182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3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Variable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is a better name?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number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dollars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costOfEquipment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costOfEquipmentInDollarsIncludingUtilitiesAndTax</a:t>
            </a:r>
            <a:endParaRPr lang="en-US" dirty="0"/>
          </a:p>
          <a:p>
            <a:r>
              <a:rPr lang="en-US" dirty="0"/>
              <a:t>More descriptive names better (to an extent)!</a:t>
            </a:r>
          </a:p>
          <a:p>
            <a:r>
              <a:rPr lang="en-US" dirty="0"/>
              <a:t>Cannot combine words with space in variable names</a:t>
            </a:r>
          </a:p>
          <a:p>
            <a:pPr lvl="1"/>
            <a:r>
              <a:rPr lang="en-US" dirty="0" err="1"/>
              <a:t>can_use_underscores</a:t>
            </a:r>
            <a:endParaRPr lang="en-US" dirty="0"/>
          </a:p>
          <a:p>
            <a:pPr lvl="1"/>
            <a:r>
              <a:rPr lang="en-US" dirty="0" err="1"/>
              <a:t>orCamelCase</a:t>
            </a:r>
            <a:r>
              <a:rPr lang="en-US" dirty="0"/>
              <a:t> (preferred by many)</a:t>
            </a:r>
          </a:p>
        </p:txBody>
      </p:sp>
      <p:pic>
        <p:nvPicPr>
          <p:cNvPr id="5" name="Picture 4" descr="Park Ridge Underground: School District 64 Invites You To Play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541" y="0"/>
            <a:ext cx="3743459" cy="267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7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 now we’re using Python kind of like a calculator</a:t>
            </a:r>
          </a:p>
          <a:p>
            <a:r>
              <a:rPr lang="en-US" dirty="0"/>
              <a:t>What is I ask you to re-do the calculations, but change a few numbers?</a:t>
            </a:r>
          </a:p>
          <a:p>
            <a:r>
              <a:rPr lang="en-US" dirty="0"/>
              <a:t>As a data scientist, what if we collect more data and want to throw it in to our analysis?</a:t>
            </a:r>
          </a:p>
          <a:p>
            <a:pPr lvl="1"/>
            <a:r>
              <a:rPr lang="en-US" dirty="0"/>
              <a:t>Certainly wouldn’t want to retype all the commands!</a:t>
            </a:r>
          </a:p>
          <a:p>
            <a:r>
              <a:rPr lang="en-US" dirty="0"/>
              <a:t>Want to create a big list of commands that run all at once</a:t>
            </a:r>
          </a:p>
          <a:p>
            <a:pPr lvl="1"/>
            <a:r>
              <a:rPr lang="en-US" dirty="0"/>
              <a:t>Called a </a:t>
            </a:r>
            <a:r>
              <a:rPr lang="en-US" b="1" dirty="0"/>
              <a:t>script</a:t>
            </a:r>
            <a:r>
              <a:rPr lang="en-US" dirty="0"/>
              <a:t> or a </a:t>
            </a:r>
            <a:r>
              <a:rPr lang="en-US" b="1" dirty="0"/>
              <a:t>program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terms!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Zurich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251" y="0"/>
            <a:ext cx="2814749" cy="211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5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start a script, click </a:t>
            </a:r>
            <a:r>
              <a:rPr lang="en-US" dirty="0" err="1"/>
              <a:t>File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New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your script</a:t>
            </a:r>
          </a:p>
          <a:p>
            <a:r>
              <a:rPr lang="en-US" dirty="0"/>
              <a:t>Save your script </a:t>
            </a:r>
            <a:r>
              <a:rPr lang="en-US" dirty="0" err="1"/>
              <a:t>File</a:t>
            </a:r>
            <a:r>
              <a:rPr lang="en-US" dirty="0" err="1">
                <a:sym typeface="Wingdings" panose="05000000000000000000" pitchFamily="2" charset="2"/>
              </a:rPr>
              <a:t>Save</a:t>
            </a:r>
            <a:endParaRPr lang="en-US" dirty="0"/>
          </a:p>
          <a:p>
            <a:r>
              <a:rPr lang="en-US" dirty="0"/>
              <a:t>Then to run the script, hit </a:t>
            </a:r>
            <a:r>
              <a:rPr lang="en-US" dirty="0" err="1"/>
              <a:t>Run</a:t>
            </a:r>
            <a:r>
              <a:rPr lang="en-US" dirty="0" err="1">
                <a:sym typeface="Wingdings" panose="05000000000000000000" pitchFamily="2" charset="2"/>
              </a:rPr>
              <a:t>Run</a:t>
            </a:r>
            <a:r>
              <a:rPr lang="en-US" dirty="0">
                <a:sym typeface="Wingdings" panose="05000000000000000000" pitchFamily="2" charset="2"/>
              </a:rPr>
              <a:t> Module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Or just hit F5</a:t>
            </a:r>
            <a:endParaRPr lang="en-US" dirty="0"/>
          </a:p>
          <a:p>
            <a:r>
              <a:rPr lang="en-US" dirty="0"/>
              <a:t>demo</a:t>
            </a:r>
          </a:p>
        </p:txBody>
      </p:sp>
      <p:pic>
        <p:nvPicPr>
          <p:cNvPr id="4" name="Picture 3" descr="File:Film School Movie &lt;strong&gt;Script&lt;/strong&gt; Romeo Juliet et al.pdf - Wikiversit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389" y="2644045"/>
            <a:ext cx="3257197" cy="421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3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865" y="2580672"/>
            <a:ext cx="10515600" cy="4351338"/>
          </a:xfrm>
        </p:spPr>
        <p:txBody>
          <a:bodyPr/>
          <a:lstStyle/>
          <a:p>
            <a:r>
              <a:rPr lang="en-US" dirty="0"/>
              <a:t>In computer science, </a:t>
            </a:r>
            <a:r>
              <a:rPr lang="en-US" b="1" dirty="0"/>
              <a:t>printing</a:t>
            </a:r>
            <a:r>
              <a:rPr lang="en-US" dirty="0"/>
              <a:t> usually refers to putting text on the screen, not on paper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/>
          </a:p>
          <a:p>
            <a:r>
              <a:rPr lang="en-US" dirty="0"/>
              <a:t>In the interactive window, it kind of prints automatically</a:t>
            </a:r>
          </a:p>
          <a:p>
            <a:pPr lvl="1"/>
            <a:r>
              <a:rPr lang="en-US" dirty="0"/>
              <a:t>Not so when writing a script! (demo)</a:t>
            </a:r>
          </a:p>
          <a:p>
            <a:r>
              <a:rPr lang="en-US" dirty="0"/>
              <a:t>To put output on the screen, have to use print()</a:t>
            </a:r>
          </a:p>
          <a:p>
            <a:pPr lvl="1"/>
            <a:r>
              <a:rPr lang="en-US" dirty="0"/>
              <a:t>print(“hello world”)</a:t>
            </a:r>
          </a:p>
          <a:p>
            <a:pPr lvl="1"/>
            <a:r>
              <a:rPr lang="en-US" dirty="0"/>
              <a:t>Quotes mean print the text exactly (instead of treating it as a variable)</a:t>
            </a:r>
          </a:p>
        </p:txBody>
      </p:sp>
      <p:pic>
        <p:nvPicPr>
          <p:cNvPr id="4" name="Picture 3" descr="BIG IMAGE (PNG)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731" y="0"/>
            <a:ext cx="2672086" cy="265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4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with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totalHomes</a:t>
            </a:r>
            <a:r>
              <a:rPr lang="en-US" dirty="0"/>
              <a:t> = 6 * 7</a:t>
            </a:r>
          </a:p>
          <a:p>
            <a:pPr marL="0" indent="0">
              <a:buNone/>
            </a:pPr>
            <a:r>
              <a:rPr lang="en-US" dirty="0"/>
              <a:t>print(“The number of total homes is:”)</a:t>
            </a:r>
          </a:p>
          <a:p>
            <a:r>
              <a:rPr lang="en-US" dirty="0"/>
              <a:t>What now?</a:t>
            </a:r>
          </a:p>
          <a:p>
            <a:pPr lvl="1"/>
            <a:r>
              <a:rPr lang="en-US" dirty="0"/>
              <a:t>Idea 1: </a:t>
            </a:r>
          </a:p>
          <a:p>
            <a:pPr marL="457200" lvl="1" indent="0">
              <a:buNone/>
            </a:pPr>
            <a:r>
              <a:rPr lang="en-US" dirty="0"/>
              <a:t>	print(“The number of total homes is:”)</a:t>
            </a:r>
          </a:p>
          <a:p>
            <a:pPr marL="457200" lvl="1" indent="0">
              <a:buNone/>
            </a:pPr>
            <a:r>
              <a:rPr lang="en-US" dirty="0"/>
              <a:t>	print(</a:t>
            </a:r>
            <a:r>
              <a:rPr lang="en-US" dirty="0" err="1"/>
              <a:t>totalHomes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Have to print on separate line which is annoying</a:t>
            </a:r>
          </a:p>
          <a:p>
            <a:pPr lvl="1"/>
            <a:r>
              <a:rPr lang="en-US" dirty="0"/>
              <a:t>print (“The number of total homes is:”, </a:t>
            </a:r>
            <a:r>
              <a:rPr lang="en-US" dirty="0" err="1"/>
              <a:t>totalHomes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For CS majors: print is a function with any number of arguments </a:t>
            </a:r>
          </a:p>
          <a:p>
            <a:r>
              <a:rPr lang="en-US" dirty="0"/>
              <a:t>A (more advanced) way to do this is f-strings</a:t>
            </a:r>
          </a:p>
          <a:p>
            <a:pPr lvl="1"/>
            <a:r>
              <a:rPr lang="en-US" dirty="0"/>
              <a:t>Print(</a:t>
            </a:r>
            <a:r>
              <a:rPr lang="en-US" dirty="0" err="1"/>
              <a:t>f”There</a:t>
            </a:r>
            <a:r>
              <a:rPr lang="en-US" dirty="0"/>
              <a:t> are {</a:t>
            </a:r>
            <a:r>
              <a:rPr lang="en-US" dirty="0" err="1"/>
              <a:t>totalHomes</a:t>
            </a:r>
            <a:r>
              <a:rPr lang="en-US" dirty="0"/>
              <a:t>} homes”)</a:t>
            </a:r>
          </a:p>
          <a:p>
            <a:pPr lvl="2"/>
            <a:r>
              <a:rPr lang="en-US" dirty="0"/>
              <a:t>F in front, variables enclosed in curly brackets</a:t>
            </a:r>
          </a:p>
          <a:p>
            <a:pPr lvl="1"/>
            <a:r>
              <a:rPr lang="en-US" dirty="0"/>
              <a:t>Can be a little less typing</a:t>
            </a:r>
          </a:p>
          <a:p>
            <a:pPr marL="457200" lvl="1" indent="0">
              <a:buNone/>
            </a:pP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40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of print with </a:t>
            </a:r>
            <a:r>
              <a:rPr lang="en-US" dirty="0" err="1"/>
              <a:t>vars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33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Lines that start with a # are treated as a </a:t>
            </a:r>
            <a:r>
              <a:rPr lang="en-US" b="1" dirty="0"/>
              <a:t>comment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b="1" dirty="0"/>
          </a:p>
          <a:p>
            <a:pPr lvl="1"/>
            <a:r>
              <a:rPr lang="en-US" dirty="0"/>
              <a:t>Means you can write anything, no effect on how program runs</a:t>
            </a:r>
          </a:p>
          <a:p>
            <a:pPr lvl="1"/>
            <a:r>
              <a:rPr lang="en-US" dirty="0"/>
              <a:t>Useful to write notes about what the program </a:t>
            </a:r>
            <a:r>
              <a:rPr lang="en-US"/>
              <a:t>is doing</a:t>
            </a:r>
            <a:endParaRPr lang="en-US" dirty="0"/>
          </a:p>
        </p:txBody>
      </p:sp>
      <p:pic>
        <p:nvPicPr>
          <p:cNvPr id="4" name="Picture 3" descr="Ficheiro:&lt;strong&gt;Comments&lt;/strong&gt; alt font awesome.svg – Wikipédia, a enciclopédia livr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23" y="0"/>
            <a:ext cx="2003738" cy="20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1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Whew! That’s enough for now…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to get going on the rest of the first lab!</a:t>
            </a:r>
          </a:p>
          <a:p>
            <a:r>
              <a:rPr lang="en-US" sz="2800" dirty="0"/>
              <a:t>Next time: Getting started with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34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6927</TotalTime>
  <Words>991</Words>
  <Application>Microsoft Office PowerPoint</Application>
  <PresentationFormat>Widescreen</PresentationFormat>
  <Paragraphs>131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DATA/CS 172: Python for Data Analysis</vt:lpstr>
      <vt:lpstr>Today</vt:lpstr>
      <vt:lpstr>Note about slides</vt:lpstr>
      <vt:lpstr>Cheating/Academic integrity</vt:lpstr>
      <vt:lpstr>Getting started with Python</vt:lpstr>
      <vt:lpstr>Start up IDLE</vt:lpstr>
      <vt:lpstr>When you start IDLE… </vt:lpstr>
      <vt:lpstr>Demo</vt:lpstr>
      <vt:lpstr>Demo</vt:lpstr>
      <vt:lpstr>What are these weird names called (a, b, etc?)</vt:lpstr>
      <vt:lpstr>Note: Variable Names</vt:lpstr>
      <vt:lpstr>Scripts</vt:lpstr>
      <vt:lpstr>To start a script, click FileNew</vt:lpstr>
      <vt:lpstr>Printing</vt:lpstr>
      <vt:lpstr>Printing with variables</vt:lpstr>
      <vt:lpstr>Demo of print with vars</vt:lpstr>
      <vt:lpstr>Comments</vt:lpstr>
      <vt:lpstr>Whew! That’s enough for now…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CS150: Intro to computer Science I</dc:title>
  <dc:creator>Travis Mandel</dc:creator>
  <cp:lastModifiedBy>Travis Mandel</cp:lastModifiedBy>
  <cp:revision>138</cp:revision>
  <cp:lastPrinted>2019-08-28T19:29:42Z</cp:lastPrinted>
  <dcterms:created xsi:type="dcterms:W3CDTF">2017-08-18T20:15:43Z</dcterms:created>
  <dcterms:modified xsi:type="dcterms:W3CDTF">2024-08-28T18:52:04Z</dcterms:modified>
</cp:coreProperties>
</file>