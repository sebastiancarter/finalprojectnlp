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6" r:id="rId3"/>
    <p:sldId id="260" r:id="rId4"/>
    <p:sldId id="261" r:id="rId5"/>
    <p:sldId id="262" r:id="rId6"/>
    <p:sldId id="263" r:id="rId7"/>
    <p:sldId id="257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1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6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8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98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96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29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7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CC73F-585C-4A78-8F27-394E1960FA88}" type="datetimeFigureOut">
              <a:rPr lang="en-US" smtClean="0"/>
              <a:t>10/9/2024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9F01F-13B5-4BFF-8BDF-D1D6FDEC6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32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em1.com/acad/webtext/intro/int-2.html" TargetMode="External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Weird:_the_Al_Yankovic_Story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Kyle-cassidy-weird-al-yankovic.jpg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ottbradford.us/2016/09/16/meeting-weird-al-briefly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publicdomainpictures.net/view-image.php?image=19527&amp;picture=book-textbook&amp;large=1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/>
              <a:t>DATA/CS 172</a:t>
            </a:r>
            <a:r>
              <a:rPr lang="en-US" dirty="0"/>
              <a:t>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Dictionaries as Counters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10/9/2024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2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06CA8-1453-4F07-85AE-B1EE71AF7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CEE5-2CD0-4AE7-874A-315753798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Program 1 due Friday!</a:t>
            </a:r>
          </a:p>
          <a:p>
            <a:r>
              <a:rPr lang="en-US" dirty="0"/>
              <a:t>Stay on top of Labs</a:t>
            </a:r>
          </a:p>
        </p:txBody>
      </p:sp>
    </p:spTree>
    <p:extLst>
      <p:ext uri="{BB962C8B-B14F-4D97-AF65-F5344CB8AC3E}">
        <p14:creationId xmlns:p14="http://schemas.microsoft.com/office/powerpoint/2010/main" val="252435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181A-3691-44B8-9070-1A967581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60E7C-7E3A-446D-9A73-65EC2B84E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Empty </a:t>
            </a:r>
            <a:r>
              <a:rPr lang="en-US" dirty="0" err="1"/>
              <a:t>dict</a:t>
            </a:r>
            <a:endParaRPr lang="en-US" dirty="0"/>
          </a:p>
          <a:p>
            <a:pPr lvl="1"/>
            <a:r>
              <a:rPr lang="en-US" dirty="0" err="1"/>
              <a:t>myDict</a:t>
            </a:r>
            <a:r>
              <a:rPr lang="en-US" dirty="0"/>
              <a:t> = {}</a:t>
            </a:r>
          </a:p>
          <a:p>
            <a:pPr lvl="1"/>
            <a:r>
              <a:rPr lang="en-US" dirty="0"/>
              <a:t>Note the curly braces!</a:t>
            </a:r>
          </a:p>
          <a:p>
            <a:pPr lvl="2"/>
            <a:r>
              <a:rPr lang="en-US" dirty="0"/>
              <a:t>In contrast to square for lists and </a:t>
            </a:r>
            <a:r>
              <a:rPr lang="en-US" dirty="0" err="1"/>
              <a:t>parens</a:t>
            </a:r>
            <a:r>
              <a:rPr lang="en-US" dirty="0"/>
              <a:t> for tuples</a:t>
            </a:r>
          </a:p>
          <a:p>
            <a:r>
              <a:rPr lang="en-US" dirty="0" err="1"/>
              <a:t>Dict</a:t>
            </a:r>
            <a:r>
              <a:rPr lang="en-US" dirty="0"/>
              <a:t> with some stuff in there already:</a:t>
            </a:r>
          </a:p>
          <a:p>
            <a:pPr marL="457200" lvl="1" indent="0">
              <a:buNone/>
            </a:pPr>
            <a:r>
              <a:rPr lang="en-US" dirty="0" err="1"/>
              <a:t>myDict</a:t>
            </a:r>
            <a:r>
              <a:rPr lang="en-US" dirty="0"/>
              <a:t> = {</a:t>
            </a:r>
          </a:p>
          <a:p>
            <a:pPr marL="457200" lvl="1" indent="0">
              <a:buNone/>
            </a:pPr>
            <a:r>
              <a:rPr lang="en-US" dirty="0"/>
              <a:t>	“key1” :”value1”,</a:t>
            </a:r>
          </a:p>
          <a:p>
            <a:pPr marL="457200" lvl="1" indent="0">
              <a:buNone/>
            </a:pPr>
            <a:r>
              <a:rPr lang="en-US" dirty="0"/>
              <a:t>	“key2”:”value2”,</a:t>
            </a:r>
          </a:p>
          <a:p>
            <a:pPr marL="457200" lvl="1" indent="0">
              <a:buNone/>
            </a:pPr>
            <a:r>
              <a:rPr lang="en-US" dirty="0"/>
              <a:t>	“key3”:”value3”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Keys often strings </a:t>
            </a:r>
          </a:p>
          <a:p>
            <a:pPr marL="0" indent="0">
              <a:buNone/>
            </a:pPr>
            <a:r>
              <a:rPr lang="en-US" dirty="0"/>
              <a:t>Values could be any type (</a:t>
            </a:r>
            <a:r>
              <a:rPr lang="en-US" dirty="0" err="1"/>
              <a:t>int</a:t>
            </a:r>
            <a:r>
              <a:rPr lang="en-US" dirty="0"/>
              <a:t>, float, string, etc.)</a:t>
            </a:r>
          </a:p>
        </p:txBody>
      </p:sp>
    </p:spTree>
    <p:extLst>
      <p:ext uri="{BB962C8B-B14F-4D97-AF65-F5344CB8AC3E}">
        <p14:creationId xmlns:p14="http://schemas.microsoft.com/office/powerpoint/2010/main" val="1073115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case: Counting stuff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Trying to count how many things of a certain type are in our data</a:t>
            </a:r>
          </a:p>
          <a:p>
            <a:r>
              <a:rPr lang="en-US" dirty="0"/>
              <a:t>Example: How many films is an actor in?</a:t>
            </a:r>
          </a:p>
          <a:p>
            <a:pPr lvl="1"/>
            <a:r>
              <a:rPr lang="en-US" dirty="0"/>
              <a:t>How many times does a certain sensor reading appear?</a:t>
            </a:r>
          </a:p>
          <a:p>
            <a:pPr lvl="1"/>
            <a:r>
              <a:rPr lang="en-US" dirty="0"/>
              <a:t>Etc.</a:t>
            </a:r>
          </a:p>
          <a:p>
            <a:r>
              <a:rPr lang="en-US" dirty="0"/>
              <a:t>Solution: Use a </a:t>
            </a:r>
            <a:r>
              <a:rPr lang="en-US" dirty="0" err="1"/>
              <a:t>dict</a:t>
            </a:r>
            <a:endParaRPr lang="en-US" dirty="0"/>
          </a:p>
          <a:p>
            <a:pPr lvl="1"/>
            <a:r>
              <a:rPr lang="en-US" dirty="0"/>
              <a:t>Keys are strings etc.</a:t>
            </a:r>
          </a:p>
          <a:p>
            <a:pPr lvl="1"/>
            <a:r>
              <a:rPr lang="en-US" dirty="0"/>
              <a:t>Values are </a:t>
            </a:r>
            <a:r>
              <a:rPr lang="en-US" b="1" dirty="0" err="1"/>
              <a:t>ints</a:t>
            </a:r>
            <a:endParaRPr lang="en-US" b="1" dirty="0"/>
          </a:p>
          <a:p>
            <a:pPr lvl="2"/>
            <a:r>
              <a:rPr lang="en-US" dirty="0"/>
              <a:t>Values represent counts</a:t>
            </a:r>
          </a:p>
          <a:p>
            <a:pPr lvl="3"/>
            <a:r>
              <a:rPr lang="en-US" dirty="0"/>
              <a:t>Start at 0, go up by 1 as we see items</a:t>
            </a:r>
          </a:p>
        </p:txBody>
      </p:sp>
      <p:pic>
        <p:nvPicPr>
          <p:cNvPr id="5" name="Picture 4" descr="A picture containing bottle&#10;&#10;Description automatically generated">
            <a:extLst>
              <a:ext uri="{FF2B5EF4-FFF2-40B4-BE49-F238E27FC236}">
                <a16:creationId xmlns:a16="http://schemas.microsoft.com/office/drawing/2014/main" id="{86961104-24CF-4430-BF00-B8151D9AA2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32093" y="255358"/>
            <a:ext cx="2701866" cy="164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06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Great!  However, in practice we will come upon this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actorCount</a:t>
            </a:r>
            <a:r>
              <a:rPr lang="en-US" dirty="0"/>
              <a:t> = {“Nick Cage”:112, “Tom Cruise”:48}</a:t>
            </a:r>
          </a:p>
          <a:p>
            <a:r>
              <a:rPr lang="en-US" dirty="0" err="1"/>
              <a:t>actorCount</a:t>
            </a:r>
            <a:r>
              <a:rPr lang="en-US" dirty="0"/>
              <a:t>[“Nick Cage”] += 1</a:t>
            </a:r>
          </a:p>
          <a:p>
            <a:pPr lvl="1"/>
            <a:r>
              <a:rPr lang="en-US" dirty="0"/>
              <a:t>#actorCount[“Nick Cage”] is now 113</a:t>
            </a:r>
          </a:p>
          <a:p>
            <a:endParaRPr lang="en-US" dirty="0"/>
          </a:p>
          <a:p>
            <a:r>
              <a:rPr lang="en-US" dirty="0"/>
              <a:t># We see a new actor, “weird al”, in our dataset</a:t>
            </a:r>
          </a:p>
          <a:p>
            <a:r>
              <a:rPr lang="en-US" dirty="0" err="1"/>
              <a:t>actorCount</a:t>
            </a:r>
            <a:r>
              <a:rPr lang="en-US" dirty="0"/>
              <a:t>[“weird al”] +=1</a:t>
            </a:r>
          </a:p>
          <a:p>
            <a:pPr lvl="1"/>
            <a:r>
              <a:rPr lang="en-US" dirty="0"/>
              <a:t>Crashes our code with a </a:t>
            </a:r>
            <a:r>
              <a:rPr lang="en-US" dirty="0" err="1"/>
              <a:t>KeyError</a:t>
            </a:r>
            <a:r>
              <a:rPr lang="en-US" dirty="0"/>
              <a:t>!!!</a:t>
            </a:r>
          </a:p>
          <a:p>
            <a:pPr lvl="2"/>
            <a:r>
              <a:rPr lang="en-US" dirty="0"/>
              <a:t>Demo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close up of a mans face&#10;&#10;Description automatically generated">
            <a:extLst>
              <a:ext uri="{FF2B5EF4-FFF2-40B4-BE49-F238E27FC236}">
                <a16:creationId xmlns:a16="http://schemas.microsoft.com/office/drawing/2014/main" id="{BA257011-0D59-48DD-9EF0-99C22A7DB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7950" y="790575"/>
            <a:ext cx="1794554" cy="28223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5814EA-4E20-4800-B6DC-91E9359D3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277225" y="2978149"/>
            <a:ext cx="2667000" cy="388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57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way to deal with this…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“weird al” not in </a:t>
            </a:r>
            <a:r>
              <a:rPr lang="en-US" dirty="0" err="1"/>
              <a:t>actorCount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actorCount</a:t>
            </a:r>
            <a:r>
              <a:rPr lang="en-US" dirty="0"/>
              <a:t>[“weird al”] = 0</a:t>
            </a:r>
          </a:p>
          <a:p>
            <a:r>
              <a:rPr lang="en-US" dirty="0" err="1"/>
              <a:t>actorCount</a:t>
            </a:r>
            <a:r>
              <a:rPr lang="en-US" dirty="0"/>
              <a:t>[“weird al”] += 1</a:t>
            </a:r>
          </a:p>
          <a:p>
            <a:r>
              <a:rPr lang="en-US" dirty="0"/>
              <a:t>Issues</a:t>
            </a:r>
          </a:p>
          <a:p>
            <a:pPr lvl="1"/>
            <a:r>
              <a:rPr lang="en-US" dirty="0"/>
              <a:t>Still have a problem when reporting counts of items that don’t exist</a:t>
            </a:r>
          </a:p>
          <a:p>
            <a:pPr lvl="1"/>
            <a:r>
              <a:rPr lang="en-US" dirty="0"/>
              <a:t>An if statement seems a bit extreme for something that is so common</a:t>
            </a:r>
          </a:p>
          <a:p>
            <a:pPr lvl="1"/>
            <a:r>
              <a:rPr lang="en-US" dirty="0"/>
              <a:t>Conceptually, just adding one, why do I need multiple lines?</a:t>
            </a:r>
          </a:p>
          <a:p>
            <a:pPr lvl="1"/>
            <a:r>
              <a:rPr lang="en-US" dirty="0"/>
              <a:t>Lookup happens up to THREE times instead of once</a:t>
            </a:r>
          </a:p>
          <a:p>
            <a:pPr lvl="2"/>
            <a:r>
              <a:rPr lang="en-US" dirty="0"/>
              <a:t>This can slow down the code!</a:t>
            </a:r>
          </a:p>
          <a:p>
            <a:pPr lvl="1"/>
            <a:endParaRPr lang="en-US" dirty="0"/>
          </a:p>
        </p:txBody>
      </p:sp>
      <p:pic>
        <p:nvPicPr>
          <p:cNvPr id="5" name="Picture 4" descr="A picture containing person, man, sitting, young&#10;&#10;Description automatically generated">
            <a:extLst>
              <a:ext uri="{FF2B5EF4-FFF2-40B4-BE49-F238E27FC236}">
                <a16:creationId xmlns:a16="http://schemas.microsoft.com/office/drawing/2014/main" id="{183AA608-706A-4BF1-B96F-3F81A83148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522" b="25763"/>
          <a:stretch/>
        </p:blipFill>
        <p:spPr>
          <a:xfrm>
            <a:off x="9610725" y="11279"/>
            <a:ext cx="2581275" cy="331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1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18E2-7384-49E1-84E4-11376E4D0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(MUCH BETTER) way to deal with missing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CB5E-86E8-4366-8569-DFD2C690D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myDict.get</a:t>
            </a:r>
            <a:r>
              <a:rPr lang="en-US" dirty="0"/>
              <a:t>(key, </a:t>
            </a:r>
            <a:r>
              <a:rPr lang="en-US" dirty="0" err="1"/>
              <a:t>defaultVal</a:t>
            </a:r>
            <a:r>
              <a:rPr lang="en-US" dirty="0"/>
              <a:t>)</a:t>
            </a:r>
          </a:p>
          <a:p>
            <a:r>
              <a:rPr lang="en-US" dirty="0"/>
              <a:t>If key is not present, returns </a:t>
            </a:r>
            <a:r>
              <a:rPr lang="en-US" dirty="0" err="1"/>
              <a:t>defaultVal</a:t>
            </a:r>
            <a:endParaRPr lang="en-US" dirty="0"/>
          </a:p>
          <a:p>
            <a:r>
              <a:rPr lang="en-US" dirty="0"/>
              <a:t>For counting </a:t>
            </a:r>
            <a:r>
              <a:rPr lang="en-US" dirty="0" err="1"/>
              <a:t>dicts</a:t>
            </a:r>
            <a:r>
              <a:rPr lang="en-US" dirty="0"/>
              <a:t>, often useful to do </a:t>
            </a:r>
            <a:r>
              <a:rPr lang="en-US" dirty="0" err="1"/>
              <a:t>myDict.get</a:t>
            </a:r>
            <a:r>
              <a:rPr lang="en-US" dirty="0"/>
              <a:t>(key, 0)</a:t>
            </a:r>
          </a:p>
          <a:p>
            <a:pPr lvl="1"/>
            <a:r>
              <a:rPr lang="en-US" dirty="0"/>
              <a:t>Count should be zero if key not in </a:t>
            </a:r>
            <a:r>
              <a:rPr lang="en-US" dirty="0" err="1"/>
              <a:t>dict</a:t>
            </a:r>
            <a:r>
              <a:rPr lang="en-US" dirty="0"/>
              <a:t> </a:t>
            </a:r>
          </a:p>
          <a:p>
            <a:r>
              <a:rPr lang="en-US" dirty="0"/>
              <a:t>So when adding one it would be:</a:t>
            </a:r>
          </a:p>
          <a:p>
            <a:pPr lvl="1"/>
            <a:r>
              <a:rPr lang="en-US" dirty="0" err="1"/>
              <a:t>myDict</a:t>
            </a:r>
            <a:r>
              <a:rPr lang="en-US" dirty="0"/>
              <a:t>[key] = </a:t>
            </a:r>
            <a:r>
              <a:rPr lang="en-US" dirty="0" err="1"/>
              <a:t>myDict.get</a:t>
            </a:r>
            <a:r>
              <a:rPr lang="en-US" dirty="0"/>
              <a:t>(key, 0) + 1</a:t>
            </a:r>
          </a:p>
          <a:p>
            <a:r>
              <a:rPr lang="en-US" b="1" dirty="0"/>
              <a:t>When working with integer values, and you have a default value, please use .get()!!</a:t>
            </a:r>
          </a:p>
        </p:txBody>
      </p:sp>
      <p:pic>
        <p:nvPicPr>
          <p:cNvPr id="5" name="Picture 4" descr="A crowd of people in a dark room&#10;&#10;Description automatically generated">
            <a:extLst>
              <a:ext uri="{FF2B5EF4-FFF2-40B4-BE49-F238E27FC236}">
                <a16:creationId xmlns:a16="http://schemas.microsoft.com/office/drawing/2014/main" id="{E333C322-F838-4C9B-ADEE-737650EEE1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20200" y="1171575"/>
            <a:ext cx="3352800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3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place where this can be particularly useful…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585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Working with text data!</a:t>
            </a:r>
          </a:p>
          <a:p>
            <a:pPr lvl="1"/>
            <a:r>
              <a:rPr lang="en-US" dirty="0"/>
              <a:t>Natural Language Processing</a:t>
            </a:r>
          </a:p>
          <a:p>
            <a:pPr lvl="1"/>
            <a:r>
              <a:rPr lang="en-US" dirty="0"/>
              <a:t>Text Mining</a:t>
            </a:r>
          </a:p>
          <a:p>
            <a:pPr lvl="1"/>
            <a:r>
              <a:rPr lang="en-US" dirty="0"/>
              <a:t>Computational Linguistics</a:t>
            </a:r>
          </a:p>
          <a:p>
            <a:r>
              <a:rPr lang="en-US" dirty="0"/>
              <a:t>Often given a corpus </a:t>
            </a:r>
          </a:p>
          <a:p>
            <a:pPr lvl="1"/>
            <a:r>
              <a:rPr lang="en-US" dirty="0"/>
              <a:t>A corpus (plural: corpora) is a large amount of text data suitable for linguistic analysis</a:t>
            </a:r>
          </a:p>
          <a:p>
            <a:pPr lvl="1"/>
            <a:r>
              <a:rPr lang="en-US" dirty="0"/>
              <a:t>For instance, the famous and widely-used Brown corpus</a:t>
            </a:r>
          </a:p>
          <a:p>
            <a:pPr lvl="2"/>
            <a:r>
              <a:rPr lang="en-US" dirty="0"/>
              <a:t>Collected in 1961</a:t>
            </a:r>
          </a:p>
          <a:p>
            <a:pPr lvl="2"/>
            <a:r>
              <a:rPr lang="en-US" dirty="0"/>
              <a:t>About 1 million words</a:t>
            </a:r>
          </a:p>
          <a:p>
            <a:pPr lvl="2"/>
            <a:r>
              <a:rPr lang="en-US" dirty="0"/>
              <a:t>Contains mostly scholarly writings such as news articles, books, etc.</a:t>
            </a:r>
          </a:p>
          <a:p>
            <a:r>
              <a:rPr lang="en-US" dirty="0"/>
              <a:t>Have to identify and count patterns that occur in the corpus</a:t>
            </a:r>
          </a:p>
          <a:p>
            <a:pPr lvl="1"/>
            <a:r>
              <a:rPr lang="en-US" dirty="0"/>
              <a:t>For example, how common is a certain word or phrase compared to another?</a:t>
            </a:r>
          </a:p>
          <a:p>
            <a:pPr lvl="2"/>
            <a:r>
              <a:rPr lang="en-US" dirty="0"/>
              <a:t>Google has always been pretty terrible at this kind of thing…</a:t>
            </a:r>
          </a:p>
          <a:p>
            <a:pPr lvl="3"/>
            <a:r>
              <a:rPr lang="en-US" dirty="0"/>
              <a:t> </a:t>
            </a:r>
            <a:r>
              <a:rPr lang="en-US" dirty="0" err="1"/>
              <a:t>ChatGPT</a:t>
            </a:r>
            <a:r>
              <a:rPr lang="en-US" dirty="0"/>
              <a:t> does a (much) more sophisticated version of this to “learn” what sequences of words are more likely than others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 descr="A picture containing umbrella&#10;&#10;Description automatically generated">
            <a:extLst>
              <a:ext uri="{FF2B5EF4-FFF2-40B4-BE49-F238E27FC236}">
                <a16:creationId xmlns:a16="http://schemas.microsoft.com/office/drawing/2014/main" id="{0C73931E-FCA7-4774-A703-E964DAC1B1A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676447" y="1027907"/>
            <a:ext cx="3414551" cy="226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6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words in the Brown corpus</a:t>
            </a:r>
          </a:p>
        </p:txBody>
      </p:sp>
    </p:spTree>
    <p:extLst>
      <p:ext uri="{BB962C8B-B14F-4D97-AF65-F5344CB8AC3E}">
        <p14:creationId xmlns:p14="http://schemas.microsoft.com/office/powerpoint/2010/main" val="637575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1226</TotalTime>
  <Words>559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DATA/CS 172: Python for Data Analysis</vt:lpstr>
      <vt:lpstr>Reminders</vt:lpstr>
      <vt:lpstr>Dictionaries</vt:lpstr>
      <vt:lpstr>Common use case: Counting stuff</vt:lpstr>
      <vt:lpstr>Great!  However, in practice we will come upon this problem</vt:lpstr>
      <vt:lpstr>One way to deal with this…</vt:lpstr>
      <vt:lpstr>Another (MUCH BETTER) way to deal with missing keys</vt:lpstr>
      <vt:lpstr>One place where this can be particularly useful…</vt:lpstr>
      <vt:lpstr>Lab 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Travis Mandel</dc:creator>
  <cp:lastModifiedBy>Travis Mandel</cp:lastModifiedBy>
  <cp:revision>25</cp:revision>
  <dcterms:created xsi:type="dcterms:W3CDTF">2019-10-07T18:13:37Z</dcterms:created>
  <dcterms:modified xsi:type="dcterms:W3CDTF">2024-10-09T21:11:36Z</dcterms:modified>
</cp:coreProperties>
</file>