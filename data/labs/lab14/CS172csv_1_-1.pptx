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82" r:id="rId3"/>
    <p:sldId id="262" r:id="rId4"/>
    <p:sldId id="283" r:id="rId5"/>
    <p:sldId id="284" r:id="rId6"/>
    <p:sldId id="295" r:id="rId7"/>
    <p:sldId id="298" r:id="rId8"/>
    <p:sldId id="296" r:id="rId9"/>
    <p:sldId id="297" r:id="rId10"/>
    <p:sldId id="307" r:id="rId11"/>
    <p:sldId id="308" r:id="rId12"/>
    <p:sldId id="309" r:id="rId13"/>
    <p:sldId id="30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AD9A1A8-FF1D-4726-838B-47A0FE4AFDE0}">
          <p14:sldIdLst>
            <p14:sldId id="261"/>
            <p14:sldId id="282"/>
            <p14:sldId id="262"/>
            <p14:sldId id="283"/>
            <p14:sldId id="284"/>
            <p14:sldId id="295"/>
            <p14:sldId id="298"/>
            <p14:sldId id="296"/>
            <p14:sldId id="297"/>
            <p14:sldId id="307"/>
            <p14:sldId id="308"/>
            <p14:sldId id="309"/>
            <p14:sldId id="304"/>
          </p14:sldIdLst>
        </p14:section>
        <p14:section name="Untitled Section" id="{077C5D54-4F76-4A0B-8326-09AC223F03F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64" d="100"/>
          <a:sy n="64" d="100"/>
        </p:scale>
        <p:origin x="96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18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888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987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12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63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089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13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37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466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880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82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17CB5-4FD5-47DA-9BFE-6C54A66C2B79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8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yheritagehappens.com/2014/01/the-book-of-me-written-by-you-prompt-17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mmons.wikimedia.org/wiki/File:Lorem-ipsum-sample.svg" TargetMode="Externa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oakleafblog.blogspot.com/2012/03/windows-azure-and-cloud-computing-posts_07.html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ender-focus.com/2013/04/18/my-reality-gender-inequality-in-the-workplace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datadrivenjournalism.net/resources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thestoryreadingapeblog.com/2017/09/13/7-best-options-to-test-your-writing-skills-plus-earn-some-money/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08172"/>
            <a:ext cx="9144000" cy="2387600"/>
          </a:xfrm>
        </p:spPr>
        <p:txBody>
          <a:bodyPr/>
          <a:lstStyle/>
          <a:p>
            <a:r>
              <a:rPr lang="en-US" dirty="0"/>
              <a:t>DATA/CS 172: Python for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95772"/>
            <a:ext cx="9144000" cy="1655762"/>
          </a:xfrm>
        </p:spPr>
        <p:txBody>
          <a:bodyPr/>
          <a:lstStyle/>
          <a:p>
            <a:r>
              <a:rPr lang="en-US" dirty="0"/>
              <a:t>CSV files</a:t>
            </a:r>
          </a:p>
          <a:p>
            <a:r>
              <a:rPr lang="en-US" dirty="0"/>
              <a:t>Prof. Travis Mandel</a:t>
            </a:r>
          </a:p>
          <a:p>
            <a:r>
              <a:rPr lang="en-US" dirty="0"/>
              <a:t>10/16/2024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60" b="8455"/>
          <a:stretch/>
        </p:blipFill>
        <p:spPr>
          <a:xfrm>
            <a:off x="4996543" y="4416592"/>
            <a:ext cx="2108296" cy="219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176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Lab 12 </a:t>
            </a:r>
            <a:r>
              <a:rPr lang="en-US"/>
              <a:t>due today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658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CSV data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643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B791B-60DF-4B1D-9063-A08098A03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far in this class…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2D849-A4E2-4EC5-8213-7D2567562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started working with toy data</a:t>
            </a:r>
          </a:p>
          <a:p>
            <a:pPr lvl="1"/>
            <a:r>
              <a:rPr lang="en-US" dirty="0"/>
              <a:t>Files with one number</a:t>
            </a:r>
          </a:p>
          <a:p>
            <a:r>
              <a:rPr lang="en-US" dirty="0"/>
              <a:t>We moved up to more realistic formats</a:t>
            </a:r>
          </a:p>
          <a:p>
            <a:pPr lvl="1"/>
            <a:r>
              <a:rPr lang="en-US" dirty="0"/>
              <a:t>Files with many sensor readings</a:t>
            </a:r>
          </a:p>
          <a:p>
            <a:r>
              <a:rPr lang="en-US" dirty="0"/>
              <a:t>Lately, we started to touch actual data</a:t>
            </a:r>
          </a:p>
          <a:p>
            <a:pPr lvl="1"/>
            <a:r>
              <a:rPr lang="en-US" dirty="0"/>
              <a:t>But only in text format (e.g. Brown corpus)</a:t>
            </a:r>
          </a:p>
          <a:p>
            <a:r>
              <a:rPr lang="en-US" dirty="0"/>
              <a:t>TODAY: Open the doors to manipulating many more real-world datasets!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27F5B7-2231-422E-9DDD-4F776C477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423992" y="288234"/>
            <a:ext cx="2185987" cy="21431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8ECD82-AB07-472E-B38F-22119DE473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464618" y="2283517"/>
            <a:ext cx="2185988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54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D707D-0D3B-42EF-85B1-6D7E3D36B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World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78642-AF0B-4AAE-AE17-510B13BCD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often very complex</a:t>
            </a:r>
          </a:p>
          <a:p>
            <a:r>
              <a:rPr lang="en-US" dirty="0"/>
              <a:t>In some projects, custom formats are developed and used (I’ve been guilty of this)</a:t>
            </a:r>
          </a:p>
          <a:p>
            <a:r>
              <a:rPr lang="en-US" dirty="0"/>
              <a:t>In recent years there’s been a huge push to standardize formats</a:t>
            </a:r>
          </a:p>
          <a:p>
            <a:pPr lvl="1"/>
            <a:r>
              <a:rPr lang="en-US" dirty="0"/>
              <a:t>Helps share data among teams, make better use of existing tools</a:t>
            </a:r>
          </a:p>
          <a:p>
            <a:r>
              <a:rPr lang="en-US" dirty="0"/>
              <a:t>Two of the most popular formats are </a:t>
            </a:r>
            <a:r>
              <a:rPr lang="en-US" b="1" dirty="0"/>
              <a:t>CSV</a:t>
            </a:r>
            <a:r>
              <a:rPr lang="en-US" dirty="0"/>
              <a:t> and </a:t>
            </a:r>
            <a:r>
              <a:rPr lang="en-US" b="1" dirty="0"/>
              <a:t>JSON</a:t>
            </a:r>
          </a:p>
          <a:p>
            <a:pPr lvl="1"/>
            <a:r>
              <a:rPr lang="en-US" dirty="0"/>
              <a:t>Python has special support for these formats</a:t>
            </a:r>
          </a:p>
          <a:p>
            <a:pPr lvl="1"/>
            <a:r>
              <a:rPr lang="en-US" dirty="0"/>
              <a:t>We’ll cover CSV today, JSON on Friday, APIs Monday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EE7230-85CA-4488-BC26-307F0AC0EE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754905" y="198782"/>
            <a:ext cx="3057419" cy="203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559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0139"/>
            <a:ext cx="4876800" cy="4566824"/>
          </a:xfrm>
        </p:spPr>
        <p:txBody>
          <a:bodyPr/>
          <a:lstStyle/>
          <a:p>
            <a:r>
              <a:rPr lang="en-US" dirty="0"/>
              <a:t>Data scientists like to sound really fancy by talking about “parsing CSV files”</a:t>
            </a:r>
          </a:p>
          <a:p>
            <a:pPr lvl="1"/>
            <a:r>
              <a:rPr lang="en-US" dirty="0"/>
              <a:t>But CSV just stands for “comma-separated values”</a:t>
            </a:r>
          </a:p>
          <a:p>
            <a:r>
              <a:rPr lang="en-US" dirty="0"/>
              <a:t>Basically, CSV files consist of data separated by commas </a:t>
            </a:r>
          </a:p>
          <a:p>
            <a:r>
              <a:rPr lang="en-US" dirty="0"/>
              <a:t>Example CSV (demo)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36834D-29F8-42E9-A92D-283681512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943600" y="681037"/>
            <a:ext cx="5410200" cy="2800350"/>
          </a:xfrm>
          <a:prstGeom prst="rect">
            <a:avLst/>
          </a:prstGeom>
        </p:spPr>
      </p:pic>
      <p:sp>
        <p:nvSpPr>
          <p:cNvPr id="8" name="Speech Bubble: Oval 7">
            <a:extLst>
              <a:ext uri="{FF2B5EF4-FFF2-40B4-BE49-F238E27FC236}">
                <a16:creationId xmlns:a16="http://schemas.microsoft.com/office/drawing/2014/main" id="{D0F7B9D6-A2AB-42D6-89C2-0DDB9E665A2E}"/>
              </a:ext>
            </a:extLst>
          </p:cNvPr>
          <p:cNvSpPr/>
          <p:nvPr/>
        </p:nvSpPr>
        <p:spPr>
          <a:xfrm>
            <a:off x="8120269" y="134293"/>
            <a:ext cx="1490869" cy="1054066"/>
          </a:xfrm>
          <a:prstGeom prst="wedgeEllipse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 parsed the CSV files…</a:t>
            </a:r>
          </a:p>
        </p:txBody>
      </p:sp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963CD7B4-F85C-4BE6-8EC3-9C8D2D337EC4}"/>
              </a:ext>
            </a:extLst>
          </p:cNvPr>
          <p:cNvSpPr/>
          <p:nvPr/>
        </p:nvSpPr>
        <p:spPr>
          <a:xfrm>
            <a:off x="9829798" y="681037"/>
            <a:ext cx="993915" cy="738154"/>
          </a:xfrm>
          <a:prstGeom prst="wedgeEllipse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3905586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CSV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Each line represents a piece of data</a:t>
            </a:r>
          </a:p>
          <a:p>
            <a:r>
              <a:rPr lang="en-US" dirty="0"/>
              <a:t>Each piece of data is a list of field values</a:t>
            </a:r>
          </a:p>
          <a:p>
            <a:pPr lvl="1"/>
            <a:r>
              <a:rPr lang="en-US" dirty="0"/>
              <a:t>Like columns in a spreadsheet</a:t>
            </a:r>
          </a:p>
          <a:p>
            <a:pPr lvl="1"/>
            <a:r>
              <a:rPr lang="en-US" dirty="0"/>
              <a:t>Guaranteed to have the same number of fields in each line</a:t>
            </a:r>
          </a:p>
          <a:p>
            <a:r>
              <a:rPr lang="en-US" dirty="0"/>
              <a:t>Fields are separated by comma </a:t>
            </a:r>
          </a:p>
          <a:p>
            <a:pPr lvl="1"/>
            <a:r>
              <a:rPr lang="en-US" dirty="0"/>
              <a:t>Often CSV is still used even if the delimiter is changed</a:t>
            </a:r>
          </a:p>
          <a:p>
            <a:r>
              <a:rPr lang="en-US" dirty="0"/>
              <a:t>Why use a CSV reader instead of just split?</a:t>
            </a:r>
          </a:p>
          <a:p>
            <a:pPr lvl="1"/>
            <a:r>
              <a:rPr lang="en-US" dirty="0"/>
              <a:t>Handles special cases, e.g. what if field has a comma inside it?!</a:t>
            </a:r>
          </a:p>
          <a:p>
            <a:endParaRPr lang="en-US" dirty="0"/>
          </a:p>
          <a:p>
            <a:r>
              <a:rPr lang="en-US" dirty="0"/>
              <a:t>Although it’s not strictly required, most CSV files have a first line which indicates the name of each field. [See Demo]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7064DB-ED37-4CEA-8659-A145BA0F3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616810" y="149825"/>
            <a:ext cx="3276572" cy="253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372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Parsing CSV files Way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import csv</a:t>
            </a:r>
          </a:p>
          <a:p>
            <a:pPr marL="0" indent="0">
              <a:buNone/>
            </a:pPr>
            <a:r>
              <a:rPr lang="en-US" dirty="0"/>
              <a:t>f = open(“filename.csv", "r")</a:t>
            </a:r>
          </a:p>
          <a:p>
            <a:pPr marL="0" indent="0">
              <a:buNone/>
            </a:pPr>
            <a:r>
              <a:rPr lang="en-US" dirty="0"/>
              <a:t>reader = </a:t>
            </a:r>
            <a:r>
              <a:rPr lang="en-US" dirty="0" err="1"/>
              <a:t>csv.reader</a:t>
            </a:r>
            <a:r>
              <a:rPr lang="en-US" dirty="0"/>
              <a:t>(f)</a:t>
            </a:r>
          </a:p>
          <a:p>
            <a:pPr marL="0" indent="0">
              <a:buNone/>
            </a:pPr>
            <a:r>
              <a:rPr lang="en-US" dirty="0"/>
              <a:t>for row in reader:</a:t>
            </a:r>
          </a:p>
          <a:p>
            <a:pPr marL="457200" lvl="1" indent="0">
              <a:buNone/>
            </a:pPr>
            <a:r>
              <a:rPr lang="en-US" dirty="0"/>
              <a:t># row is now a list we can manipulate</a:t>
            </a:r>
          </a:p>
          <a:p>
            <a:pPr marL="0" indent="0">
              <a:buNone/>
            </a:pPr>
            <a:r>
              <a:rPr lang="en-US" dirty="0" err="1"/>
              <a:t>f.close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Problems?</a:t>
            </a:r>
          </a:p>
          <a:p>
            <a:pPr lvl="1"/>
            <a:r>
              <a:rPr lang="en-US" dirty="0"/>
              <a:t>Keeping track of index is very annoying</a:t>
            </a:r>
          </a:p>
          <a:p>
            <a:pPr lvl="1"/>
            <a:r>
              <a:rPr lang="en-US" dirty="0"/>
              <a:t>Have to remember to skip first row</a:t>
            </a:r>
          </a:p>
        </p:txBody>
      </p:sp>
    </p:spTree>
    <p:extLst>
      <p:ext uri="{BB962C8B-B14F-4D97-AF65-F5344CB8AC3E}">
        <p14:creationId xmlns:p14="http://schemas.microsoft.com/office/powerpoint/2010/main" val="520758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Parsing CSV files Way #2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import csv</a:t>
            </a:r>
          </a:p>
          <a:p>
            <a:pPr marL="0" indent="0">
              <a:buNone/>
            </a:pPr>
            <a:r>
              <a:rPr lang="en-US" dirty="0"/>
              <a:t>f = open(“filename.csv", "r")</a:t>
            </a:r>
          </a:p>
          <a:p>
            <a:pPr marL="0" indent="0">
              <a:buNone/>
            </a:pPr>
            <a:r>
              <a:rPr lang="en-US" dirty="0"/>
              <a:t>reader = </a:t>
            </a:r>
            <a:r>
              <a:rPr lang="en-US" dirty="0" err="1"/>
              <a:t>csv.DictReader</a:t>
            </a:r>
            <a:r>
              <a:rPr lang="en-US" dirty="0"/>
              <a:t>(f)</a:t>
            </a:r>
          </a:p>
          <a:p>
            <a:pPr marL="0" indent="0">
              <a:buNone/>
            </a:pPr>
            <a:r>
              <a:rPr lang="en-US" dirty="0"/>
              <a:t>for row in reader:</a:t>
            </a:r>
          </a:p>
          <a:p>
            <a:pPr marL="457200" lvl="1" indent="0">
              <a:buNone/>
            </a:pPr>
            <a:r>
              <a:rPr lang="en-US" dirty="0"/>
              <a:t># row is now a </a:t>
            </a:r>
            <a:r>
              <a:rPr lang="en-US" dirty="0" err="1"/>
              <a:t>dict</a:t>
            </a:r>
            <a:r>
              <a:rPr lang="en-US" dirty="0"/>
              <a:t> with field names as keys</a:t>
            </a:r>
          </a:p>
          <a:p>
            <a:pPr marL="0" indent="0">
              <a:buNone/>
            </a:pPr>
            <a:r>
              <a:rPr lang="en-US" dirty="0" err="1"/>
              <a:t>f.close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b="1" dirty="0"/>
              <a:t>Much better!</a:t>
            </a:r>
          </a:p>
          <a:p>
            <a:pPr lvl="1"/>
            <a:r>
              <a:rPr lang="en-US" b="1" dirty="0"/>
              <a:t>More readable, more flexible if column order changes</a:t>
            </a:r>
          </a:p>
          <a:p>
            <a:pPr lvl="1"/>
            <a:r>
              <a:rPr lang="en-US" b="1" dirty="0"/>
              <a:t>Use this one unless CSV does not have header row</a:t>
            </a:r>
          </a:p>
        </p:txBody>
      </p:sp>
    </p:spTree>
    <p:extLst>
      <p:ext uri="{BB962C8B-B14F-4D97-AF65-F5344CB8AC3E}">
        <p14:creationId xmlns:p14="http://schemas.microsoft.com/office/powerpoint/2010/main" val="3294056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E4472-EEE3-40BE-9A30-60DAEE412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CSV files?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B4EB7-3BFE-486E-8205-2A3967451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Writing CSV is less common in data science</a:t>
            </a:r>
          </a:p>
          <a:p>
            <a:r>
              <a:rPr lang="en-US" dirty="0"/>
              <a:t>Usually, CSV data comes from real-world data repositories (I like Kaggle)</a:t>
            </a:r>
          </a:p>
          <a:p>
            <a:r>
              <a:rPr lang="en-US" dirty="0"/>
              <a:t>However, sometimes the original dataset is too complicated and difficult to work with</a:t>
            </a:r>
          </a:p>
          <a:p>
            <a:pPr lvl="1"/>
            <a:r>
              <a:rPr lang="en-US" dirty="0"/>
              <a:t>Writing out a new CSV file can be useful to simplify the format</a:t>
            </a:r>
          </a:p>
          <a:p>
            <a:pPr lvl="2"/>
            <a:r>
              <a:rPr lang="en-US" dirty="0"/>
              <a:t>I had to do this for your lab today!</a:t>
            </a:r>
          </a:p>
          <a:p>
            <a:pPr lvl="2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8F708E-DF9C-4E59-8812-7730B1F135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725734" y="87721"/>
            <a:ext cx="3186604" cy="212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887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B2103-8DA9-4741-B80C-7523EAD2A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699" y="79899"/>
            <a:ext cx="10591101" cy="767389"/>
          </a:xfrm>
        </p:spPr>
        <p:txBody>
          <a:bodyPr/>
          <a:lstStyle/>
          <a:p>
            <a:r>
              <a:rPr lang="en-US" dirty="0" err="1"/>
              <a:t>DictWriter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67F98-D001-4840-8C03-C29A2AE30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40" y="981512"/>
            <a:ext cx="10699459" cy="4834724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If we are writing CSV files, we want to include a header row so it is easy to read</a:t>
            </a:r>
          </a:p>
          <a:p>
            <a:pPr lvl="1"/>
            <a:r>
              <a:rPr lang="en-US" dirty="0"/>
              <a:t>So a </a:t>
            </a:r>
            <a:r>
              <a:rPr lang="en-US" dirty="0" err="1"/>
              <a:t>DictWriter</a:t>
            </a:r>
            <a:r>
              <a:rPr lang="en-US" dirty="0"/>
              <a:t> is a good choice</a:t>
            </a:r>
          </a:p>
          <a:p>
            <a:pPr lvl="1"/>
            <a:r>
              <a:rPr lang="en-US" dirty="0"/>
              <a:t>Works like a </a:t>
            </a:r>
            <a:r>
              <a:rPr lang="en-US" dirty="0" err="1"/>
              <a:t>DictReader</a:t>
            </a:r>
            <a:r>
              <a:rPr lang="en-US" dirty="0"/>
              <a:t> but in reverse</a:t>
            </a:r>
          </a:p>
          <a:p>
            <a:pPr lvl="1"/>
            <a:r>
              <a:rPr lang="en-US" dirty="0"/>
              <a:t>Needs to know the fieldnames when created</a:t>
            </a:r>
          </a:p>
          <a:p>
            <a:pPr lvl="2"/>
            <a:r>
              <a:rPr lang="en-US" dirty="0"/>
              <a:t>Also needs a special </a:t>
            </a:r>
            <a:r>
              <a:rPr lang="en-US" dirty="0" err="1"/>
              <a:t>writeheader</a:t>
            </a:r>
            <a:r>
              <a:rPr lang="en-US" dirty="0"/>
              <a:t>() call to write the header</a:t>
            </a:r>
          </a:p>
          <a:p>
            <a:pPr lvl="1"/>
            <a:r>
              <a:rPr lang="en-US" dirty="0"/>
              <a:t>Need to set </a:t>
            </a:r>
            <a:r>
              <a:rPr lang="en-US" dirty="0" err="1"/>
              <a:t>lineterminator</a:t>
            </a:r>
            <a:r>
              <a:rPr lang="en-US" dirty="0"/>
              <a:t> to avoid blank lines</a:t>
            </a:r>
          </a:p>
          <a:p>
            <a:pPr marL="0" indent="0">
              <a:buNone/>
            </a:pPr>
            <a:r>
              <a:rPr lang="en-US" dirty="0"/>
              <a:t>import csv</a:t>
            </a:r>
          </a:p>
          <a:p>
            <a:pPr marL="0" indent="0">
              <a:buNone/>
            </a:pPr>
            <a:r>
              <a:rPr lang="en-US" dirty="0"/>
              <a:t>f = open(“filename.csv", “w")</a:t>
            </a:r>
          </a:p>
          <a:p>
            <a:pPr marL="0" indent="0">
              <a:buNone/>
            </a:pPr>
            <a:r>
              <a:rPr lang="en-US" dirty="0"/>
              <a:t>writer = </a:t>
            </a:r>
            <a:r>
              <a:rPr lang="en-US" dirty="0" err="1"/>
              <a:t>csv.DictWriter</a:t>
            </a:r>
            <a:r>
              <a:rPr lang="en-US" dirty="0"/>
              <a:t>(f, </a:t>
            </a:r>
            <a:r>
              <a:rPr lang="en-US" dirty="0" err="1"/>
              <a:t>lineterminator</a:t>
            </a:r>
            <a:r>
              <a:rPr lang="en-US" dirty="0"/>
              <a:t>=“\n”, fieldnames = [“col1”, “col2”])</a:t>
            </a:r>
          </a:p>
          <a:p>
            <a:pPr marL="0" indent="0">
              <a:buNone/>
            </a:pPr>
            <a:r>
              <a:rPr lang="en-US" dirty="0" err="1"/>
              <a:t>writer.writeheader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writer.writerow</a:t>
            </a:r>
            <a:r>
              <a:rPr lang="en-US" dirty="0"/>
              <a:t>({“col1”: “row1col1”, “col2”: “row1col2”})</a:t>
            </a:r>
          </a:p>
          <a:p>
            <a:pPr marL="0" indent="0">
              <a:buNone/>
            </a:pPr>
            <a:r>
              <a:rPr lang="en-US" dirty="0" err="1"/>
              <a:t>writer.writerow</a:t>
            </a:r>
            <a:r>
              <a:rPr lang="en-US" dirty="0"/>
              <a:t>({“col1”: “row2col1”, “col2”: “row2col2”})</a:t>
            </a:r>
          </a:p>
          <a:p>
            <a:pPr marL="0" indent="0">
              <a:buNone/>
            </a:pPr>
            <a:r>
              <a:rPr lang="en-US" dirty="0" err="1"/>
              <a:t>f.close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92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877F4-8BDD-41F2-9680-8BDCE436F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are CSV files so widely used?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DE85D-F9ED-4EA9-9548-AF088DB7F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format</a:t>
            </a:r>
          </a:p>
          <a:p>
            <a:r>
              <a:rPr lang="en-US" dirty="0"/>
              <a:t>Easy to import into spreadsheet application (Google Sheets, Excel)</a:t>
            </a:r>
          </a:p>
          <a:p>
            <a:r>
              <a:rPr lang="en-US" dirty="0"/>
              <a:t>Easy to read line-by-line for memory efficiency</a:t>
            </a:r>
          </a:p>
          <a:p>
            <a:endParaRPr lang="en-US" dirty="0"/>
          </a:p>
          <a:p>
            <a:r>
              <a:rPr lang="en-US"/>
              <a:t>But it </a:t>
            </a:r>
            <a:r>
              <a:rPr lang="en-US" dirty="0"/>
              <a:t>has some limitations…</a:t>
            </a:r>
          </a:p>
        </p:txBody>
      </p:sp>
    </p:spTree>
    <p:extLst>
      <p:ext uri="{BB962C8B-B14F-4D97-AF65-F5344CB8AC3E}">
        <p14:creationId xmlns:p14="http://schemas.microsoft.com/office/powerpoint/2010/main" val="331627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Analyze real-world CSV data to determine if there is any bias in chocolate bar reviews!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r>
              <a:rPr lang="en-US" dirty="0">
                <a:sym typeface="Wingdings" panose="05000000000000000000" pitchFamily="2" charset="2"/>
              </a:rPr>
              <a:t>Next time: JSON files!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040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3924</TotalTime>
  <Words>696</Words>
  <Application>Microsoft Office PowerPoint</Application>
  <PresentationFormat>Widescreen</PresentationFormat>
  <Paragraphs>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DATA/CS 172: Python for Data Analysis</vt:lpstr>
      <vt:lpstr>Announcements </vt:lpstr>
      <vt:lpstr>Agenda</vt:lpstr>
      <vt:lpstr>So far in this class…</vt:lpstr>
      <vt:lpstr>Real World Data</vt:lpstr>
      <vt:lpstr>CSV</vt:lpstr>
      <vt:lpstr>CSV details</vt:lpstr>
      <vt:lpstr>Parsing CSV files Way #1</vt:lpstr>
      <vt:lpstr>Parsing CSV files Way #2</vt:lpstr>
      <vt:lpstr>Writing CSV files?</vt:lpstr>
      <vt:lpstr>DictWriter</vt:lpstr>
      <vt:lpstr>Why are CSV files so widely used?</vt:lpstr>
      <vt:lpstr>Lab out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CS172: Python for Data Analysis</dc:title>
  <dc:creator>Travis</dc:creator>
  <cp:lastModifiedBy>Travis Mandel</cp:lastModifiedBy>
  <cp:revision>120</cp:revision>
  <dcterms:created xsi:type="dcterms:W3CDTF">2018-09-05T09:38:38Z</dcterms:created>
  <dcterms:modified xsi:type="dcterms:W3CDTF">2024-10-16T21:44:21Z</dcterms:modified>
</cp:coreProperties>
</file>